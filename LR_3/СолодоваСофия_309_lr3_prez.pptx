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5"/>
  </p:notesMasterIdLst>
  <p:sldIdLst>
    <p:sldId id="256" r:id="rId2"/>
    <p:sldId id="263" r:id="rId3"/>
    <p:sldId id="258" r:id="rId4"/>
    <p:sldId id="298" r:id="rId5"/>
    <p:sldId id="303" r:id="rId6"/>
    <p:sldId id="304" r:id="rId7"/>
    <p:sldId id="305" r:id="rId8"/>
    <p:sldId id="306" r:id="rId9"/>
    <p:sldId id="302" r:id="rId10"/>
    <p:sldId id="297" r:id="rId11"/>
    <p:sldId id="309" r:id="rId12"/>
    <p:sldId id="307" r:id="rId13"/>
    <p:sldId id="308" r:id="rId14"/>
  </p:sldIdLst>
  <p:sldSz cx="9144000" cy="5143500" type="screen16x9"/>
  <p:notesSz cx="6858000" cy="9144000"/>
  <p:embeddedFontLst>
    <p:embeddedFont>
      <p:font typeface="Anaheim" panose="020B0604020202020204" charset="0"/>
      <p:regular r:id="rId16"/>
      <p:bold r:id="rId17"/>
    </p:embeddedFont>
    <p:embeddedFont>
      <p:font typeface="Candara" panose="020E0502030303020204" pitchFamily="34" charset="0"/>
      <p:regular r:id="rId18"/>
      <p:bold r:id="rId19"/>
      <p:italic r:id="rId20"/>
      <p:boldItalic r:id="rId21"/>
    </p:embeddedFont>
    <p:embeddedFont>
      <p:font typeface="Hanken Grotesk" panose="020B0604020202020204" charset="0"/>
      <p:regular r:id="rId22"/>
      <p:bold r:id="rId23"/>
      <p:italic r:id="rId24"/>
      <p:boldItalic r:id="rId25"/>
    </p:embeddedFont>
    <p:embeddedFont>
      <p:font typeface="Raleway" pitchFamily="2" charset="-52"/>
      <p:regular r:id="rId26"/>
      <p:bold r:id="rId27"/>
      <p:italic r:id="rId28"/>
      <p:boldItalic r:id="rId29"/>
    </p:embeddedFont>
    <p:embeddedFont>
      <p:font typeface="Raleway Black" pitchFamily="2" charset="-52"/>
      <p:bold r:id="rId30"/>
      <p:boldItalic r:id="rId31"/>
    </p:embeddedFont>
    <p:embeddedFont>
      <p:font typeface="Raleway ExtraBold" pitchFamily="2" charset="-52"/>
      <p:bold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110E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ABF0D89-2B1F-486D-BED8-18C7567FF3F2}">
  <a:tblStyle styleId="{FABF0D89-2B1F-486D-BED8-18C7567FF3F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A06BA4E-587D-4A86-B820-0AFEB9F9641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4" autoAdjust="0"/>
    <p:restoredTop sz="94660"/>
  </p:normalViewPr>
  <p:slideViewPr>
    <p:cSldViewPr snapToGrid="0">
      <p:cViewPr varScale="1">
        <p:scale>
          <a:sx n="99" d="100"/>
          <a:sy n="99" d="100"/>
        </p:scale>
        <p:origin x="738" y="5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>
          <a:extLst>
            <a:ext uri="{FF2B5EF4-FFF2-40B4-BE49-F238E27FC236}">
              <a16:creationId xmlns:a16="http://schemas.microsoft.com/office/drawing/2014/main" id="{C0C7B945-A3A0-0DC9-44B5-AADE3427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>
            <a:extLst>
              <a:ext uri="{FF2B5EF4-FFF2-40B4-BE49-F238E27FC236}">
                <a16:creationId xmlns:a16="http://schemas.microsoft.com/office/drawing/2014/main" id="{1C882D17-D4D7-6B4F-D1C8-E52EEECAE4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>
            <a:extLst>
              <a:ext uri="{FF2B5EF4-FFF2-40B4-BE49-F238E27FC236}">
                <a16:creationId xmlns:a16="http://schemas.microsoft.com/office/drawing/2014/main" id="{4F197C9C-9437-A29A-B2B1-BA1295E432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3720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4">
          <a:extLst>
            <a:ext uri="{FF2B5EF4-FFF2-40B4-BE49-F238E27FC236}">
              <a16:creationId xmlns:a16="http://schemas.microsoft.com/office/drawing/2014/main" id="{D291799C-7905-13FE-F710-1F14E5CCE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d431007ba2_0_215:notes">
            <a:extLst>
              <a:ext uri="{FF2B5EF4-FFF2-40B4-BE49-F238E27FC236}">
                <a16:creationId xmlns:a16="http://schemas.microsoft.com/office/drawing/2014/main" id="{F94C5DA5-F5AE-BEFC-7057-FF44FD410C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d431007ba2_0_215:notes">
            <a:extLst>
              <a:ext uri="{FF2B5EF4-FFF2-40B4-BE49-F238E27FC236}">
                <a16:creationId xmlns:a16="http://schemas.microsoft.com/office/drawing/2014/main" id="{BC9213A9-FB0E-81B8-7258-FD1881F4E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3628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avLst/>
                <a:gdLst/>
                <a:ahLst/>
                <a:cxnLst/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avLst/>
              <a:gdLst/>
              <a:ahLst/>
              <a:cxnLst/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avLst/>
                <a:gdLst/>
                <a:ahLst/>
                <a:cxnLst/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avLst/>
              <a:gdLst/>
              <a:ahLst/>
              <a:cxnLst/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8" r:id="rId5"/>
    <p:sldLayoutId id="2147483659" r:id="rId6"/>
    <p:sldLayoutId id="2147483662" r:id="rId7"/>
    <p:sldLayoutId id="2147483663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760036" cy="169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ru-RU" dirty="0"/>
            </a:br>
            <a:r>
              <a:rPr lang="ru-RU" sz="4000" b="1" dirty="0">
                <a:latin typeface="Candara" panose="020E0502030303020204" pitchFamily="34" charset="0"/>
              </a:rPr>
              <a:t>Подбор </a:t>
            </a:r>
            <a:r>
              <a:rPr lang="ru-RU" sz="4000" b="1" dirty="0" err="1">
                <a:latin typeface="Candara" panose="020E0502030303020204" pitchFamily="34" charset="0"/>
              </a:rPr>
              <a:t>гиперпараметров</a:t>
            </a:r>
            <a:r>
              <a:rPr lang="ru-RU" sz="4000" b="1" dirty="0">
                <a:latin typeface="Candara" panose="020E0502030303020204" pitchFamily="34" charset="0"/>
              </a:rPr>
              <a:t> модели</a:t>
            </a:r>
            <a:endParaRPr sz="4000" b="1" dirty="0">
              <a:latin typeface="Candara" panose="020E0502030303020204" pitchFamily="34" charset="0"/>
            </a:endParaRPr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>
                <a:latin typeface="Candara" panose="020E0502030303020204" pitchFamily="34" charset="0"/>
              </a:rPr>
              <a:t>Солодова София Михайловна </a:t>
            </a:r>
            <a:r>
              <a:rPr lang="ru-RU" altLang="zh-CN" dirty="0">
                <a:latin typeface="Candara" panose="020E0502030303020204" pitchFamily="34" charset="0"/>
              </a:rPr>
              <a:t>М8О-309Б-23</a:t>
            </a:r>
          </a:p>
          <a:p>
            <a:pPr marL="0" lvl="0" indent="0"/>
            <a:r>
              <a:rPr lang="en-US" dirty="0">
                <a:latin typeface="Candara" panose="020E0502030303020204" pitchFamily="34" charset="0"/>
              </a:rPr>
              <a:t>Cardiovascular Disease Dataset</a:t>
            </a:r>
            <a:endParaRPr lang="ru-RU" dirty="0">
              <a:latin typeface="Candara" panose="020E0502030303020204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58027" y="1963462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5"/>
          <p:cNvSpPr txBox="1">
            <a:spLocks noGrp="1"/>
          </p:cNvSpPr>
          <p:nvPr>
            <p:ph type="subTitle" idx="6"/>
          </p:nvPr>
        </p:nvSpPr>
        <p:spPr>
          <a:xfrm>
            <a:off x="2494829" y="2904518"/>
            <a:ext cx="3701605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Candara" panose="020E0502030303020204" pitchFamily="34" charset="0"/>
              </a:rPr>
              <a:t>ЦЕЛЬ РАБОТЫ</a:t>
            </a:r>
            <a:endParaRPr sz="2000" dirty="0">
              <a:latin typeface="Candara" panose="020E0502030303020204" pitchFamily="34" charset="0"/>
            </a:endParaRPr>
          </a:p>
        </p:txBody>
      </p:sp>
      <p:sp>
        <p:nvSpPr>
          <p:cNvPr id="795" name="Google Shape;795;p35"/>
          <p:cNvSpPr txBox="1">
            <a:spLocks noGrp="1"/>
          </p:cNvSpPr>
          <p:nvPr>
            <p:ph type="title"/>
          </p:nvPr>
        </p:nvSpPr>
        <p:spPr>
          <a:xfrm>
            <a:off x="720000" y="37550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altLang="zh-CN" sz="3600" b="1" dirty="0">
                <a:latin typeface="Candara" panose="020E0502030303020204" pitchFamily="34" charset="0"/>
              </a:rPr>
              <a:t>Постановка задачи</a:t>
            </a:r>
            <a:endParaRPr sz="3600" b="1" dirty="0">
              <a:latin typeface="Candara" panose="020E0502030303020204" pitchFamily="34" charset="0"/>
            </a:endParaRPr>
          </a:p>
        </p:txBody>
      </p:sp>
      <p:sp>
        <p:nvSpPr>
          <p:cNvPr id="796" name="Google Shape;796;p35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altLang="zh-CN" sz="1600" dirty="0">
                <a:latin typeface="Candara" panose="020E0502030303020204" pitchFamily="34" charset="0"/>
              </a:rPr>
              <a:t>Бинарная классификация – прогноз наличия сердечно-сосудистых заболеваний</a:t>
            </a:r>
            <a:endParaRPr sz="1600" dirty="0">
              <a:latin typeface="Candara" panose="020E0502030303020204" pitchFamily="34" charset="0"/>
            </a:endParaRPr>
          </a:p>
        </p:txBody>
      </p:sp>
      <p:sp>
        <p:nvSpPr>
          <p:cNvPr id="797" name="Google Shape;797;p35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altLang="zh-CN" sz="1600" dirty="0">
                <a:latin typeface="Candara" panose="020E0502030303020204" pitchFamily="34" charset="0"/>
              </a:rPr>
              <a:t>70 000 наблюдений</a:t>
            </a:r>
          </a:p>
          <a:p>
            <a:pPr marL="0" lvl="0" indent="0"/>
            <a:r>
              <a:rPr lang="ru-RU" altLang="zh-CN" sz="1600" dirty="0">
                <a:latin typeface="Candara" panose="020E0502030303020204" pitchFamily="34" charset="0"/>
              </a:rPr>
              <a:t>12 признаков</a:t>
            </a:r>
            <a:endParaRPr sz="1600" dirty="0">
              <a:latin typeface="Candara" panose="020E0502030303020204" pitchFamily="34" charset="0"/>
            </a:endParaRPr>
          </a:p>
        </p:txBody>
      </p:sp>
      <p:sp>
        <p:nvSpPr>
          <p:cNvPr id="798" name="Google Shape;798;p35"/>
          <p:cNvSpPr txBox="1">
            <a:spLocks noGrp="1"/>
          </p:cNvSpPr>
          <p:nvPr>
            <p:ph type="subTitle" idx="3"/>
          </p:nvPr>
        </p:nvSpPr>
        <p:spPr>
          <a:xfrm>
            <a:off x="2378520" y="3359960"/>
            <a:ext cx="4866793" cy="12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2400" indent="0"/>
            <a:r>
              <a:rPr lang="ru-RU" altLang="zh-CN" sz="1600" dirty="0">
                <a:latin typeface="Candara" panose="020E0502030303020204" pitchFamily="34" charset="0"/>
              </a:rPr>
              <a:t>- Сравнить методы подбора </a:t>
            </a:r>
            <a:r>
              <a:rPr lang="ru-RU" altLang="zh-CN" sz="1600" dirty="0" err="1">
                <a:latin typeface="Candara" panose="020E0502030303020204" pitchFamily="34" charset="0"/>
              </a:rPr>
              <a:t>гиперпараметров</a:t>
            </a:r>
            <a:endParaRPr lang="ru-RU" altLang="zh-CN" sz="1600" dirty="0">
              <a:latin typeface="Candara" panose="020E0502030303020204" pitchFamily="34" charset="0"/>
            </a:endParaRPr>
          </a:p>
          <a:p>
            <a:pPr marL="152400" indent="0"/>
            <a:r>
              <a:rPr lang="ru-RU" altLang="zh-CN" sz="1600" dirty="0">
                <a:latin typeface="Candara" panose="020E0502030303020204" pitchFamily="34" charset="0"/>
              </a:rPr>
              <a:t>- Проанализировать эффективность </a:t>
            </a:r>
            <a:r>
              <a:rPr lang="ru-RU" altLang="zh-CN" sz="1600" dirty="0" err="1">
                <a:latin typeface="Candara" panose="020E0502030303020204" pitchFamily="34" charset="0"/>
              </a:rPr>
              <a:t>AutoML</a:t>
            </a:r>
            <a:r>
              <a:rPr lang="ru-RU" altLang="zh-CN" sz="1600" dirty="0">
                <a:latin typeface="Candara" panose="020E0502030303020204" pitchFamily="34" charset="0"/>
              </a:rPr>
              <a:t> (TPOT)</a:t>
            </a:r>
          </a:p>
          <a:p>
            <a:pPr marL="152400" indent="0"/>
            <a:r>
              <a:rPr lang="ru-RU" altLang="zh-CN" sz="1600" dirty="0">
                <a:latin typeface="Candara" panose="020E0502030303020204" pitchFamily="34" charset="0"/>
              </a:rPr>
              <a:t>- Исследовать интерпретируемость моделей</a:t>
            </a:r>
          </a:p>
        </p:txBody>
      </p:sp>
      <p:sp>
        <p:nvSpPr>
          <p:cNvPr id="800" name="Google Shape;800;p35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Candara" panose="020E0502030303020204" pitchFamily="34" charset="0"/>
              </a:rPr>
              <a:t>ЗАДАЧА</a:t>
            </a:r>
            <a:endParaRPr sz="2000" dirty="0">
              <a:latin typeface="Candara" panose="020E0502030303020204" pitchFamily="34" charset="0"/>
            </a:endParaRPr>
          </a:p>
        </p:txBody>
      </p:sp>
      <p:sp>
        <p:nvSpPr>
          <p:cNvPr id="801" name="Google Shape;801;p35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Candara" panose="020E0502030303020204" pitchFamily="34" charset="0"/>
              </a:rPr>
              <a:t>ОБЪЕМ ДАННЫХ</a:t>
            </a:r>
            <a:endParaRPr sz="2000" dirty="0">
              <a:latin typeface="Candara" panose="020E0502030303020204" pitchFamily="34" charset="0"/>
            </a:endParaRPr>
          </a:p>
        </p:txBody>
      </p:sp>
      <p:grpSp>
        <p:nvGrpSpPr>
          <p:cNvPr id="803" name="Google Shape;803;p35"/>
          <p:cNvGrpSpPr/>
          <p:nvPr/>
        </p:nvGrpSpPr>
        <p:grpSpPr>
          <a:xfrm>
            <a:off x="4628575" y="1401781"/>
            <a:ext cx="345125" cy="345150"/>
            <a:chOff x="997838" y="3797375"/>
            <a:chExt cx="345125" cy="345150"/>
          </a:xfrm>
        </p:grpSpPr>
        <p:sp>
          <p:nvSpPr>
            <p:cNvPr id="804" name="Google Shape;804;p35"/>
            <p:cNvSpPr/>
            <p:nvPr/>
          </p:nvSpPr>
          <p:spPr>
            <a:xfrm>
              <a:off x="997838" y="3797375"/>
              <a:ext cx="345125" cy="345150"/>
            </a:xfrm>
            <a:custGeom>
              <a:avLst/>
              <a:gdLst/>
              <a:ahLst/>
              <a:cxnLst/>
              <a:rect l="l" t="t" r="r" b="b"/>
              <a:pathLst>
                <a:path w="13805" h="13806" extrusionOk="0">
                  <a:moveTo>
                    <a:pt x="6895" y="809"/>
                  </a:moveTo>
                  <a:cubicBezTo>
                    <a:pt x="8172" y="809"/>
                    <a:pt x="9199" y="1838"/>
                    <a:pt x="9199" y="3101"/>
                  </a:cubicBezTo>
                  <a:cubicBezTo>
                    <a:pt x="9199" y="3788"/>
                    <a:pt x="8896" y="4433"/>
                    <a:pt x="8357" y="4865"/>
                  </a:cubicBezTo>
                  <a:cubicBezTo>
                    <a:pt x="8018" y="5157"/>
                    <a:pt x="7785" y="5530"/>
                    <a:pt x="7715" y="5928"/>
                  </a:cubicBezTo>
                  <a:lnTo>
                    <a:pt x="7305" y="5928"/>
                  </a:lnTo>
                  <a:lnTo>
                    <a:pt x="7305" y="3813"/>
                  </a:lnTo>
                  <a:lnTo>
                    <a:pt x="7995" y="3123"/>
                  </a:lnTo>
                  <a:cubicBezTo>
                    <a:pt x="8158" y="2960"/>
                    <a:pt x="8158" y="2702"/>
                    <a:pt x="7995" y="2551"/>
                  </a:cubicBezTo>
                  <a:cubicBezTo>
                    <a:pt x="7919" y="2468"/>
                    <a:pt x="7817" y="2427"/>
                    <a:pt x="7713" y="2427"/>
                  </a:cubicBezTo>
                  <a:cubicBezTo>
                    <a:pt x="7609" y="2427"/>
                    <a:pt x="7504" y="2468"/>
                    <a:pt x="7423" y="2551"/>
                  </a:cubicBezTo>
                  <a:lnTo>
                    <a:pt x="6895" y="3064"/>
                  </a:lnTo>
                  <a:lnTo>
                    <a:pt x="6382" y="2551"/>
                  </a:lnTo>
                  <a:cubicBezTo>
                    <a:pt x="6304" y="2473"/>
                    <a:pt x="6197" y="2430"/>
                    <a:pt x="6089" y="2430"/>
                  </a:cubicBezTo>
                  <a:cubicBezTo>
                    <a:pt x="6003" y="2430"/>
                    <a:pt x="5917" y="2457"/>
                    <a:pt x="5843" y="2514"/>
                  </a:cubicBezTo>
                  <a:cubicBezTo>
                    <a:pt x="5647" y="2666"/>
                    <a:pt x="5633" y="2946"/>
                    <a:pt x="5810" y="3123"/>
                  </a:cubicBezTo>
                  <a:lnTo>
                    <a:pt x="6500" y="3813"/>
                  </a:lnTo>
                  <a:lnTo>
                    <a:pt x="6500" y="5928"/>
                  </a:lnTo>
                  <a:lnTo>
                    <a:pt x="6090" y="5928"/>
                  </a:lnTo>
                  <a:cubicBezTo>
                    <a:pt x="6020" y="5530"/>
                    <a:pt x="5787" y="5157"/>
                    <a:pt x="5448" y="4865"/>
                  </a:cubicBezTo>
                  <a:cubicBezTo>
                    <a:pt x="4909" y="4433"/>
                    <a:pt x="4606" y="3788"/>
                    <a:pt x="4606" y="3101"/>
                  </a:cubicBezTo>
                  <a:cubicBezTo>
                    <a:pt x="4606" y="1838"/>
                    <a:pt x="5633" y="809"/>
                    <a:pt x="6895" y="809"/>
                  </a:cubicBezTo>
                  <a:close/>
                  <a:moveTo>
                    <a:pt x="7681" y="6748"/>
                  </a:moveTo>
                  <a:lnTo>
                    <a:pt x="7681" y="7412"/>
                  </a:lnTo>
                  <a:cubicBezTo>
                    <a:pt x="7681" y="7494"/>
                    <a:pt x="7622" y="7553"/>
                    <a:pt x="7552" y="7553"/>
                  </a:cubicBezTo>
                  <a:lnTo>
                    <a:pt x="6253" y="7553"/>
                  </a:lnTo>
                  <a:cubicBezTo>
                    <a:pt x="6183" y="7553"/>
                    <a:pt x="6124" y="7494"/>
                    <a:pt x="6124" y="7412"/>
                  </a:cubicBezTo>
                  <a:lnTo>
                    <a:pt x="6124" y="6748"/>
                  </a:lnTo>
                  <a:close/>
                  <a:moveTo>
                    <a:pt x="12857" y="3507"/>
                  </a:moveTo>
                  <a:cubicBezTo>
                    <a:pt x="12941" y="3507"/>
                    <a:pt x="12997" y="3566"/>
                    <a:pt x="12997" y="3637"/>
                  </a:cubicBezTo>
                  <a:lnTo>
                    <a:pt x="12997" y="9166"/>
                  </a:lnTo>
                  <a:lnTo>
                    <a:pt x="808" y="9166"/>
                  </a:lnTo>
                  <a:lnTo>
                    <a:pt x="808" y="3637"/>
                  </a:lnTo>
                  <a:cubicBezTo>
                    <a:pt x="808" y="3566"/>
                    <a:pt x="864" y="3507"/>
                    <a:pt x="948" y="3507"/>
                  </a:cubicBezTo>
                  <a:lnTo>
                    <a:pt x="3824" y="3507"/>
                  </a:lnTo>
                  <a:cubicBezTo>
                    <a:pt x="3927" y="4279"/>
                    <a:pt x="4315" y="4994"/>
                    <a:pt x="4921" y="5496"/>
                  </a:cubicBezTo>
                  <a:cubicBezTo>
                    <a:pt x="5167" y="5696"/>
                    <a:pt x="5308" y="5976"/>
                    <a:pt x="5308" y="6257"/>
                  </a:cubicBezTo>
                  <a:lnTo>
                    <a:pt x="5308" y="7412"/>
                  </a:lnTo>
                  <a:cubicBezTo>
                    <a:pt x="5308" y="7940"/>
                    <a:pt x="5740" y="8361"/>
                    <a:pt x="6253" y="8361"/>
                  </a:cubicBezTo>
                  <a:lnTo>
                    <a:pt x="7527" y="8361"/>
                  </a:lnTo>
                  <a:cubicBezTo>
                    <a:pt x="8043" y="8361"/>
                    <a:pt x="8464" y="7940"/>
                    <a:pt x="8464" y="7412"/>
                  </a:cubicBezTo>
                  <a:lnTo>
                    <a:pt x="8464" y="6257"/>
                  </a:lnTo>
                  <a:cubicBezTo>
                    <a:pt x="8464" y="5976"/>
                    <a:pt x="8604" y="5696"/>
                    <a:pt x="8848" y="5496"/>
                  </a:cubicBezTo>
                  <a:cubicBezTo>
                    <a:pt x="9457" y="4994"/>
                    <a:pt x="9855" y="4279"/>
                    <a:pt x="9948" y="3507"/>
                  </a:cubicBezTo>
                  <a:close/>
                  <a:moveTo>
                    <a:pt x="12997" y="9974"/>
                  </a:moveTo>
                  <a:lnTo>
                    <a:pt x="12997" y="10650"/>
                  </a:lnTo>
                  <a:cubicBezTo>
                    <a:pt x="12997" y="10720"/>
                    <a:pt x="12941" y="10790"/>
                    <a:pt x="12857" y="10790"/>
                  </a:cubicBezTo>
                  <a:lnTo>
                    <a:pt x="948" y="10790"/>
                  </a:lnTo>
                  <a:cubicBezTo>
                    <a:pt x="864" y="10790"/>
                    <a:pt x="808" y="10720"/>
                    <a:pt x="808" y="10650"/>
                  </a:cubicBezTo>
                  <a:lnTo>
                    <a:pt x="808" y="9974"/>
                  </a:lnTo>
                  <a:close/>
                  <a:moveTo>
                    <a:pt x="8194" y="11598"/>
                  </a:moveTo>
                  <a:lnTo>
                    <a:pt x="8534" y="13001"/>
                  </a:lnTo>
                  <a:lnTo>
                    <a:pt x="5249" y="13001"/>
                  </a:lnTo>
                  <a:lnTo>
                    <a:pt x="5588" y="11598"/>
                  </a:lnTo>
                  <a:close/>
                  <a:moveTo>
                    <a:pt x="6895" y="1"/>
                  </a:moveTo>
                  <a:cubicBezTo>
                    <a:pt x="5330" y="1"/>
                    <a:pt x="4020" y="1182"/>
                    <a:pt x="3824" y="2702"/>
                  </a:cubicBezTo>
                  <a:lnTo>
                    <a:pt x="948" y="2702"/>
                  </a:lnTo>
                  <a:cubicBezTo>
                    <a:pt x="421" y="2702"/>
                    <a:pt x="0" y="3123"/>
                    <a:pt x="0" y="3637"/>
                  </a:cubicBezTo>
                  <a:lnTo>
                    <a:pt x="0" y="10650"/>
                  </a:lnTo>
                  <a:cubicBezTo>
                    <a:pt x="0" y="11177"/>
                    <a:pt x="421" y="11598"/>
                    <a:pt x="948" y="11598"/>
                  </a:cubicBezTo>
                  <a:lnTo>
                    <a:pt x="4769" y="11598"/>
                  </a:lnTo>
                  <a:lnTo>
                    <a:pt x="4430" y="13001"/>
                  </a:lnTo>
                  <a:lnTo>
                    <a:pt x="3669" y="13001"/>
                  </a:lnTo>
                  <a:cubicBezTo>
                    <a:pt x="3459" y="13001"/>
                    <a:pt x="3274" y="13152"/>
                    <a:pt x="3249" y="13351"/>
                  </a:cubicBezTo>
                  <a:cubicBezTo>
                    <a:pt x="3226" y="13595"/>
                    <a:pt x="3414" y="13806"/>
                    <a:pt x="3658" y="13806"/>
                  </a:cubicBezTo>
                  <a:lnTo>
                    <a:pt x="10110" y="13806"/>
                  </a:lnTo>
                  <a:cubicBezTo>
                    <a:pt x="10321" y="13806"/>
                    <a:pt x="10509" y="13654"/>
                    <a:pt x="10531" y="13444"/>
                  </a:cubicBezTo>
                  <a:cubicBezTo>
                    <a:pt x="10556" y="13200"/>
                    <a:pt x="10368" y="13001"/>
                    <a:pt x="10122" y="13001"/>
                  </a:cubicBezTo>
                  <a:lnTo>
                    <a:pt x="9364" y="13001"/>
                  </a:lnTo>
                  <a:lnTo>
                    <a:pt x="9025" y="11598"/>
                  </a:lnTo>
                  <a:lnTo>
                    <a:pt x="12857" y="11598"/>
                  </a:lnTo>
                  <a:cubicBezTo>
                    <a:pt x="13384" y="11598"/>
                    <a:pt x="13805" y="11177"/>
                    <a:pt x="13805" y="10650"/>
                  </a:cubicBezTo>
                  <a:lnTo>
                    <a:pt x="13805" y="3637"/>
                  </a:lnTo>
                  <a:cubicBezTo>
                    <a:pt x="13805" y="3123"/>
                    <a:pt x="13384" y="2702"/>
                    <a:pt x="12857" y="2702"/>
                  </a:cubicBezTo>
                  <a:lnTo>
                    <a:pt x="9970" y="2702"/>
                  </a:lnTo>
                  <a:cubicBezTo>
                    <a:pt x="9771" y="1182"/>
                    <a:pt x="847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05" name="Google Shape;805;p35"/>
            <p:cNvSpPr/>
            <p:nvPr/>
          </p:nvSpPr>
          <p:spPr>
            <a:xfrm>
              <a:off x="1259638" y="381072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5" y="1"/>
                  </a:moveTo>
                  <a:cubicBezTo>
                    <a:pt x="1096" y="1"/>
                    <a:pt x="1025" y="18"/>
                    <a:pt x="960" y="53"/>
                  </a:cubicBezTo>
                  <a:lnTo>
                    <a:pt x="258" y="463"/>
                  </a:lnTo>
                  <a:cubicBezTo>
                    <a:pt x="70" y="567"/>
                    <a:pt x="0" y="825"/>
                    <a:pt x="118" y="1010"/>
                  </a:cubicBezTo>
                  <a:cubicBezTo>
                    <a:pt x="190" y="1144"/>
                    <a:pt x="324" y="1214"/>
                    <a:pt x="465" y="1214"/>
                  </a:cubicBezTo>
                  <a:cubicBezTo>
                    <a:pt x="533" y="1214"/>
                    <a:pt x="603" y="1198"/>
                    <a:pt x="668" y="1164"/>
                  </a:cubicBezTo>
                  <a:lnTo>
                    <a:pt x="1369" y="754"/>
                  </a:lnTo>
                  <a:cubicBezTo>
                    <a:pt x="1557" y="648"/>
                    <a:pt x="1627" y="393"/>
                    <a:pt x="1510" y="205"/>
                  </a:cubicBezTo>
                  <a:cubicBezTo>
                    <a:pt x="1438" y="71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06" name="Google Shape;806;p35"/>
            <p:cNvSpPr/>
            <p:nvPr/>
          </p:nvSpPr>
          <p:spPr>
            <a:xfrm>
              <a:off x="1259638" y="3908500"/>
              <a:ext cx="40700" cy="30325"/>
            </a:xfrm>
            <a:custGeom>
              <a:avLst/>
              <a:gdLst/>
              <a:ahLst/>
              <a:cxnLst/>
              <a:rect l="l" t="t" r="r" b="b"/>
              <a:pathLst>
                <a:path w="1628" h="1213" extrusionOk="0">
                  <a:moveTo>
                    <a:pt x="460" y="1"/>
                  </a:moveTo>
                  <a:cubicBezTo>
                    <a:pt x="321" y="1"/>
                    <a:pt x="189" y="73"/>
                    <a:pt x="118" y="199"/>
                  </a:cubicBezTo>
                  <a:cubicBezTo>
                    <a:pt x="0" y="395"/>
                    <a:pt x="70" y="642"/>
                    <a:pt x="258" y="760"/>
                  </a:cubicBezTo>
                  <a:lnTo>
                    <a:pt x="960" y="1155"/>
                  </a:lnTo>
                  <a:cubicBezTo>
                    <a:pt x="1026" y="1195"/>
                    <a:pt x="1098" y="1213"/>
                    <a:pt x="1168" y="1213"/>
                  </a:cubicBezTo>
                  <a:cubicBezTo>
                    <a:pt x="1307" y="1213"/>
                    <a:pt x="1439" y="1140"/>
                    <a:pt x="1510" y="1015"/>
                  </a:cubicBezTo>
                  <a:cubicBezTo>
                    <a:pt x="1627" y="816"/>
                    <a:pt x="1557" y="572"/>
                    <a:pt x="1369" y="454"/>
                  </a:cubicBezTo>
                  <a:lnTo>
                    <a:pt x="668" y="58"/>
                  </a:lnTo>
                  <a:cubicBezTo>
                    <a:pt x="601" y="19"/>
                    <a:pt x="530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07" name="Google Shape;807;p35"/>
            <p:cNvSpPr/>
            <p:nvPr/>
          </p:nvSpPr>
          <p:spPr>
            <a:xfrm>
              <a:off x="1039913" y="3810725"/>
              <a:ext cx="40625" cy="30375"/>
            </a:xfrm>
            <a:custGeom>
              <a:avLst/>
              <a:gdLst/>
              <a:ahLst/>
              <a:cxnLst/>
              <a:rect l="l" t="t" r="r" b="b"/>
              <a:pathLst>
                <a:path w="1625" h="1215" extrusionOk="0">
                  <a:moveTo>
                    <a:pt x="462" y="1"/>
                  </a:moveTo>
                  <a:cubicBezTo>
                    <a:pt x="321" y="1"/>
                    <a:pt x="188" y="71"/>
                    <a:pt x="118" y="205"/>
                  </a:cubicBezTo>
                  <a:cubicBezTo>
                    <a:pt x="0" y="393"/>
                    <a:pt x="70" y="648"/>
                    <a:pt x="258" y="754"/>
                  </a:cubicBezTo>
                  <a:lnTo>
                    <a:pt x="960" y="1164"/>
                  </a:lnTo>
                  <a:cubicBezTo>
                    <a:pt x="1025" y="1198"/>
                    <a:pt x="1094" y="1214"/>
                    <a:pt x="1163" y="1214"/>
                  </a:cubicBezTo>
                  <a:cubicBezTo>
                    <a:pt x="1303" y="1214"/>
                    <a:pt x="1438" y="1144"/>
                    <a:pt x="1509" y="1010"/>
                  </a:cubicBezTo>
                  <a:cubicBezTo>
                    <a:pt x="1624" y="825"/>
                    <a:pt x="1554" y="567"/>
                    <a:pt x="1369" y="463"/>
                  </a:cubicBezTo>
                  <a:lnTo>
                    <a:pt x="668" y="53"/>
                  </a:lnTo>
                  <a:cubicBezTo>
                    <a:pt x="602" y="18"/>
                    <a:pt x="531" y="1"/>
                    <a:pt x="4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08" name="Google Shape;808;p35"/>
            <p:cNvSpPr/>
            <p:nvPr/>
          </p:nvSpPr>
          <p:spPr>
            <a:xfrm>
              <a:off x="1039913" y="3908500"/>
              <a:ext cx="40625" cy="30325"/>
            </a:xfrm>
            <a:custGeom>
              <a:avLst/>
              <a:gdLst/>
              <a:ahLst/>
              <a:cxnLst/>
              <a:rect l="l" t="t" r="r" b="b"/>
              <a:pathLst>
                <a:path w="1625" h="1213" extrusionOk="0">
                  <a:moveTo>
                    <a:pt x="1168" y="1"/>
                  </a:moveTo>
                  <a:cubicBezTo>
                    <a:pt x="1098" y="1"/>
                    <a:pt x="1026" y="19"/>
                    <a:pt x="960" y="58"/>
                  </a:cubicBezTo>
                  <a:lnTo>
                    <a:pt x="258" y="454"/>
                  </a:lnTo>
                  <a:cubicBezTo>
                    <a:pt x="70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29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4" y="642"/>
                    <a:pt x="1624" y="395"/>
                    <a:pt x="1509" y="199"/>
                  </a:cubicBezTo>
                  <a:cubicBezTo>
                    <a:pt x="1438" y="73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817" name="Google Shape;817;p35"/>
          <p:cNvGrpSpPr/>
          <p:nvPr/>
        </p:nvGrpSpPr>
        <p:grpSpPr>
          <a:xfrm>
            <a:off x="2093328" y="2965676"/>
            <a:ext cx="402258" cy="430900"/>
            <a:chOff x="1017663" y="3243950"/>
            <a:chExt cx="305475" cy="345175"/>
          </a:xfrm>
        </p:grpSpPr>
        <p:sp>
          <p:nvSpPr>
            <p:cNvPr id="818" name="Google Shape;818;p35"/>
            <p:cNvSpPr/>
            <p:nvPr/>
          </p:nvSpPr>
          <p:spPr>
            <a:xfrm>
              <a:off x="1234238" y="3487950"/>
              <a:ext cx="40350" cy="20500"/>
            </a:xfrm>
            <a:custGeom>
              <a:avLst/>
              <a:gdLst/>
              <a:ahLst/>
              <a:cxnLst/>
              <a:rect l="l" t="t" r="r" b="b"/>
              <a:pathLst>
                <a:path w="1614" h="820" extrusionOk="0">
                  <a:moveTo>
                    <a:pt x="399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399" y="820"/>
                  </a:cubicBezTo>
                  <a:lnTo>
                    <a:pt x="1204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19" name="Google Shape;819;p35"/>
            <p:cNvSpPr/>
            <p:nvPr/>
          </p:nvSpPr>
          <p:spPr>
            <a:xfrm>
              <a:off x="1065638" y="3487950"/>
              <a:ext cx="40350" cy="20500"/>
            </a:xfrm>
            <a:custGeom>
              <a:avLst/>
              <a:gdLst/>
              <a:ahLst/>
              <a:cxnLst/>
              <a:rect l="l" t="t" r="r" b="b"/>
              <a:pathLst>
                <a:path w="1614" h="820" extrusionOk="0">
                  <a:moveTo>
                    <a:pt x="410" y="1"/>
                  </a:moveTo>
                  <a:cubicBezTo>
                    <a:pt x="175" y="1"/>
                    <a:pt x="1" y="189"/>
                    <a:pt x="1" y="410"/>
                  </a:cubicBezTo>
                  <a:cubicBezTo>
                    <a:pt x="1" y="632"/>
                    <a:pt x="175" y="820"/>
                    <a:pt x="410" y="820"/>
                  </a:cubicBezTo>
                  <a:lnTo>
                    <a:pt x="1215" y="820"/>
                  </a:lnTo>
                  <a:cubicBezTo>
                    <a:pt x="1437" y="820"/>
                    <a:pt x="1614" y="632"/>
                    <a:pt x="1614" y="410"/>
                  </a:cubicBezTo>
                  <a:cubicBezTo>
                    <a:pt x="1614" y="189"/>
                    <a:pt x="1437" y="1"/>
                    <a:pt x="12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0" name="Google Shape;820;p35"/>
            <p:cNvSpPr/>
            <p:nvPr/>
          </p:nvSpPr>
          <p:spPr>
            <a:xfrm>
              <a:off x="1017663" y="3243950"/>
              <a:ext cx="305475" cy="345175"/>
            </a:xfrm>
            <a:custGeom>
              <a:avLst/>
              <a:gdLst/>
              <a:ahLst/>
              <a:cxnLst/>
              <a:rect l="l" t="t" r="r" b="b"/>
              <a:pathLst>
                <a:path w="12219" h="13807" extrusionOk="0">
                  <a:moveTo>
                    <a:pt x="2329" y="817"/>
                  </a:moveTo>
                  <a:cubicBezTo>
                    <a:pt x="2551" y="817"/>
                    <a:pt x="2725" y="994"/>
                    <a:pt x="2725" y="1216"/>
                  </a:cubicBezTo>
                  <a:cubicBezTo>
                    <a:pt x="2725" y="1437"/>
                    <a:pt x="2551" y="1625"/>
                    <a:pt x="2329" y="1625"/>
                  </a:cubicBezTo>
                  <a:cubicBezTo>
                    <a:pt x="2105" y="1625"/>
                    <a:pt x="1920" y="1437"/>
                    <a:pt x="1920" y="1216"/>
                  </a:cubicBezTo>
                  <a:cubicBezTo>
                    <a:pt x="1920" y="994"/>
                    <a:pt x="2105" y="817"/>
                    <a:pt x="2329" y="817"/>
                  </a:cubicBezTo>
                  <a:close/>
                  <a:moveTo>
                    <a:pt x="6102" y="817"/>
                  </a:moveTo>
                  <a:cubicBezTo>
                    <a:pt x="6327" y="817"/>
                    <a:pt x="6501" y="994"/>
                    <a:pt x="6501" y="1216"/>
                  </a:cubicBezTo>
                  <a:cubicBezTo>
                    <a:pt x="6501" y="1437"/>
                    <a:pt x="6327" y="1625"/>
                    <a:pt x="6102" y="1625"/>
                  </a:cubicBezTo>
                  <a:cubicBezTo>
                    <a:pt x="5870" y="1625"/>
                    <a:pt x="5696" y="1437"/>
                    <a:pt x="5696" y="1216"/>
                  </a:cubicBezTo>
                  <a:cubicBezTo>
                    <a:pt x="5696" y="994"/>
                    <a:pt x="5870" y="817"/>
                    <a:pt x="6102" y="817"/>
                  </a:cubicBezTo>
                  <a:close/>
                  <a:moveTo>
                    <a:pt x="9867" y="817"/>
                  </a:moveTo>
                  <a:cubicBezTo>
                    <a:pt x="10100" y="817"/>
                    <a:pt x="10277" y="994"/>
                    <a:pt x="10277" y="1216"/>
                  </a:cubicBezTo>
                  <a:cubicBezTo>
                    <a:pt x="10277" y="1437"/>
                    <a:pt x="10100" y="1625"/>
                    <a:pt x="9867" y="1625"/>
                  </a:cubicBezTo>
                  <a:cubicBezTo>
                    <a:pt x="9646" y="1625"/>
                    <a:pt x="9469" y="1437"/>
                    <a:pt x="9469" y="1216"/>
                  </a:cubicBezTo>
                  <a:cubicBezTo>
                    <a:pt x="9469" y="994"/>
                    <a:pt x="9646" y="817"/>
                    <a:pt x="9867" y="817"/>
                  </a:cubicBezTo>
                  <a:close/>
                  <a:moveTo>
                    <a:pt x="1813" y="6804"/>
                  </a:moveTo>
                  <a:lnTo>
                    <a:pt x="1709" y="7609"/>
                  </a:lnTo>
                  <a:lnTo>
                    <a:pt x="1241" y="7609"/>
                  </a:lnTo>
                  <a:cubicBezTo>
                    <a:pt x="1019" y="7609"/>
                    <a:pt x="843" y="7424"/>
                    <a:pt x="843" y="7200"/>
                  </a:cubicBezTo>
                  <a:cubicBezTo>
                    <a:pt x="843" y="6978"/>
                    <a:pt x="1019" y="6804"/>
                    <a:pt x="1241" y="6804"/>
                  </a:cubicBezTo>
                  <a:close/>
                  <a:moveTo>
                    <a:pt x="8195" y="4641"/>
                  </a:moveTo>
                  <a:cubicBezTo>
                    <a:pt x="8804" y="4641"/>
                    <a:pt x="9317" y="5084"/>
                    <a:pt x="9399" y="5682"/>
                  </a:cubicBezTo>
                  <a:lnTo>
                    <a:pt x="9679" y="7609"/>
                  </a:lnTo>
                  <a:lnTo>
                    <a:pt x="2514" y="7609"/>
                  </a:lnTo>
                  <a:lnTo>
                    <a:pt x="2795" y="5682"/>
                  </a:lnTo>
                  <a:cubicBezTo>
                    <a:pt x="2876" y="5084"/>
                    <a:pt x="3393" y="4641"/>
                    <a:pt x="3998" y="4641"/>
                  </a:cubicBezTo>
                  <a:close/>
                  <a:moveTo>
                    <a:pt x="10956" y="6804"/>
                  </a:moveTo>
                  <a:cubicBezTo>
                    <a:pt x="11177" y="6804"/>
                    <a:pt x="11351" y="6978"/>
                    <a:pt x="11351" y="7200"/>
                  </a:cubicBezTo>
                  <a:cubicBezTo>
                    <a:pt x="11351" y="7424"/>
                    <a:pt x="11177" y="7609"/>
                    <a:pt x="10956" y="7609"/>
                  </a:cubicBezTo>
                  <a:lnTo>
                    <a:pt x="10498" y="7609"/>
                  </a:lnTo>
                  <a:lnTo>
                    <a:pt x="10381" y="6804"/>
                  </a:lnTo>
                  <a:close/>
                  <a:moveTo>
                    <a:pt x="7154" y="10580"/>
                  </a:moveTo>
                  <a:lnTo>
                    <a:pt x="7424" y="11385"/>
                  </a:lnTo>
                  <a:lnTo>
                    <a:pt x="4770" y="11385"/>
                  </a:lnTo>
                  <a:lnTo>
                    <a:pt x="5039" y="10580"/>
                  </a:lnTo>
                  <a:close/>
                  <a:moveTo>
                    <a:pt x="10044" y="8417"/>
                  </a:moveTo>
                  <a:lnTo>
                    <a:pt x="10639" y="8779"/>
                  </a:lnTo>
                  <a:cubicBezTo>
                    <a:pt x="10919" y="8942"/>
                    <a:pt x="11096" y="9259"/>
                    <a:pt x="11096" y="9584"/>
                  </a:cubicBezTo>
                  <a:lnTo>
                    <a:pt x="11096" y="11385"/>
                  </a:lnTo>
                  <a:lnTo>
                    <a:pt x="8277" y="11385"/>
                  </a:lnTo>
                  <a:lnTo>
                    <a:pt x="7833" y="10041"/>
                  </a:lnTo>
                  <a:cubicBezTo>
                    <a:pt x="7774" y="9879"/>
                    <a:pt x="7623" y="9761"/>
                    <a:pt x="7449" y="9761"/>
                  </a:cubicBezTo>
                  <a:lnTo>
                    <a:pt x="4748" y="9761"/>
                  </a:lnTo>
                  <a:cubicBezTo>
                    <a:pt x="4574" y="9761"/>
                    <a:pt x="4419" y="9879"/>
                    <a:pt x="4363" y="10041"/>
                  </a:cubicBezTo>
                  <a:lnTo>
                    <a:pt x="3917" y="11385"/>
                  </a:lnTo>
                  <a:lnTo>
                    <a:pt x="1123" y="11385"/>
                  </a:lnTo>
                  <a:lnTo>
                    <a:pt x="1123" y="9584"/>
                  </a:lnTo>
                  <a:cubicBezTo>
                    <a:pt x="1123" y="9259"/>
                    <a:pt x="1300" y="8942"/>
                    <a:pt x="1580" y="8779"/>
                  </a:cubicBezTo>
                  <a:lnTo>
                    <a:pt x="2175" y="8417"/>
                  </a:lnTo>
                  <a:close/>
                  <a:moveTo>
                    <a:pt x="3005" y="12193"/>
                  </a:moveTo>
                  <a:lnTo>
                    <a:pt x="3005" y="12869"/>
                  </a:lnTo>
                  <a:cubicBezTo>
                    <a:pt x="3005" y="12939"/>
                    <a:pt x="2946" y="12998"/>
                    <a:pt x="2876" y="12998"/>
                  </a:cubicBezTo>
                  <a:lnTo>
                    <a:pt x="2071" y="12998"/>
                  </a:lnTo>
                  <a:cubicBezTo>
                    <a:pt x="1990" y="12998"/>
                    <a:pt x="1931" y="12939"/>
                    <a:pt x="1931" y="12869"/>
                  </a:cubicBezTo>
                  <a:lnTo>
                    <a:pt x="1931" y="12193"/>
                  </a:lnTo>
                  <a:close/>
                  <a:moveTo>
                    <a:pt x="10288" y="12193"/>
                  </a:moveTo>
                  <a:lnTo>
                    <a:pt x="10288" y="12869"/>
                  </a:lnTo>
                  <a:cubicBezTo>
                    <a:pt x="10288" y="12939"/>
                    <a:pt x="10229" y="12998"/>
                    <a:pt x="10148" y="12998"/>
                  </a:cubicBezTo>
                  <a:lnTo>
                    <a:pt x="9343" y="12998"/>
                  </a:lnTo>
                  <a:cubicBezTo>
                    <a:pt x="9272" y="12998"/>
                    <a:pt x="9214" y="12939"/>
                    <a:pt x="9214" y="12869"/>
                  </a:cubicBezTo>
                  <a:lnTo>
                    <a:pt x="9214" y="12193"/>
                  </a:lnTo>
                  <a:close/>
                  <a:moveTo>
                    <a:pt x="6117" y="0"/>
                  </a:moveTo>
                  <a:cubicBezTo>
                    <a:pt x="5447" y="0"/>
                    <a:pt x="4899" y="552"/>
                    <a:pt x="4899" y="1216"/>
                  </a:cubicBezTo>
                  <a:cubicBezTo>
                    <a:pt x="4899" y="1743"/>
                    <a:pt x="5238" y="2198"/>
                    <a:pt x="5707" y="2360"/>
                  </a:cubicBezTo>
                  <a:lnTo>
                    <a:pt x="5707" y="3833"/>
                  </a:lnTo>
                  <a:lnTo>
                    <a:pt x="4630" y="3833"/>
                  </a:lnTo>
                  <a:lnTo>
                    <a:pt x="4630" y="2560"/>
                  </a:lnTo>
                  <a:cubicBezTo>
                    <a:pt x="4630" y="2431"/>
                    <a:pt x="4560" y="2316"/>
                    <a:pt x="4456" y="2234"/>
                  </a:cubicBezTo>
                  <a:lnTo>
                    <a:pt x="3496" y="1555"/>
                  </a:lnTo>
                  <a:cubicBezTo>
                    <a:pt x="3533" y="1449"/>
                    <a:pt x="3544" y="1334"/>
                    <a:pt x="3544" y="1216"/>
                  </a:cubicBezTo>
                  <a:cubicBezTo>
                    <a:pt x="3544" y="548"/>
                    <a:pt x="3003" y="8"/>
                    <a:pt x="2346" y="8"/>
                  </a:cubicBezTo>
                  <a:cubicBezTo>
                    <a:pt x="2313" y="8"/>
                    <a:pt x="2279" y="10"/>
                    <a:pt x="2245" y="12"/>
                  </a:cubicBezTo>
                  <a:cubicBezTo>
                    <a:pt x="1650" y="46"/>
                    <a:pt x="1171" y="526"/>
                    <a:pt x="1123" y="1123"/>
                  </a:cubicBezTo>
                  <a:cubicBezTo>
                    <a:pt x="1078" y="1836"/>
                    <a:pt x="1639" y="2431"/>
                    <a:pt x="2341" y="2431"/>
                  </a:cubicBezTo>
                  <a:cubicBezTo>
                    <a:pt x="2596" y="2431"/>
                    <a:pt x="2831" y="2349"/>
                    <a:pt x="3031" y="2209"/>
                  </a:cubicBezTo>
                  <a:lnTo>
                    <a:pt x="3813" y="2770"/>
                  </a:lnTo>
                  <a:lnTo>
                    <a:pt x="3813" y="3847"/>
                  </a:lnTo>
                  <a:cubicBezTo>
                    <a:pt x="3404" y="3881"/>
                    <a:pt x="3005" y="4044"/>
                    <a:pt x="2680" y="4324"/>
                  </a:cubicBezTo>
                  <a:cubicBezTo>
                    <a:pt x="2315" y="4641"/>
                    <a:pt x="2071" y="5084"/>
                    <a:pt x="2001" y="5564"/>
                  </a:cubicBezTo>
                  <a:lnTo>
                    <a:pt x="1942" y="5985"/>
                  </a:lnTo>
                  <a:lnTo>
                    <a:pt x="1277" y="5985"/>
                  </a:lnTo>
                  <a:cubicBezTo>
                    <a:pt x="657" y="5985"/>
                    <a:pt x="96" y="6487"/>
                    <a:pt x="49" y="7107"/>
                  </a:cubicBezTo>
                  <a:cubicBezTo>
                    <a:pt x="1" y="7668"/>
                    <a:pt x="340" y="8159"/>
                    <a:pt x="831" y="8336"/>
                  </a:cubicBezTo>
                  <a:cubicBezTo>
                    <a:pt x="506" y="8661"/>
                    <a:pt x="318" y="9118"/>
                    <a:pt x="318" y="9584"/>
                  </a:cubicBezTo>
                  <a:lnTo>
                    <a:pt x="318" y="11783"/>
                  </a:lnTo>
                  <a:cubicBezTo>
                    <a:pt x="318" y="12005"/>
                    <a:pt x="492" y="12193"/>
                    <a:pt x="716" y="12193"/>
                  </a:cubicBezTo>
                  <a:lnTo>
                    <a:pt x="1123" y="12193"/>
                  </a:lnTo>
                  <a:lnTo>
                    <a:pt x="1123" y="12869"/>
                  </a:lnTo>
                  <a:cubicBezTo>
                    <a:pt x="1123" y="13385"/>
                    <a:pt x="1544" y="13806"/>
                    <a:pt x="2071" y="13806"/>
                  </a:cubicBezTo>
                  <a:lnTo>
                    <a:pt x="2876" y="13806"/>
                  </a:lnTo>
                  <a:cubicBezTo>
                    <a:pt x="3393" y="13806"/>
                    <a:pt x="3813" y="13385"/>
                    <a:pt x="3813" y="12869"/>
                  </a:cubicBezTo>
                  <a:lnTo>
                    <a:pt x="3813" y="12193"/>
                  </a:lnTo>
                  <a:lnTo>
                    <a:pt x="8406" y="12193"/>
                  </a:lnTo>
                  <a:lnTo>
                    <a:pt x="8406" y="12869"/>
                  </a:lnTo>
                  <a:cubicBezTo>
                    <a:pt x="8406" y="13385"/>
                    <a:pt x="8826" y="13806"/>
                    <a:pt x="9343" y="13806"/>
                  </a:cubicBezTo>
                  <a:lnTo>
                    <a:pt x="10148" y="13806"/>
                  </a:lnTo>
                  <a:cubicBezTo>
                    <a:pt x="10675" y="13806"/>
                    <a:pt x="11096" y="13385"/>
                    <a:pt x="11096" y="12869"/>
                  </a:cubicBezTo>
                  <a:lnTo>
                    <a:pt x="11096" y="12193"/>
                  </a:lnTo>
                  <a:lnTo>
                    <a:pt x="11503" y="12193"/>
                  </a:lnTo>
                  <a:cubicBezTo>
                    <a:pt x="11727" y="12193"/>
                    <a:pt x="11901" y="12005"/>
                    <a:pt x="11901" y="11783"/>
                  </a:cubicBezTo>
                  <a:lnTo>
                    <a:pt x="11901" y="9584"/>
                  </a:lnTo>
                  <a:cubicBezTo>
                    <a:pt x="11901" y="9118"/>
                    <a:pt x="11713" y="8661"/>
                    <a:pt x="11388" y="8336"/>
                  </a:cubicBezTo>
                  <a:cubicBezTo>
                    <a:pt x="11879" y="8159"/>
                    <a:pt x="12218" y="7668"/>
                    <a:pt x="12170" y="7107"/>
                  </a:cubicBezTo>
                  <a:cubicBezTo>
                    <a:pt x="12123" y="6487"/>
                    <a:pt x="11562" y="5985"/>
                    <a:pt x="10942" y="5985"/>
                  </a:cubicBezTo>
                  <a:lnTo>
                    <a:pt x="10277" y="5985"/>
                  </a:lnTo>
                  <a:lnTo>
                    <a:pt x="10218" y="5564"/>
                  </a:lnTo>
                  <a:cubicBezTo>
                    <a:pt x="10148" y="5084"/>
                    <a:pt x="9904" y="4641"/>
                    <a:pt x="9539" y="4324"/>
                  </a:cubicBezTo>
                  <a:cubicBezTo>
                    <a:pt x="9214" y="4044"/>
                    <a:pt x="8815" y="3881"/>
                    <a:pt x="8406" y="3847"/>
                  </a:cubicBezTo>
                  <a:lnTo>
                    <a:pt x="8406" y="2770"/>
                  </a:lnTo>
                  <a:lnTo>
                    <a:pt x="9188" y="2209"/>
                  </a:lnTo>
                  <a:cubicBezTo>
                    <a:pt x="9397" y="2349"/>
                    <a:pt x="9641" y="2432"/>
                    <a:pt x="9910" y="2432"/>
                  </a:cubicBezTo>
                  <a:cubicBezTo>
                    <a:pt x="9931" y="2432"/>
                    <a:pt x="9953" y="2432"/>
                    <a:pt x="9974" y="2431"/>
                  </a:cubicBezTo>
                  <a:cubicBezTo>
                    <a:pt x="10580" y="2386"/>
                    <a:pt x="11071" y="1884"/>
                    <a:pt x="11096" y="1264"/>
                  </a:cubicBezTo>
                  <a:cubicBezTo>
                    <a:pt x="11118" y="573"/>
                    <a:pt x="10569" y="1"/>
                    <a:pt x="9878" y="1"/>
                  </a:cubicBezTo>
                  <a:cubicBezTo>
                    <a:pt x="9214" y="1"/>
                    <a:pt x="8675" y="551"/>
                    <a:pt x="8675" y="1216"/>
                  </a:cubicBezTo>
                  <a:cubicBezTo>
                    <a:pt x="8675" y="1334"/>
                    <a:pt x="8686" y="1449"/>
                    <a:pt x="8723" y="1555"/>
                  </a:cubicBezTo>
                  <a:lnTo>
                    <a:pt x="7763" y="2234"/>
                  </a:lnTo>
                  <a:cubicBezTo>
                    <a:pt x="7659" y="2316"/>
                    <a:pt x="7589" y="2431"/>
                    <a:pt x="7589" y="2560"/>
                  </a:cubicBezTo>
                  <a:lnTo>
                    <a:pt x="7589" y="3833"/>
                  </a:lnTo>
                  <a:lnTo>
                    <a:pt x="6512" y="3833"/>
                  </a:lnTo>
                  <a:lnTo>
                    <a:pt x="6512" y="2360"/>
                  </a:lnTo>
                  <a:cubicBezTo>
                    <a:pt x="7003" y="2186"/>
                    <a:pt x="7354" y="1707"/>
                    <a:pt x="7320" y="1146"/>
                  </a:cubicBezTo>
                  <a:cubicBezTo>
                    <a:pt x="7284" y="526"/>
                    <a:pt x="6781" y="35"/>
                    <a:pt x="6161" y="1"/>
                  </a:cubicBezTo>
                  <a:cubicBezTo>
                    <a:pt x="6146" y="1"/>
                    <a:pt x="6131" y="0"/>
                    <a:pt x="611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821" name="Google Shape;821;p35"/>
          <p:cNvGrpSpPr/>
          <p:nvPr/>
        </p:nvGrpSpPr>
        <p:grpSpPr>
          <a:xfrm>
            <a:off x="818363" y="1401644"/>
            <a:ext cx="345125" cy="345425"/>
            <a:chOff x="997838" y="2690475"/>
            <a:chExt cx="345125" cy="345425"/>
          </a:xfrm>
        </p:grpSpPr>
        <p:sp>
          <p:nvSpPr>
            <p:cNvPr id="822" name="Google Shape;822;p35"/>
            <p:cNvSpPr/>
            <p:nvPr/>
          </p:nvSpPr>
          <p:spPr>
            <a:xfrm>
              <a:off x="1267563" y="2758300"/>
              <a:ext cx="41550" cy="20150"/>
            </a:xfrm>
            <a:custGeom>
              <a:avLst/>
              <a:gdLst/>
              <a:ahLst/>
              <a:cxnLst/>
              <a:rect l="l" t="t" r="r" b="b"/>
              <a:pathLst>
                <a:path w="1662" h="806" extrusionOk="0">
                  <a:moveTo>
                    <a:pt x="432" y="0"/>
                  </a:moveTo>
                  <a:cubicBezTo>
                    <a:pt x="188" y="0"/>
                    <a:pt x="0" y="200"/>
                    <a:pt x="23" y="444"/>
                  </a:cubicBezTo>
                  <a:cubicBezTo>
                    <a:pt x="48" y="654"/>
                    <a:pt x="233" y="806"/>
                    <a:pt x="432" y="806"/>
                  </a:cubicBezTo>
                  <a:lnTo>
                    <a:pt x="1226" y="806"/>
                  </a:lnTo>
                  <a:cubicBezTo>
                    <a:pt x="1437" y="806"/>
                    <a:pt x="1613" y="654"/>
                    <a:pt x="1636" y="444"/>
                  </a:cubicBezTo>
                  <a:cubicBezTo>
                    <a:pt x="1661" y="200"/>
                    <a:pt x="1473" y="0"/>
                    <a:pt x="124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1259988" y="270440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3" y="0"/>
                  </a:moveTo>
                  <a:cubicBezTo>
                    <a:pt x="1094" y="0"/>
                    <a:pt x="1023" y="17"/>
                    <a:pt x="957" y="52"/>
                  </a:cubicBezTo>
                  <a:lnTo>
                    <a:pt x="256" y="462"/>
                  </a:lnTo>
                  <a:cubicBezTo>
                    <a:pt x="70" y="577"/>
                    <a:pt x="0" y="824"/>
                    <a:pt x="115" y="1009"/>
                  </a:cubicBezTo>
                  <a:cubicBezTo>
                    <a:pt x="187" y="1143"/>
                    <a:pt x="321" y="1214"/>
                    <a:pt x="462" y="1214"/>
                  </a:cubicBezTo>
                  <a:cubicBezTo>
                    <a:pt x="530" y="1214"/>
                    <a:pt x="600" y="1197"/>
                    <a:pt x="665" y="1163"/>
                  </a:cubicBezTo>
                  <a:lnTo>
                    <a:pt x="1366" y="754"/>
                  </a:lnTo>
                  <a:cubicBezTo>
                    <a:pt x="1554" y="647"/>
                    <a:pt x="1625" y="403"/>
                    <a:pt x="1507" y="204"/>
                  </a:cubicBezTo>
                  <a:cubicBezTo>
                    <a:pt x="1437" y="71"/>
                    <a:pt x="1304" y="0"/>
                    <a:pt x="1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1259988" y="28021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57" y="1"/>
                  </a:moveTo>
                  <a:cubicBezTo>
                    <a:pt x="318" y="1"/>
                    <a:pt x="186" y="74"/>
                    <a:pt x="115" y="199"/>
                  </a:cubicBezTo>
                  <a:cubicBezTo>
                    <a:pt x="0" y="395"/>
                    <a:pt x="70" y="642"/>
                    <a:pt x="256" y="760"/>
                  </a:cubicBezTo>
                  <a:lnTo>
                    <a:pt x="957" y="1155"/>
                  </a:lnTo>
                  <a:cubicBezTo>
                    <a:pt x="1023" y="1195"/>
                    <a:pt x="1095" y="1213"/>
                    <a:pt x="1166" y="1213"/>
                  </a:cubicBezTo>
                  <a:cubicBezTo>
                    <a:pt x="1305" y="1213"/>
                    <a:pt x="1438" y="1140"/>
                    <a:pt x="1507" y="1015"/>
                  </a:cubicBezTo>
                  <a:cubicBezTo>
                    <a:pt x="1625" y="816"/>
                    <a:pt x="1554" y="572"/>
                    <a:pt x="1366" y="454"/>
                  </a:cubicBezTo>
                  <a:lnTo>
                    <a:pt x="665" y="59"/>
                  </a:lnTo>
                  <a:cubicBezTo>
                    <a:pt x="599" y="19"/>
                    <a:pt x="527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5" name="Google Shape;825;p35"/>
            <p:cNvSpPr/>
            <p:nvPr/>
          </p:nvSpPr>
          <p:spPr>
            <a:xfrm>
              <a:off x="1031688" y="2758300"/>
              <a:ext cx="41550" cy="20150"/>
            </a:xfrm>
            <a:custGeom>
              <a:avLst/>
              <a:gdLst/>
              <a:ahLst/>
              <a:cxnLst/>
              <a:rect l="l" t="t" r="r" b="b"/>
              <a:pathLst>
                <a:path w="1662" h="806" extrusionOk="0">
                  <a:moveTo>
                    <a:pt x="436" y="0"/>
                  </a:moveTo>
                  <a:cubicBezTo>
                    <a:pt x="225" y="0"/>
                    <a:pt x="49" y="152"/>
                    <a:pt x="26" y="351"/>
                  </a:cubicBezTo>
                  <a:cubicBezTo>
                    <a:pt x="1" y="595"/>
                    <a:pt x="189" y="806"/>
                    <a:pt x="422" y="806"/>
                  </a:cubicBezTo>
                  <a:lnTo>
                    <a:pt x="1230" y="806"/>
                  </a:lnTo>
                  <a:cubicBezTo>
                    <a:pt x="1429" y="806"/>
                    <a:pt x="1614" y="654"/>
                    <a:pt x="1639" y="444"/>
                  </a:cubicBezTo>
                  <a:cubicBezTo>
                    <a:pt x="1662" y="200"/>
                    <a:pt x="1474" y="0"/>
                    <a:pt x="123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6" name="Google Shape;826;p35"/>
            <p:cNvSpPr/>
            <p:nvPr/>
          </p:nvSpPr>
          <p:spPr>
            <a:xfrm>
              <a:off x="1040188" y="270440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462" y="0"/>
                  </a:moveTo>
                  <a:cubicBezTo>
                    <a:pt x="321" y="0"/>
                    <a:pt x="188" y="71"/>
                    <a:pt x="118" y="204"/>
                  </a:cubicBezTo>
                  <a:cubicBezTo>
                    <a:pt x="0" y="403"/>
                    <a:pt x="71" y="647"/>
                    <a:pt x="259" y="754"/>
                  </a:cubicBezTo>
                  <a:lnTo>
                    <a:pt x="960" y="1163"/>
                  </a:lnTo>
                  <a:cubicBezTo>
                    <a:pt x="1025" y="1197"/>
                    <a:pt x="1095" y="1214"/>
                    <a:pt x="1163" y="1214"/>
                  </a:cubicBezTo>
                  <a:cubicBezTo>
                    <a:pt x="1304" y="1214"/>
                    <a:pt x="1438" y="1143"/>
                    <a:pt x="1510" y="1009"/>
                  </a:cubicBezTo>
                  <a:cubicBezTo>
                    <a:pt x="1625" y="824"/>
                    <a:pt x="1555" y="577"/>
                    <a:pt x="1369" y="462"/>
                  </a:cubicBezTo>
                  <a:lnTo>
                    <a:pt x="668" y="52"/>
                  </a:lnTo>
                  <a:cubicBezTo>
                    <a:pt x="602" y="17"/>
                    <a:pt x="531" y="0"/>
                    <a:pt x="4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1040188" y="2802150"/>
              <a:ext cx="40625" cy="30350"/>
            </a:xfrm>
            <a:custGeom>
              <a:avLst/>
              <a:gdLst/>
              <a:ahLst/>
              <a:cxnLst/>
              <a:rect l="l" t="t" r="r" b="b"/>
              <a:pathLst>
                <a:path w="1625" h="1214" extrusionOk="0">
                  <a:moveTo>
                    <a:pt x="1168" y="1"/>
                  </a:moveTo>
                  <a:cubicBezTo>
                    <a:pt x="1098" y="1"/>
                    <a:pt x="1026" y="19"/>
                    <a:pt x="960" y="59"/>
                  </a:cubicBezTo>
                  <a:lnTo>
                    <a:pt x="259" y="454"/>
                  </a:lnTo>
                  <a:cubicBezTo>
                    <a:pt x="71" y="572"/>
                    <a:pt x="0" y="816"/>
                    <a:pt x="118" y="1015"/>
                  </a:cubicBezTo>
                  <a:cubicBezTo>
                    <a:pt x="187" y="1140"/>
                    <a:pt x="320" y="1213"/>
                    <a:pt x="459" y="1213"/>
                  </a:cubicBezTo>
                  <a:cubicBezTo>
                    <a:pt x="530" y="1213"/>
                    <a:pt x="601" y="1195"/>
                    <a:pt x="668" y="1155"/>
                  </a:cubicBezTo>
                  <a:lnTo>
                    <a:pt x="1369" y="760"/>
                  </a:lnTo>
                  <a:cubicBezTo>
                    <a:pt x="1555" y="642"/>
                    <a:pt x="1625" y="395"/>
                    <a:pt x="1510" y="199"/>
                  </a:cubicBezTo>
                  <a:cubicBezTo>
                    <a:pt x="1439" y="74"/>
                    <a:pt x="1307" y="1"/>
                    <a:pt x="116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997838" y="2690475"/>
              <a:ext cx="345125" cy="345425"/>
            </a:xfrm>
            <a:custGeom>
              <a:avLst/>
              <a:gdLst/>
              <a:ahLst/>
              <a:cxnLst/>
              <a:rect l="l" t="t" r="r" b="b"/>
              <a:pathLst>
                <a:path w="13805" h="13817" extrusionOk="0">
                  <a:moveTo>
                    <a:pt x="6895" y="820"/>
                  </a:moveTo>
                  <a:cubicBezTo>
                    <a:pt x="8172" y="820"/>
                    <a:pt x="9199" y="1847"/>
                    <a:pt x="9199" y="3109"/>
                  </a:cubicBezTo>
                  <a:cubicBezTo>
                    <a:pt x="9199" y="3799"/>
                    <a:pt x="8896" y="4441"/>
                    <a:pt x="8357" y="4876"/>
                  </a:cubicBezTo>
                  <a:cubicBezTo>
                    <a:pt x="8018" y="5168"/>
                    <a:pt x="7785" y="5541"/>
                    <a:pt x="7715" y="5939"/>
                  </a:cubicBezTo>
                  <a:lnTo>
                    <a:pt x="7305" y="5939"/>
                  </a:lnTo>
                  <a:lnTo>
                    <a:pt x="7305" y="3824"/>
                  </a:lnTo>
                  <a:lnTo>
                    <a:pt x="7995" y="3134"/>
                  </a:lnTo>
                  <a:cubicBezTo>
                    <a:pt x="8135" y="2994"/>
                    <a:pt x="8158" y="2758"/>
                    <a:pt x="8032" y="2596"/>
                  </a:cubicBezTo>
                  <a:cubicBezTo>
                    <a:pt x="7950" y="2490"/>
                    <a:pt x="7833" y="2437"/>
                    <a:pt x="7715" y="2437"/>
                  </a:cubicBezTo>
                  <a:cubicBezTo>
                    <a:pt x="7610" y="2437"/>
                    <a:pt x="7505" y="2479"/>
                    <a:pt x="7423" y="2562"/>
                  </a:cubicBezTo>
                  <a:lnTo>
                    <a:pt x="6895" y="3075"/>
                  </a:lnTo>
                  <a:lnTo>
                    <a:pt x="6382" y="2562"/>
                  </a:lnTo>
                  <a:cubicBezTo>
                    <a:pt x="6300" y="2479"/>
                    <a:pt x="6195" y="2437"/>
                    <a:pt x="6090" y="2437"/>
                  </a:cubicBezTo>
                  <a:cubicBezTo>
                    <a:pt x="5972" y="2437"/>
                    <a:pt x="5855" y="2490"/>
                    <a:pt x="5773" y="2596"/>
                  </a:cubicBezTo>
                  <a:cubicBezTo>
                    <a:pt x="5647" y="2758"/>
                    <a:pt x="5670" y="2994"/>
                    <a:pt x="5810" y="3134"/>
                  </a:cubicBezTo>
                  <a:lnTo>
                    <a:pt x="6500" y="3824"/>
                  </a:lnTo>
                  <a:lnTo>
                    <a:pt x="6500" y="5939"/>
                  </a:lnTo>
                  <a:lnTo>
                    <a:pt x="6090" y="5939"/>
                  </a:lnTo>
                  <a:cubicBezTo>
                    <a:pt x="6020" y="5541"/>
                    <a:pt x="5787" y="5168"/>
                    <a:pt x="5448" y="4876"/>
                  </a:cubicBezTo>
                  <a:cubicBezTo>
                    <a:pt x="4909" y="4441"/>
                    <a:pt x="4606" y="3799"/>
                    <a:pt x="4606" y="3109"/>
                  </a:cubicBezTo>
                  <a:cubicBezTo>
                    <a:pt x="4606" y="1847"/>
                    <a:pt x="5633" y="820"/>
                    <a:pt x="6895" y="820"/>
                  </a:cubicBezTo>
                  <a:close/>
                  <a:moveTo>
                    <a:pt x="7681" y="6756"/>
                  </a:moveTo>
                  <a:lnTo>
                    <a:pt x="7681" y="7424"/>
                  </a:lnTo>
                  <a:cubicBezTo>
                    <a:pt x="7681" y="7505"/>
                    <a:pt x="7622" y="7564"/>
                    <a:pt x="7552" y="7564"/>
                  </a:cubicBezTo>
                  <a:lnTo>
                    <a:pt x="6253" y="7564"/>
                  </a:lnTo>
                  <a:cubicBezTo>
                    <a:pt x="6183" y="7564"/>
                    <a:pt x="6124" y="7505"/>
                    <a:pt x="6124" y="7424"/>
                  </a:cubicBezTo>
                  <a:lnTo>
                    <a:pt x="6124" y="6756"/>
                  </a:lnTo>
                  <a:close/>
                  <a:moveTo>
                    <a:pt x="2561" y="8383"/>
                  </a:moveTo>
                  <a:cubicBezTo>
                    <a:pt x="3004" y="8383"/>
                    <a:pt x="3366" y="8745"/>
                    <a:pt x="3366" y="9188"/>
                  </a:cubicBezTo>
                  <a:cubicBezTo>
                    <a:pt x="3366" y="9631"/>
                    <a:pt x="3004" y="9996"/>
                    <a:pt x="2561" y="9996"/>
                  </a:cubicBezTo>
                  <a:cubicBezTo>
                    <a:pt x="2115" y="9996"/>
                    <a:pt x="1753" y="9631"/>
                    <a:pt x="1753" y="9188"/>
                  </a:cubicBezTo>
                  <a:cubicBezTo>
                    <a:pt x="1753" y="8745"/>
                    <a:pt x="2115" y="8383"/>
                    <a:pt x="2561" y="8383"/>
                  </a:cubicBezTo>
                  <a:close/>
                  <a:moveTo>
                    <a:pt x="11244" y="8383"/>
                  </a:moveTo>
                  <a:cubicBezTo>
                    <a:pt x="11690" y="8383"/>
                    <a:pt x="12052" y="8745"/>
                    <a:pt x="12052" y="9188"/>
                  </a:cubicBezTo>
                  <a:cubicBezTo>
                    <a:pt x="12052" y="9631"/>
                    <a:pt x="11690" y="9996"/>
                    <a:pt x="11244" y="9996"/>
                  </a:cubicBezTo>
                  <a:cubicBezTo>
                    <a:pt x="10800" y="9996"/>
                    <a:pt x="10439" y="9631"/>
                    <a:pt x="10439" y="9188"/>
                  </a:cubicBezTo>
                  <a:cubicBezTo>
                    <a:pt x="10439" y="8745"/>
                    <a:pt x="10800" y="8383"/>
                    <a:pt x="11244" y="8383"/>
                  </a:cubicBezTo>
                  <a:close/>
                  <a:moveTo>
                    <a:pt x="6500" y="8369"/>
                  </a:moveTo>
                  <a:lnTo>
                    <a:pt x="6500" y="9830"/>
                  </a:lnTo>
                  <a:cubicBezTo>
                    <a:pt x="6500" y="10812"/>
                    <a:pt x="5703" y="11609"/>
                    <a:pt x="4721" y="11609"/>
                  </a:cubicBezTo>
                  <a:cubicBezTo>
                    <a:pt x="4500" y="11609"/>
                    <a:pt x="4315" y="11783"/>
                    <a:pt x="4315" y="12005"/>
                  </a:cubicBezTo>
                  <a:lnTo>
                    <a:pt x="4315" y="13012"/>
                  </a:lnTo>
                  <a:lnTo>
                    <a:pt x="808" y="13012"/>
                  </a:lnTo>
                  <a:lnTo>
                    <a:pt x="808" y="12005"/>
                  </a:lnTo>
                  <a:cubicBezTo>
                    <a:pt x="808" y="11340"/>
                    <a:pt x="1355" y="10801"/>
                    <a:pt x="2023" y="10801"/>
                  </a:cubicBezTo>
                  <a:lnTo>
                    <a:pt x="4721" y="10801"/>
                  </a:lnTo>
                  <a:cubicBezTo>
                    <a:pt x="5260" y="10801"/>
                    <a:pt x="5692" y="10358"/>
                    <a:pt x="5692" y="9830"/>
                  </a:cubicBezTo>
                  <a:lnTo>
                    <a:pt x="5692" y="8778"/>
                  </a:lnTo>
                  <a:cubicBezTo>
                    <a:pt x="5692" y="8557"/>
                    <a:pt x="5869" y="8369"/>
                    <a:pt x="6090" y="8369"/>
                  </a:cubicBezTo>
                  <a:close/>
                  <a:moveTo>
                    <a:pt x="7715" y="8369"/>
                  </a:moveTo>
                  <a:cubicBezTo>
                    <a:pt x="7936" y="8369"/>
                    <a:pt x="8113" y="8557"/>
                    <a:pt x="8113" y="8778"/>
                  </a:cubicBezTo>
                  <a:lnTo>
                    <a:pt x="8113" y="9830"/>
                  </a:lnTo>
                  <a:cubicBezTo>
                    <a:pt x="8113" y="10358"/>
                    <a:pt x="8545" y="10801"/>
                    <a:pt x="9084" y="10801"/>
                  </a:cubicBezTo>
                  <a:lnTo>
                    <a:pt x="11782" y="10801"/>
                  </a:lnTo>
                  <a:cubicBezTo>
                    <a:pt x="12450" y="10801"/>
                    <a:pt x="12997" y="11340"/>
                    <a:pt x="12997" y="12005"/>
                  </a:cubicBezTo>
                  <a:lnTo>
                    <a:pt x="12997" y="13012"/>
                  </a:lnTo>
                  <a:lnTo>
                    <a:pt x="9490" y="13012"/>
                  </a:lnTo>
                  <a:lnTo>
                    <a:pt x="9490" y="12005"/>
                  </a:lnTo>
                  <a:cubicBezTo>
                    <a:pt x="9490" y="11783"/>
                    <a:pt x="9305" y="11609"/>
                    <a:pt x="9084" y="11609"/>
                  </a:cubicBezTo>
                  <a:cubicBezTo>
                    <a:pt x="8102" y="11609"/>
                    <a:pt x="7305" y="10812"/>
                    <a:pt x="7305" y="9830"/>
                  </a:cubicBezTo>
                  <a:lnTo>
                    <a:pt x="7305" y="8369"/>
                  </a:lnTo>
                  <a:close/>
                  <a:moveTo>
                    <a:pt x="6895" y="1"/>
                  </a:moveTo>
                  <a:cubicBezTo>
                    <a:pt x="5190" y="1"/>
                    <a:pt x="3787" y="1403"/>
                    <a:pt x="3787" y="3123"/>
                  </a:cubicBezTo>
                  <a:cubicBezTo>
                    <a:pt x="3787" y="4057"/>
                    <a:pt x="4197" y="4921"/>
                    <a:pt x="4921" y="5519"/>
                  </a:cubicBezTo>
                  <a:cubicBezTo>
                    <a:pt x="5167" y="5729"/>
                    <a:pt x="5308" y="6010"/>
                    <a:pt x="5308" y="6290"/>
                  </a:cubicBezTo>
                  <a:lnTo>
                    <a:pt x="5308" y="7446"/>
                  </a:lnTo>
                  <a:cubicBezTo>
                    <a:pt x="5308" y="7575"/>
                    <a:pt x="5341" y="7693"/>
                    <a:pt x="5378" y="7797"/>
                  </a:cubicBezTo>
                  <a:cubicBezTo>
                    <a:pt x="5072" y="8018"/>
                    <a:pt x="4876" y="8369"/>
                    <a:pt x="4876" y="8767"/>
                  </a:cubicBezTo>
                  <a:lnTo>
                    <a:pt x="4876" y="9830"/>
                  </a:lnTo>
                  <a:cubicBezTo>
                    <a:pt x="4876" y="9912"/>
                    <a:pt x="4806" y="9982"/>
                    <a:pt x="4721" y="9982"/>
                  </a:cubicBezTo>
                  <a:lnTo>
                    <a:pt x="3964" y="9982"/>
                  </a:lnTo>
                  <a:cubicBezTo>
                    <a:pt x="4115" y="9727"/>
                    <a:pt x="4197" y="9435"/>
                    <a:pt x="4174" y="9107"/>
                  </a:cubicBezTo>
                  <a:cubicBezTo>
                    <a:pt x="4138" y="8276"/>
                    <a:pt x="3473" y="7597"/>
                    <a:pt x="2643" y="7564"/>
                  </a:cubicBezTo>
                  <a:cubicBezTo>
                    <a:pt x="2614" y="7562"/>
                    <a:pt x="2586" y="7562"/>
                    <a:pt x="2558" y="7562"/>
                  </a:cubicBezTo>
                  <a:cubicBezTo>
                    <a:pt x="1660" y="7562"/>
                    <a:pt x="948" y="8293"/>
                    <a:pt x="948" y="9177"/>
                  </a:cubicBezTo>
                  <a:cubicBezTo>
                    <a:pt x="948" y="9539"/>
                    <a:pt x="1063" y="9867"/>
                    <a:pt x="1262" y="10136"/>
                  </a:cubicBezTo>
                  <a:cubicBezTo>
                    <a:pt x="527" y="10439"/>
                    <a:pt x="0" y="11163"/>
                    <a:pt x="0" y="12005"/>
                  </a:cubicBezTo>
                  <a:lnTo>
                    <a:pt x="0" y="13407"/>
                  </a:lnTo>
                  <a:cubicBezTo>
                    <a:pt x="0" y="13629"/>
                    <a:pt x="177" y="13817"/>
                    <a:pt x="410" y="13817"/>
                  </a:cubicBezTo>
                  <a:lnTo>
                    <a:pt x="4721" y="13817"/>
                  </a:lnTo>
                  <a:cubicBezTo>
                    <a:pt x="4946" y="13817"/>
                    <a:pt x="5120" y="13629"/>
                    <a:pt x="5120" y="13407"/>
                  </a:cubicBezTo>
                  <a:lnTo>
                    <a:pt x="5120" y="12380"/>
                  </a:lnTo>
                  <a:cubicBezTo>
                    <a:pt x="5869" y="12263"/>
                    <a:pt x="6511" y="11831"/>
                    <a:pt x="6895" y="11211"/>
                  </a:cubicBezTo>
                  <a:cubicBezTo>
                    <a:pt x="7294" y="11831"/>
                    <a:pt x="7936" y="12263"/>
                    <a:pt x="8685" y="12380"/>
                  </a:cubicBezTo>
                  <a:lnTo>
                    <a:pt x="8685" y="13407"/>
                  </a:lnTo>
                  <a:cubicBezTo>
                    <a:pt x="8685" y="13629"/>
                    <a:pt x="8859" y="13817"/>
                    <a:pt x="9084" y="13817"/>
                  </a:cubicBezTo>
                  <a:lnTo>
                    <a:pt x="13395" y="13817"/>
                  </a:lnTo>
                  <a:cubicBezTo>
                    <a:pt x="13617" y="13817"/>
                    <a:pt x="13805" y="13629"/>
                    <a:pt x="13805" y="13407"/>
                  </a:cubicBezTo>
                  <a:lnTo>
                    <a:pt x="13805" y="12005"/>
                  </a:lnTo>
                  <a:cubicBezTo>
                    <a:pt x="13805" y="11163"/>
                    <a:pt x="13278" y="10439"/>
                    <a:pt x="12543" y="10136"/>
                  </a:cubicBezTo>
                  <a:cubicBezTo>
                    <a:pt x="12764" y="9842"/>
                    <a:pt x="12882" y="9480"/>
                    <a:pt x="12857" y="9095"/>
                  </a:cubicBezTo>
                  <a:cubicBezTo>
                    <a:pt x="12812" y="8254"/>
                    <a:pt x="12111" y="7575"/>
                    <a:pt x="11269" y="7564"/>
                  </a:cubicBezTo>
                  <a:cubicBezTo>
                    <a:pt x="11262" y="7564"/>
                    <a:pt x="11255" y="7564"/>
                    <a:pt x="11248" y="7564"/>
                  </a:cubicBezTo>
                  <a:cubicBezTo>
                    <a:pt x="10357" y="7564"/>
                    <a:pt x="9619" y="8283"/>
                    <a:pt x="9619" y="9177"/>
                  </a:cubicBezTo>
                  <a:cubicBezTo>
                    <a:pt x="9619" y="9469"/>
                    <a:pt x="9701" y="9749"/>
                    <a:pt x="9841" y="9982"/>
                  </a:cubicBezTo>
                  <a:lnTo>
                    <a:pt x="9084" y="9982"/>
                  </a:lnTo>
                  <a:cubicBezTo>
                    <a:pt x="8999" y="9982"/>
                    <a:pt x="8918" y="9912"/>
                    <a:pt x="8918" y="9830"/>
                  </a:cubicBezTo>
                  <a:lnTo>
                    <a:pt x="8918" y="8778"/>
                  </a:lnTo>
                  <a:cubicBezTo>
                    <a:pt x="8918" y="8369"/>
                    <a:pt x="8733" y="8007"/>
                    <a:pt x="8427" y="7785"/>
                  </a:cubicBezTo>
                  <a:cubicBezTo>
                    <a:pt x="8464" y="7682"/>
                    <a:pt x="8497" y="7553"/>
                    <a:pt x="8497" y="7424"/>
                  </a:cubicBezTo>
                  <a:lnTo>
                    <a:pt x="8497" y="6290"/>
                  </a:lnTo>
                  <a:cubicBezTo>
                    <a:pt x="8497" y="6010"/>
                    <a:pt x="8638" y="5729"/>
                    <a:pt x="8884" y="5519"/>
                  </a:cubicBezTo>
                  <a:cubicBezTo>
                    <a:pt x="9608" y="4921"/>
                    <a:pt x="10018" y="4057"/>
                    <a:pt x="10018" y="3123"/>
                  </a:cubicBezTo>
                  <a:cubicBezTo>
                    <a:pt x="10018" y="1403"/>
                    <a:pt x="8615" y="1"/>
                    <a:pt x="689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/>
          <p:cNvSpPr txBox="1">
            <a:spLocks noGrp="1"/>
          </p:cNvSpPr>
          <p:nvPr>
            <p:ph type="subTitle" idx="8"/>
          </p:nvPr>
        </p:nvSpPr>
        <p:spPr>
          <a:xfrm>
            <a:off x="1797496" y="1751503"/>
            <a:ext cx="3675343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ndara" panose="020E0502030303020204" pitchFamily="34" charset="0"/>
              </a:rPr>
              <a:t>Разделение на </a:t>
            </a:r>
            <a:r>
              <a:rPr lang="en-US" dirty="0">
                <a:latin typeface="Candara" panose="020E0502030303020204" pitchFamily="34" charset="0"/>
              </a:rPr>
              <a:t>train/test(80/20)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09" name="Google Shape;709;p30"/>
          <p:cNvSpPr txBox="1">
            <a:spLocks noGrp="1"/>
          </p:cNvSpPr>
          <p:nvPr>
            <p:ph type="title"/>
          </p:nvPr>
        </p:nvSpPr>
        <p:spPr>
          <a:xfrm>
            <a:off x="783610" y="393013"/>
            <a:ext cx="442339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dirty="0">
                <a:latin typeface="Candara" panose="020E0502030303020204" pitchFamily="34" charset="0"/>
              </a:rPr>
              <a:t>ПОДГОТОВКА ДАННЫХ</a:t>
            </a:r>
            <a:endParaRPr sz="3200" b="1" dirty="0">
              <a:latin typeface="Candara" panose="020E0502030303020204" pitchFamily="34" charset="0"/>
            </a:endParaRPr>
          </a:p>
        </p:txBody>
      </p:sp>
      <p:sp>
        <p:nvSpPr>
          <p:cNvPr id="710" name="Google Shape;710;p30"/>
          <p:cNvSpPr txBox="1">
            <a:spLocks noGrp="1"/>
          </p:cNvSpPr>
          <p:nvPr>
            <p:ph type="title" idx="2"/>
          </p:nvPr>
        </p:nvSpPr>
        <p:spPr>
          <a:xfrm>
            <a:off x="999346" y="1172251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ndara" panose="020E0502030303020204" pitchFamily="34" charset="0"/>
              </a:rPr>
              <a:t>01</a:t>
            </a:r>
            <a:endParaRPr>
              <a:latin typeface="Candara" panose="020E0502030303020204" pitchFamily="34" charset="0"/>
            </a:endParaRPr>
          </a:p>
        </p:txBody>
      </p:sp>
      <p:sp>
        <p:nvSpPr>
          <p:cNvPr id="712" name="Google Shape;712;p30"/>
          <p:cNvSpPr txBox="1">
            <a:spLocks noGrp="1"/>
          </p:cNvSpPr>
          <p:nvPr>
            <p:ph type="title" idx="4"/>
          </p:nvPr>
        </p:nvSpPr>
        <p:spPr>
          <a:xfrm>
            <a:off x="985210" y="1739684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ndara" panose="020E0502030303020204" pitchFamily="34" charset="0"/>
              </a:rPr>
              <a:t>02</a:t>
            </a:r>
            <a:endParaRPr>
              <a:latin typeface="Candara" panose="020E0502030303020204" pitchFamily="34" charset="0"/>
            </a:endParaRPr>
          </a:p>
        </p:txBody>
      </p:sp>
      <p:sp>
        <p:nvSpPr>
          <p:cNvPr id="714" name="Google Shape;714;p30"/>
          <p:cNvSpPr txBox="1">
            <a:spLocks noGrp="1"/>
          </p:cNvSpPr>
          <p:nvPr>
            <p:ph type="title" idx="6"/>
          </p:nvPr>
        </p:nvSpPr>
        <p:spPr>
          <a:xfrm>
            <a:off x="985210" y="2317402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03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6" name="Google Shape;716;p30"/>
          <p:cNvSpPr txBox="1">
            <a:spLocks noGrp="1"/>
          </p:cNvSpPr>
          <p:nvPr>
            <p:ph type="subTitle" idx="1"/>
          </p:nvPr>
        </p:nvSpPr>
        <p:spPr>
          <a:xfrm>
            <a:off x="1797497" y="1183804"/>
            <a:ext cx="3187254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ndara" panose="020E0502030303020204" pitchFamily="34" charset="0"/>
              </a:rPr>
              <a:t>Удаление идентификатора (</a:t>
            </a:r>
            <a:r>
              <a:rPr lang="en-US" dirty="0">
                <a:latin typeface="Candara" panose="020E0502030303020204" pitchFamily="34" charset="0"/>
              </a:rPr>
              <a:t>id</a:t>
            </a:r>
            <a:r>
              <a:rPr lang="ru-RU" dirty="0">
                <a:latin typeface="Candara" panose="020E0502030303020204" pitchFamily="34" charset="0"/>
              </a:rPr>
              <a:t>)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7" name="Google Shape;717;p30"/>
          <p:cNvSpPr txBox="1">
            <a:spLocks noGrp="1"/>
          </p:cNvSpPr>
          <p:nvPr>
            <p:ph type="subTitle" idx="9"/>
          </p:nvPr>
        </p:nvSpPr>
        <p:spPr>
          <a:xfrm>
            <a:off x="1797496" y="2319202"/>
            <a:ext cx="4890052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latin typeface="Candara" panose="020E0502030303020204" pitchFamily="34" charset="0"/>
              </a:rPr>
              <a:t>Создание </a:t>
            </a:r>
            <a:r>
              <a:rPr lang="ru-RU" dirty="0" err="1">
                <a:latin typeface="Candara" panose="020E0502030303020204" pitchFamily="34" charset="0"/>
              </a:rPr>
              <a:t>пайплайна</a:t>
            </a:r>
            <a:r>
              <a:rPr lang="ru-RU" dirty="0">
                <a:latin typeface="Candara" panose="020E0502030303020204" pitchFamily="34" charset="0"/>
              </a:rPr>
              <a:t> с </a:t>
            </a:r>
            <a:r>
              <a:rPr lang="en-US" dirty="0" err="1">
                <a:latin typeface="Candara" panose="020E0502030303020204" pitchFamily="34" charset="0"/>
              </a:rPr>
              <a:t>CatBoostClassifier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20" name="Google Shape;720;p30"/>
          <p:cNvSpPr txBox="1">
            <a:spLocks noGrp="1"/>
          </p:cNvSpPr>
          <p:nvPr>
            <p:ph type="subTitle" idx="15"/>
          </p:nvPr>
        </p:nvSpPr>
        <p:spPr>
          <a:xfrm>
            <a:off x="5562221" y="1201061"/>
            <a:ext cx="1255805" cy="36933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latin typeface="Candara" panose="020E0502030303020204" pitchFamily="34" charset="0"/>
              </a:rPr>
              <a:t>Проблема</a:t>
            </a:r>
            <a:endParaRPr sz="1800" dirty="0">
              <a:latin typeface="Candara" panose="020E0502030303020204" pitchFamily="34" charset="0"/>
            </a:endParaRPr>
          </a:p>
        </p:txBody>
      </p:sp>
      <p:grpSp>
        <p:nvGrpSpPr>
          <p:cNvPr id="721" name="Google Shape;721;p30"/>
          <p:cNvGrpSpPr/>
          <p:nvPr/>
        </p:nvGrpSpPr>
        <p:grpSpPr>
          <a:xfrm>
            <a:off x="844208" y="1769028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/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3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725" name="Google Shape;725;p30"/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" name="Google Shape;741;p32">
            <a:extLst>
              <a:ext uri="{FF2B5EF4-FFF2-40B4-BE49-F238E27FC236}">
                <a16:creationId xmlns:a16="http://schemas.microsoft.com/office/drawing/2014/main" id="{F09225D2-B5D4-3C91-CCBB-C12C77F80167}"/>
              </a:ext>
            </a:extLst>
          </p:cNvPr>
          <p:cNvSpPr/>
          <p:nvPr/>
        </p:nvSpPr>
        <p:spPr>
          <a:xfrm rot="-5400000">
            <a:off x="1579693" y="3219329"/>
            <a:ext cx="245320" cy="204165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ndara" panose="020E0502030303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2ACE7C-C880-36E9-868C-5AFB5B18016A}"/>
              </a:ext>
            </a:extLst>
          </p:cNvPr>
          <p:cNvSpPr txBox="1"/>
          <p:nvPr/>
        </p:nvSpPr>
        <p:spPr>
          <a:xfrm>
            <a:off x="5207000" y="1544920"/>
            <a:ext cx="30927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1600" dirty="0">
                <a:solidFill>
                  <a:srgbClr val="F9FAFB"/>
                </a:solidFill>
                <a:latin typeface="Candara" panose="020E0502030303020204" pitchFamily="34" charset="0"/>
              </a:rPr>
              <a:t>- Н</a:t>
            </a:r>
            <a:r>
              <a:rPr lang="ru-RU" altLang="zh-CN" sz="1600" b="0" i="0" dirty="0">
                <a:solidFill>
                  <a:srgbClr val="F9FAFB"/>
                </a:solidFill>
                <a:effectLst/>
                <a:latin typeface="Candara" panose="020E0502030303020204" pitchFamily="34" charset="0"/>
              </a:rPr>
              <a:t>есбалансированные классы</a:t>
            </a:r>
          </a:p>
          <a:p>
            <a:r>
              <a:rPr lang="ru-RU" altLang="zh-CN" sz="1600" dirty="0">
                <a:solidFill>
                  <a:srgbClr val="F9FAFB"/>
                </a:solidFill>
                <a:latin typeface="Candara" panose="020E0502030303020204" pitchFamily="34" charset="0"/>
              </a:rPr>
              <a:t>- Разнородные признаки</a:t>
            </a:r>
            <a:br>
              <a:rPr lang="ru-RU" altLang="zh-CN" sz="1600" dirty="0">
                <a:latin typeface="Candara" panose="020E0502030303020204" pitchFamily="34" charset="0"/>
              </a:rPr>
            </a:br>
            <a:endParaRPr lang="zh-CN" altLang="en-US" sz="1600" dirty="0">
              <a:latin typeface="Candara" panose="020E0502030303020204" pitchFamily="34" charset="0"/>
            </a:endParaRPr>
          </a:p>
        </p:txBody>
      </p:sp>
      <p:sp>
        <p:nvSpPr>
          <p:cNvPr id="2" name="Google Shape;741;p32">
            <a:extLst>
              <a:ext uri="{FF2B5EF4-FFF2-40B4-BE49-F238E27FC236}">
                <a16:creationId xmlns:a16="http://schemas.microsoft.com/office/drawing/2014/main" id="{3B835887-BD37-A71F-FAB0-B5222B709C0D}"/>
              </a:ext>
            </a:extLst>
          </p:cNvPr>
          <p:cNvSpPr/>
          <p:nvPr/>
        </p:nvSpPr>
        <p:spPr>
          <a:xfrm rot="-5400000">
            <a:off x="5299092" y="1293550"/>
            <a:ext cx="209104" cy="206089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ndara" panose="020E0502030303020204" pitchFamily="34" charset="0"/>
            </a:endParaRPr>
          </a:p>
        </p:txBody>
      </p:sp>
      <p:sp>
        <p:nvSpPr>
          <p:cNvPr id="3" name="Google Shape;720;p30">
            <a:extLst>
              <a:ext uri="{FF2B5EF4-FFF2-40B4-BE49-F238E27FC236}">
                <a16:creationId xmlns:a16="http://schemas.microsoft.com/office/drawing/2014/main" id="{AAFDDF3F-4B5C-1969-8AC6-FC7AE053D41F}"/>
              </a:ext>
            </a:extLst>
          </p:cNvPr>
          <p:cNvSpPr txBox="1">
            <a:spLocks/>
          </p:cNvSpPr>
          <p:nvPr/>
        </p:nvSpPr>
        <p:spPr>
          <a:xfrm>
            <a:off x="1619027" y="3102750"/>
            <a:ext cx="7569233" cy="10706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endParaRPr lang="ru-RU" dirty="0">
              <a:latin typeface="Candara" panose="020E0502030303020204" pitchFamily="34" charset="0"/>
            </a:endParaRPr>
          </a:p>
          <a:p>
            <a:pPr marL="0" indent="0"/>
            <a:r>
              <a:rPr lang="ru-RU" dirty="0">
                <a:latin typeface="Candara" panose="020E0502030303020204" pitchFamily="34" charset="0"/>
              </a:rPr>
              <a:t>- </a:t>
            </a:r>
            <a:r>
              <a:rPr lang="ru-RU" dirty="0" err="1">
                <a:latin typeface="Candara" panose="020E0502030303020204" pitchFamily="34" charset="0"/>
              </a:rPr>
              <a:t>CatBoost</a:t>
            </a:r>
            <a:r>
              <a:rPr lang="ru-RU" dirty="0">
                <a:latin typeface="Candara" panose="020E0502030303020204" pitchFamily="34" charset="0"/>
              </a:rPr>
              <a:t> сам обрабатывает категориальные признаки (</a:t>
            </a:r>
            <a:r>
              <a:rPr lang="ru-RU" dirty="0" err="1">
                <a:latin typeface="Candara" panose="020E0502030303020204" pitchFamily="34" charset="0"/>
              </a:rPr>
              <a:t>one-hot</a:t>
            </a:r>
            <a:r>
              <a:rPr lang="ru-RU" dirty="0">
                <a:latin typeface="Candara" panose="020E0502030303020204" pitchFamily="34" charset="0"/>
              </a:rPr>
              <a:t> не требуется)</a:t>
            </a:r>
          </a:p>
          <a:p>
            <a:pPr marL="0" indent="0"/>
            <a:r>
              <a:rPr lang="ru-RU" dirty="0">
                <a:latin typeface="Candara" panose="020E0502030303020204" pitchFamily="34" charset="0"/>
              </a:rPr>
              <a:t>- </a:t>
            </a:r>
            <a:r>
              <a:rPr lang="ru-RU" dirty="0" err="1">
                <a:latin typeface="Candara" panose="020E0502030303020204" pitchFamily="34" charset="0"/>
              </a:rPr>
              <a:t>Pipeline</a:t>
            </a:r>
            <a:r>
              <a:rPr lang="ru-RU" dirty="0">
                <a:latin typeface="Candara" panose="020E0502030303020204" pitchFamily="34" charset="0"/>
              </a:rPr>
              <a:t> для последующего использования в Grid/</a:t>
            </a:r>
            <a:r>
              <a:rPr lang="ru-RU" dirty="0" err="1">
                <a:latin typeface="Candara" panose="020E0502030303020204" pitchFamily="34" charset="0"/>
              </a:rPr>
              <a:t>Random</a:t>
            </a:r>
            <a:r>
              <a:rPr lang="ru-RU" dirty="0">
                <a:latin typeface="Candara" panose="020E0502030303020204" pitchFamily="34" charset="0"/>
              </a:rPr>
              <a:t> </a:t>
            </a:r>
            <a:r>
              <a:rPr lang="ru-RU" dirty="0" err="1">
                <a:latin typeface="Candara" panose="020E0502030303020204" pitchFamily="34" charset="0"/>
              </a:rPr>
              <a:t>search</a:t>
            </a:r>
            <a:endParaRPr lang="ru-RU" dirty="0">
              <a:latin typeface="Candara" panose="020E05020303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34343-4A1D-9976-BFE2-B323F1800456}"/>
              </a:ext>
            </a:extLst>
          </p:cNvPr>
          <p:cNvSpPr txBox="1"/>
          <p:nvPr/>
        </p:nvSpPr>
        <p:spPr>
          <a:xfrm>
            <a:off x="1831110" y="3154608"/>
            <a:ext cx="1804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dirty="0">
                <a:solidFill>
                  <a:srgbClr val="FFFFFF"/>
                </a:solidFill>
                <a:latin typeface="Candara" panose="020E0502030303020204" pitchFamily="34" charset="0"/>
              </a:rPr>
              <a:t>Особенности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D6FCB0CB-F497-58B3-84C2-F10FBAD04ED3}"/>
              </a:ext>
            </a:extLst>
          </p:cNvPr>
          <p:cNvSpPr/>
          <p:nvPr/>
        </p:nvSpPr>
        <p:spPr>
          <a:xfrm>
            <a:off x="4380430" y="1552044"/>
            <a:ext cx="4081840" cy="113770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ndara" panose="020E0502030303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79472E-4D62-97CB-5A0D-74B597570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258" y="437768"/>
            <a:ext cx="7704000" cy="572700"/>
          </a:xfrm>
        </p:spPr>
        <p:txBody>
          <a:bodyPr/>
          <a:lstStyle/>
          <a:p>
            <a:r>
              <a:rPr lang="en-US" altLang="zh-CN" b="1" dirty="0">
                <a:latin typeface="Candara" panose="020E0502030303020204" pitchFamily="34" charset="0"/>
              </a:rPr>
              <a:t>Grid Search</a:t>
            </a:r>
            <a:endParaRPr lang="zh-CN" altLang="en-US" b="1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87BE005-9E84-6B64-63C8-6D9D20C85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829" y="1810256"/>
            <a:ext cx="2864695" cy="957250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Полный перебор всех комбинаций параметров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Точный, но вычислительно дорогой</a:t>
            </a:r>
          </a:p>
          <a:p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BDC32A6C-A2CA-9411-DEA0-1F9E11F197F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450553" y="3309082"/>
            <a:ext cx="3030362" cy="1501800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Гарантированно находит оптимальную комбинацию в заданном пространстве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Прост в реализации</a:t>
            </a:r>
          </a:p>
          <a:p>
            <a:endParaRPr lang="zh-CN" altLang="en-US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38D6AAEE-0D7D-8C41-A037-7C8B0C83378F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800213" y="3370093"/>
            <a:ext cx="3662057" cy="689889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Экспоненциальный рост времени выполнения</a:t>
            </a:r>
          </a:p>
          <a:p>
            <a:pPr marL="0"/>
            <a:r>
              <a:rPr lang="ru-RU" altLang="zh-CN" dirty="0">
                <a:latin typeface="Candara" panose="020E0502030303020204" pitchFamily="34" charset="0"/>
              </a:rPr>
              <a:t>Неэффективен для больших пространств параметров</a:t>
            </a:r>
          </a:p>
          <a:p>
            <a:endParaRPr lang="zh-CN" altLang="en-US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F121CEFB-9E3E-A354-0847-32C70A0E1EE3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68752" y="1343770"/>
            <a:ext cx="2136311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Принцип работы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9DF44D29-DE0D-C20B-16ED-36ABFEE81194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1268752" y="2912408"/>
            <a:ext cx="2260200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Преимущества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59F28FC2-9F00-85EB-7BC2-20BD8CC066D6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4775675" y="2918126"/>
            <a:ext cx="2069656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Недостатки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grpSp>
        <p:nvGrpSpPr>
          <p:cNvPr id="9" name="Google Shape;1233;p47">
            <a:extLst>
              <a:ext uri="{FF2B5EF4-FFF2-40B4-BE49-F238E27FC236}">
                <a16:creationId xmlns:a16="http://schemas.microsoft.com/office/drawing/2014/main" id="{E534E3BD-AEF3-4A82-695B-9184184F65E8}"/>
              </a:ext>
            </a:extLst>
          </p:cNvPr>
          <p:cNvGrpSpPr/>
          <p:nvPr/>
        </p:nvGrpSpPr>
        <p:grpSpPr>
          <a:xfrm>
            <a:off x="4414253" y="1963069"/>
            <a:ext cx="6577836" cy="2799873"/>
            <a:chOff x="2320585" y="-1326942"/>
            <a:chExt cx="5859225" cy="2360405"/>
          </a:xfrm>
        </p:grpSpPr>
        <p:sp>
          <p:nvSpPr>
            <p:cNvPr id="10" name="Google Shape;1234;p47">
              <a:extLst>
                <a:ext uri="{FF2B5EF4-FFF2-40B4-BE49-F238E27FC236}">
                  <a16:creationId xmlns:a16="http://schemas.microsoft.com/office/drawing/2014/main" id="{7DC70F64-BB2C-9B44-F95C-159310FF90D2}"/>
                </a:ext>
              </a:extLst>
            </p:cNvPr>
            <p:cNvSpPr/>
            <p:nvPr/>
          </p:nvSpPr>
          <p:spPr>
            <a:xfrm>
              <a:off x="2320585" y="-104237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1" name="Google Shape;1235;p47">
              <a:extLst>
                <a:ext uri="{FF2B5EF4-FFF2-40B4-BE49-F238E27FC236}">
                  <a16:creationId xmlns:a16="http://schemas.microsoft.com/office/drawing/2014/main" id="{83037779-3E4B-FB5D-B79C-D6A6C296EECF}"/>
                </a:ext>
              </a:extLst>
            </p:cNvPr>
            <p:cNvGrpSpPr/>
            <p:nvPr/>
          </p:nvGrpSpPr>
          <p:grpSpPr>
            <a:xfrm rot="-5400000">
              <a:off x="7216713" y="-925832"/>
              <a:ext cx="1076536" cy="274315"/>
              <a:chOff x="7137512" y="6308643"/>
              <a:chExt cx="3816146" cy="972402"/>
            </a:xfrm>
          </p:grpSpPr>
          <p:sp>
            <p:nvSpPr>
              <p:cNvPr id="12" name="Google Shape;1236;p47">
                <a:extLst>
                  <a:ext uri="{FF2B5EF4-FFF2-40B4-BE49-F238E27FC236}">
                    <a16:creationId xmlns:a16="http://schemas.microsoft.com/office/drawing/2014/main" id="{F45FA6AC-DE33-22C6-7D5B-E9FE3F2CE6CA}"/>
                  </a:ext>
                </a:extLst>
              </p:cNvPr>
              <p:cNvSpPr/>
              <p:nvPr/>
            </p:nvSpPr>
            <p:spPr>
              <a:xfrm rot="10800000">
                <a:off x="7137512" y="6308643"/>
                <a:ext cx="1231991" cy="703353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237;p47">
                <a:extLst>
                  <a:ext uri="{FF2B5EF4-FFF2-40B4-BE49-F238E27FC236}">
                    <a16:creationId xmlns:a16="http://schemas.microsoft.com/office/drawing/2014/main" id="{24D2C4E1-0B20-F6E6-5592-F847B2875BC4}"/>
                  </a:ext>
                </a:extLst>
              </p:cNvPr>
              <p:cNvSpPr/>
              <p:nvPr/>
            </p:nvSpPr>
            <p:spPr>
              <a:xfrm rot="10800000">
                <a:off x="10326151" y="6660319"/>
                <a:ext cx="627507" cy="6207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" name="Google Shape;1388;p48">
            <a:extLst>
              <a:ext uri="{FF2B5EF4-FFF2-40B4-BE49-F238E27FC236}">
                <a16:creationId xmlns:a16="http://schemas.microsoft.com/office/drawing/2014/main" id="{D8A75982-7FA2-9832-AF60-98E3C74C3E8E}"/>
              </a:ext>
            </a:extLst>
          </p:cNvPr>
          <p:cNvGrpSpPr/>
          <p:nvPr/>
        </p:nvGrpSpPr>
        <p:grpSpPr>
          <a:xfrm>
            <a:off x="4572000" y="3018206"/>
            <a:ext cx="331975" cy="344800"/>
            <a:chOff x="6285563" y="2681150"/>
            <a:chExt cx="331975" cy="344800"/>
          </a:xfrm>
        </p:grpSpPr>
        <p:sp>
          <p:nvSpPr>
            <p:cNvPr id="20" name="Google Shape;1389;p48">
              <a:extLst>
                <a:ext uri="{FF2B5EF4-FFF2-40B4-BE49-F238E27FC236}">
                  <a16:creationId xmlns:a16="http://schemas.microsoft.com/office/drawing/2014/main" id="{692DE181-0F53-504C-74B7-2118804AB313}"/>
                </a:ext>
              </a:extLst>
            </p:cNvPr>
            <p:cNvSpPr/>
            <p:nvPr/>
          </p:nvSpPr>
          <p:spPr>
            <a:xfrm>
              <a:off x="6285563" y="2721475"/>
              <a:ext cx="236175" cy="304475"/>
            </a:xfrm>
            <a:custGeom>
              <a:avLst/>
              <a:gdLst/>
              <a:ahLst/>
              <a:cxnLst/>
              <a:rect l="l" t="t" r="r" b="b"/>
              <a:pathLst>
                <a:path w="9447" h="12179" extrusionOk="0">
                  <a:moveTo>
                    <a:pt x="4313" y="831"/>
                  </a:moveTo>
                  <a:lnTo>
                    <a:pt x="4313" y="1765"/>
                  </a:lnTo>
                  <a:cubicBezTo>
                    <a:pt x="4313" y="1978"/>
                    <a:pt x="4487" y="2150"/>
                    <a:pt x="4698" y="2150"/>
                  </a:cubicBezTo>
                  <a:cubicBezTo>
                    <a:pt x="4706" y="2150"/>
                    <a:pt x="4714" y="2150"/>
                    <a:pt x="4722" y="2149"/>
                  </a:cubicBezTo>
                  <a:cubicBezTo>
                    <a:pt x="5003" y="2149"/>
                    <a:pt x="5213" y="2444"/>
                    <a:pt x="5084" y="2736"/>
                  </a:cubicBezTo>
                  <a:cubicBezTo>
                    <a:pt x="5028" y="2876"/>
                    <a:pt x="4888" y="2969"/>
                    <a:pt x="4722" y="2969"/>
                  </a:cubicBezTo>
                  <a:cubicBezTo>
                    <a:pt x="4501" y="2969"/>
                    <a:pt x="4313" y="3145"/>
                    <a:pt x="4313" y="3367"/>
                  </a:cubicBezTo>
                  <a:lnTo>
                    <a:pt x="4313" y="4312"/>
                  </a:lnTo>
                  <a:lnTo>
                    <a:pt x="3707" y="4312"/>
                  </a:lnTo>
                  <a:cubicBezTo>
                    <a:pt x="3541" y="3847"/>
                    <a:pt x="3098" y="3507"/>
                    <a:pt x="2573" y="3507"/>
                  </a:cubicBezTo>
                  <a:cubicBezTo>
                    <a:pt x="2035" y="3507"/>
                    <a:pt x="1592" y="3847"/>
                    <a:pt x="1426" y="4312"/>
                  </a:cubicBezTo>
                  <a:lnTo>
                    <a:pt x="831" y="4312"/>
                  </a:lnTo>
                  <a:cubicBezTo>
                    <a:pt x="1031" y="2478"/>
                    <a:pt x="2489" y="1016"/>
                    <a:pt x="4313" y="831"/>
                  </a:cubicBezTo>
                  <a:close/>
                  <a:moveTo>
                    <a:pt x="2570" y="4311"/>
                  </a:moveTo>
                  <a:cubicBezTo>
                    <a:pt x="2627" y="4311"/>
                    <a:pt x="2687" y="4323"/>
                    <a:pt x="2747" y="4349"/>
                  </a:cubicBezTo>
                  <a:cubicBezTo>
                    <a:pt x="2888" y="4408"/>
                    <a:pt x="2969" y="4559"/>
                    <a:pt x="2969" y="4711"/>
                  </a:cubicBezTo>
                  <a:cubicBezTo>
                    <a:pt x="2969" y="4944"/>
                    <a:pt x="3157" y="5120"/>
                    <a:pt x="3379" y="5120"/>
                  </a:cubicBezTo>
                  <a:lnTo>
                    <a:pt x="4313" y="5120"/>
                  </a:lnTo>
                  <a:lnTo>
                    <a:pt x="4313" y="6077"/>
                  </a:lnTo>
                  <a:cubicBezTo>
                    <a:pt x="4313" y="6294"/>
                    <a:pt x="4489" y="6465"/>
                    <a:pt x="4702" y="6465"/>
                  </a:cubicBezTo>
                  <a:cubicBezTo>
                    <a:pt x="4709" y="6465"/>
                    <a:pt x="4716" y="6464"/>
                    <a:pt x="4722" y="6464"/>
                  </a:cubicBezTo>
                  <a:cubicBezTo>
                    <a:pt x="5003" y="6464"/>
                    <a:pt x="5213" y="6756"/>
                    <a:pt x="5084" y="7048"/>
                  </a:cubicBezTo>
                  <a:cubicBezTo>
                    <a:pt x="5028" y="7188"/>
                    <a:pt x="4888" y="7283"/>
                    <a:pt x="4722" y="7283"/>
                  </a:cubicBezTo>
                  <a:cubicBezTo>
                    <a:pt x="4501" y="7283"/>
                    <a:pt x="4313" y="7457"/>
                    <a:pt x="4313" y="7679"/>
                  </a:cubicBezTo>
                  <a:lnTo>
                    <a:pt x="4313" y="9701"/>
                  </a:lnTo>
                  <a:lnTo>
                    <a:pt x="3216" y="9701"/>
                  </a:lnTo>
                  <a:cubicBezTo>
                    <a:pt x="3121" y="8907"/>
                    <a:pt x="2736" y="8170"/>
                    <a:pt x="2127" y="7645"/>
                  </a:cubicBezTo>
                  <a:cubicBezTo>
                    <a:pt x="1392" y="6989"/>
                    <a:pt x="935" y="6091"/>
                    <a:pt x="831" y="5120"/>
                  </a:cubicBezTo>
                  <a:lnTo>
                    <a:pt x="1766" y="5120"/>
                  </a:lnTo>
                  <a:cubicBezTo>
                    <a:pt x="1987" y="5120"/>
                    <a:pt x="2164" y="4944"/>
                    <a:pt x="2164" y="4722"/>
                  </a:cubicBezTo>
                  <a:cubicBezTo>
                    <a:pt x="2164" y="4498"/>
                    <a:pt x="2343" y="4311"/>
                    <a:pt x="2570" y="4311"/>
                  </a:cubicBezTo>
                  <a:close/>
                  <a:moveTo>
                    <a:pt x="8616" y="5120"/>
                  </a:moveTo>
                  <a:cubicBezTo>
                    <a:pt x="8510" y="6091"/>
                    <a:pt x="8055" y="6989"/>
                    <a:pt x="7317" y="7645"/>
                  </a:cubicBezTo>
                  <a:cubicBezTo>
                    <a:pt x="6711" y="8170"/>
                    <a:pt x="6324" y="8907"/>
                    <a:pt x="6232" y="9701"/>
                  </a:cubicBezTo>
                  <a:lnTo>
                    <a:pt x="5132" y="9701"/>
                  </a:lnTo>
                  <a:lnTo>
                    <a:pt x="5132" y="8018"/>
                  </a:lnTo>
                  <a:cubicBezTo>
                    <a:pt x="5600" y="7855"/>
                    <a:pt x="5940" y="7398"/>
                    <a:pt x="5940" y="6874"/>
                  </a:cubicBezTo>
                  <a:cubicBezTo>
                    <a:pt x="5940" y="6346"/>
                    <a:pt x="5600" y="5903"/>
                    <a:pt x="5132" y="5726"/>
                  </a:cubicBezTo>
                  <a:lnTo>
                    <a:pt x="5132" y="5120"/>
                  </a:lnTo>
                  <a:lnTo>
                    <a:pt x="5741" y="5120"/>
                  </a:lnTo>
                  <a:cubicBezTo>
                    <a:pt x="5903" y="5586"/>
                    <a:pt x="6347" y="5925"/>
                    <a:pt x="6885" y="5925"/>
                  </a:cubicBezTo>
                  <a:cubicBezTo>
                    <a:pt x="7413" y="5925"/>
                    <a:pt x="7856" y="5586"/>
                    <a:pt x="8019" y="5120"/>
                  </a:cubicBezTo>
                  <a:close/>
                  <a:moveTo>
                    <a:pt x="6206" y="10509"/>
                  </a:moveTo>
                  <a:lnTo>
                    <a:pt x="6206" y="11244"/>
                  </a:lnTo>
                  <a:cubicBezTo>
                    <a:pt x="6206" y="11314"/>
                    <a:pt x="6150" y="11373"/>
                    <a:pt x="6066" y="11373"/>
                  </a:cubicBezTo>
                  <a:lnTo>
                    <a:pt x="3379" y="11373"/>
                  </a:lnTo>
                  <a:cubicBezTo>
                    <a:pt x="3297" y="11373"/>
                    <a:pt x="3238" y="11314"/>
                    <a:pt x="3238" y="11244"/>
                  </a:cubicBezTo>
                  <a:lnTo>
                    <a:pt x="3238" y="10509"/>
                  </a:lnTo>
                  <a:close/>
                  <a:moveTo>
                    <a:pt x="4734" y="1"/>
                  </a:moveTo>
                  <a:cubicBezTo>
                    <a:pt x="2127" y="1"/>
                    <a:pt x="1" y="2116"/>
                    <a:pt x="1" y="4722"/>
                  </a:cubicBezTo>
                  <a:cubicBezTo>
                    <a:pt x="1" y="6066"/>
                    <a:pt x="584" y="7353"/>
                    <a:pt x="1592" y="8240"/>
                  </a:cubicBezTo>
                  <a:cubicBezTo>
                    <a:pt x="2127" y="8720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758"/>
                    <a:pt x="2854" y="12178"/>
                    <a:pt x="3379" y="12178"/>
                  </a:cubicBezTo>
                  <a:lnTo>
                    <a:pt x="6066" y="12178"/>
                  </a:lnTo>
                  <a:cubicBezTo>
                    <a:pt x="6593" y="12178"/>
                    <a:pt x="7014" y="11758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20"/>
                    <a:pt x="7856" y="8240"/>
                  </a:cubicBezTo>
                  <a:cubicBezTo>
                    <a:pt x="8860" y="7353"/>
                    <a:pt x="9447" y="6066"/>
                    <a:pt x="9447" y="4722"/>
                  </a:cubicBezTo>
                  <a:cubicBezTo>
                    <a:pt x="9447" y="4500"/>
                    <a:pt x="9259" y="4312"/>
                    <a:pt x="9037" y="4312"/>
                  </a:cubicBezTo>
                  <a:lnTo>
                    <a:pt x="7679" y="4312"/>
                  </a:lnTo>
                  <a:cubicBezTo>
                    <a:pt x="7458" y="4312"/>
                    <a:pt x="7284" y="4500"/>
                    <a:pt x="7284" y="4711"/>
                  </a:cubicBezTo>
                  <a:cubicBezTo>
                    <a:pt x="7284" y="4935"/>
                    <a:pt x="7104" y="5122"/>
                    <a:pt x="6884" y="5122"/>
                  </a:cubicBezTo>
                  <a:cubicBezTo>
                    <a:pt x="6828" y="5122"/>
                    <a:pt x="6770" y="5110"/>
                    <a:pt x="6711" y="5084"/>
                  </a:cubicBezTo>
                  <a:cubicBezTo>
                    <a:pt x="6557" y="5025"/>
                    <a:pt x="6476" y="4873"/>
                    <a:pt x="6476" y="4722"/>
                  </a:cubicBezTo>
                  <a:cubicBezTo>
                    <a:pt x="6476" y="4500"/>
                    <a:pt x="6302" y="4312"/>
                    <a:pt x="6066" y="4312"/>
                  </a:cubicBezTo>
                  <a:lnTo>
                    <a:pt x="5132" y="4312"/>
                  </a:lnTo>
                  <a:lnTo>
                    <a:pt x="5132" y="3706"/>
                  </a:lnTo>
                  <a:cubicBezTo>
                    <a:pt x="5600" y="3541"/>
                    <a:pt x="5940" y="3086"/>
                    <a:pt x="5940" y="2559"/>
                  </a:cubicBezTo>
                  <a:cubicBezTo>
                    <a:pt x="5940" y="2034"/>
                    <a:pt x="5600" y="1577"/>
                    <a:pt x="5132" y="1414"/>
                  </a:cubicBezTo>
                  <a:lnTo>
                    <a:pt x="5132" y="396"/>
                  </a:lnTo>
                  <a:cubicBezTo>
                    <a:pt x="5132" y="175"/>
                    <a:pt x="4958" y="1"/>
                    <a:pt x="4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1" name="Google Shape;1390;p48">
              <a:extLst>
                <a:ext uri="{FF2B5EF4-FFF2-40B4-BE49-F238E27FC236}">
                  <a16:creationId xmlns:a16="http://schemas.microsoft.com/office/drawing/2014/main" id="{C0DBEE38-6DCB-6DD3-4B04-C7A6D472FFCC}"/>
                </a:ext>
              </a:extLst>
            </p:cNvPr>
            <p:cNvSpPr/>
            <p:nvPr/>
          </p:nvSpPr>
          <p:spPr>
            <a:xfrm>
              <a:off x="6489238" y="2681150"/>
              <a:ext cx="128300" cy="148150"/>
            </a:xfrm>
            <a:custGeom>
              <a:avLst/>
              <a:gdLst/>
              <a:ahLst/>
              <a:cxnLst/>
              <a:rect l="l" t="t" r="r" b="b"/>
              <a:pathLst>
                <a:path w="5132" h="5926" extrusionOk="0">
                  <a:moveTo>
                    <a:pt x="809" y="817"/>
                  </a:moveTo>
                  <a:cubicBezTo>
                    <a:pt x="2643" y="1016"/>
                    <a:pt x="4105" y="2478"/>
                    <a:pt x="4290" y="4312"/>
                  </a:cubicBezTo>
                  <a:lnTo>
                    <a:pt x="3367" y="4312"/>
                  </a:lnTo>
                  <a:cubicBezTo>
                    <a:pt x="3145" y="4312"/>
                    <a:pt x="2969" y="4489"/>
                    <a:pt x="2969" y="4711"/>
                  </a:cubicBezTo>
                  <a:cubicBezTo>
                    <a:pt x="2969" y="4873"/>
                    <a:pt x="2876" y="5014"/>
                    <a:pt x="2736" y="5084"/>
                  </a:cubicBezTo>
                  <a:cubicBezTo>
                    <a:pt x="2679" y="5107"/>
                    <a:pt x="2622" y="5117"/>
                    <a:pt x="2568" y="5117"/>
                  </a:cubicBezTo>
                  <a:cubicBezTo>
                    <a:pt x="2345" y="5117"/>
                    <a:pt x="2164" y="4939"/>
                    <a:pt x="2164" y="4722"/>
                  </a:cubicBezTo>
                  <a:cubicBezTo>
                    <a:pt x="2152" y="4489"/>
                    <a:pt x="1976" y="4312"/>
                    <a:pt x="1754" y="4312"/>
                  </a:cubicBezTo>
                  <a:lnTo>
                    <a:pt x="809" y="4312"/>
                  </a:lnTo>
                  <a:lnTo>
                    <a:pt x="809" y="3706"/>
                  </a:lnTo>
                  <a:cubicBezTo>
                    <a:pt x="1274" y="3530"/>
                    <a:pt x="1614" y="3086"/>
                    <a:pt x="1614" y="2559"/>
                  </a:cubicBezTo>
                  <a:cubicBezTo>
                    <a:pt x="1614" y="2034"/>
                    <a:pt x="1274" y="1577"/>
                    <a:pt x="809" y="1414"/>
                  </a:cubicBezTo>
                  <a:lnTo>
                    <a:pt x="809" y="817"/>
                  </a:lnTo>
                  <a:close/>
                  <a:moveTo>
                    <a:pt x="420" y="1"/>
                  </a:moveTo>
                  <a:cubicBezTo>
                    <a:pt x="413" y="1"/>
                    <a:pt x="406" y="1"/>
                    <a:pt x="399" y="1"/>
                  </a:cubicBezTo>
                  <a:cubicBezTo>
                    <a:pt x="177" y="1"/>
                    <a:pt x="1" y="174"/>
                    <a:pt x="1" y="385"/>
                  </a:cubicBezTo>
                  <a:lnTo>
                    <a:pt x="1" y="1754"/>
                  </a:lnTo>
                  <a:cubicBezTo>
                    <a:pt x="1" y="1975"/>
                    <a:pt x="189" y="2149"/>
                    <a:pt x="399" y="2149"/>
                  </a:cubicBezTo>
                  <a:cubicBezTo>
                    <a:pt x="680" y="2149"/>
                    <a:pt x="901" y="2430"/>
                    <a:pt x="772" y="2736"/>
                  </a:cubicBezTo>
                  <a:cubicBezTo>
                    <a:pt x="713" y="2876"/>
                    <a:pt x="562" y="2957"/>
                    <a:pt x="410" y="2957"/>
                  </a:cubicBezTo>
                  <a:cubicBezTo>
                    <a:pt x="189" y="2957"/>
                    <a:pt x="1" y="3145"/>
                    <a:pt x="1" y="3367"/>
                  </a:cubicBezTo>
                  <a:lnTo>
                    <a:pt x="1" y="4722"/>
                  </a:lnTo>
                  <a:cubicBezTo>
                    <a:pt x="1" y="4944"/>
                    <a:pt x="177" y="5120"/>
                    <a:pt x="399" y="5120"/>
                  </a:cubicBezTo>
                  <a:lnTo>
                    <a:pt x="1415" y="5120"/>
                  </a:lnTo>
                  <a:cubicBezTo>
                    <a:pt x="1591" y="5586"/>
                    <a:pt x="2035" y="5925"/>
                    <a:pt x="2562" y="5925"/>
                  </a:cubicBezTo>
                  <a:cubicBezTo>
                    <a:pt x="3086" y="5925"/>
                    <a:pt x="3544" y="5586"/>
                    <a:pt x="3706" y="5120"/>
                  </a:cubicBezTo>
                  <a:lnTo>
                    <a:pt x="4722" y="5120"/>
                  </a:lnTo>
                  <a:cubicBezTo>
                    <a:pt x="4946" y="5120"/>
                    <a:pt x="5120" y="4944"/>
                    <a:pt x="5120" y="4722"/>
                  </a:cubicBezTo>
                  <a:cubicBezTo>
                    <a:pt x="5132" y="2123"/>
                    <a:pt x="3016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22" name="Google Shape;1282;p48">
            <a:extLst>
              <a:ext uri="{FF2B5EF4-FFF2-40B4-BE49-F238E27FC236}">
                <a16:creationId xmlns:a16="http://schemas.microsoft.com/office/drawing/2014/main" id="{987253F7-724F-D760-A8CA-1B0D35A72B92}"/>
              </a:ext>
            </a:extLst>
          </p:cNvPr>
          <p:cNvGrpSpPr/>
          <p:nvPr/>
        </p:nvGrpSpPr>
        <p:grpSpPr>
          <a:xfrm>
            <a:off x="1102954" y="3021452"/>
            <a:ext cx="346275" cy="345150"/>
            <a:chOff x="5521113" y="3797375"/>
            <a:chExt cx="346275" cy="345150"/>
          </a:xfrm>
        </p:grpSpPr>
        <p:sp>
          <p:nvSpPr>
            <p:cNvPr id="23" name="Google Shape;1283;p48">
              <a:extLst>
                <a:ext uri="{FF2B5EF4-FFF2-40B4-BE49-F238E27FC236}">
                  <a16:creationId xmlns:a16="http://schemas.microsoft.com/office/drawing/2014/main" id="{C8847E75-AA84-12FD-FFAD-48627F95F88A}"/>
                </a:ext>
              </a:extLst>
            </p:cNvPr>
            <p:cNvSpPr/>
            <p:nvPr/>
          </p:nvSpPr>
          <p:spPr>
            <a:xfrm>
              <a:off x="5576313" y="3797375"/>
              <a:ext cx="235900" cy="345150"/>
            </a:xfrm>
            <a:custGeom>
              <a:avLst/>
              <a:gdLst/>
              <a:ahLst/>
              <a:cxnLst/>
              <a:rect l="l" t="t" r="r" b="b"/>
              <a:pathLst>
                <a:path w="9436" h="13806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4" name="Google Shape;1284;p48">
              <a:extLst>
                <a:ext uri="{FF2B5EF4-FFF2-40B4-BE49-F238E27FC236}">
                  <a16:creationId xmlns:a16="http://schemas.microsoft.com/office/drawing/2014/main" id="{4F552E43-784C-3C51-D592-38B63A44200F}"/>
                </a:ext>
              </a:extLst>
            </p:cNvPr>
            <p:cNvSpPr/>
            <p:nvPr/>
          </p:nvSpPr>
          <p:spPr>
            <a:xfrm>
              <a:off x="5825913" y="3905250"/>
              <a:ext cx="41475" cy="20150"/>
            </a:xfrm>
            <a:custGeom>
              <a:avLst/>
              <a:gdLst/>
              <a:ahLst/>
              <a:cxnLst/>
              <a:rect l="l" t="t" r="r" b="b"/>
              <a:pathLst>
                <a:path w="1659" h="806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5" name="Google Shape;1285;p48">
              <a:extLst>
                <a:ext uri="{FF2B5EF4-FFF2-40B4-BE49-F238E27FC236}">
                  <a16:creationId xmlns:a16="http://schemas.microsoft.com/office/drawing/2014/main" id="{324E67DB-A466-4F0D-5161-7BA269ED1F50}"/>
                </a:ext>
              </a:extLst>
            </p:cNvPr>
            <p:cNvSpPr/>
            <p:nvPr/>
          </p:nvSpPr>
          <p:spPr>
            <a:xfrm>
              <a:off x="5818288" y="383777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6" name="Google Shape;1286;p48">
              <a:extLst>
                <a:ext uri="{FF2B5EF4-FFF2-40B4-BE49-F238E27FC236}">
                  <a16:creationId xmlns:a16="http://schemas.microsoft.com/office/drawing/2014/main" id="{B32CD06E-AE0A-9610-9810-9C3B933315DA}"/>
                </a:ext>
              </a:extLst>
            </p:cNvPr>
            <p:cNvSpPr/>
            <p:nvPr/>
          </p:nvSpPr>
          <p:spPr>
            <a:xfrm>
              <a:off x="5818288" y="3962475"/>
              <a:ext cx="40700" cy="30425"/>
            </a:xfrm>
            <a:custGeom>
              <a:avLst/>
              <a:gdLst/>
              <a:ahLst/>
              <a:cxnLst/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7" name="Google Shape;1287;p48">
              <a:extLst>
                <a:ext uri="{FF2B5EF4-FFF2-40B4-BE49-F238E27FC236}">
                  <a16:creationId xmlns:a16="http://schemas.microsoft.com/office/drawing/2014/main" id="{97742377-8AC1-6992-83F8-8771F59868AA}"/>
                </a:ext>
              </a:extLst>
            </p:cNvPr>
            <p:cNvSpPr/>
            <p:nvPr/>
          </p:nvSpPr>
          <p:spPr>
            <a:xfrm>
              <a:off x="5521113" y="3905250"/>
              <a:ext cx="41825" cy="20150"/>
            </a:xfrm>
            <a:custGeom>
              <a:avLst/>
              <a:gdLst/>
              <a:ahLst/>
              <a:cxnLst/>
              <a:rect l="l" t="t" r="r" b="b"/>
              <a:pathLst>
                <a:path w="1673" h="806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8" name="Google Shape;1288;p48">
              <a:extLst>
                <a:ext uri="{FF2B5EF4-FFF2-40B4-BE49-F238E27FC236}">
                  <a16:creationId xmlns:a16="http://schemas.microsoft.com/office/drawing/2014/main" id="{710103DA-F80A-5828-607E-3A4B5FE621AA}"/>
                </a:ext>
              </a:extLst>
            </p:cNvPr>
            <p:cNvSpPr/>
            <p:nvPr/>
          </p:nvSpPr>
          <p:spPr>
            <a:xfrm>
              <a:off x="5529888" y="3837775"/>
              <a:ext cx="40350" cy="30375"/>
            </a:xfrm>
            <a:custGeom>
              <a:avLst/>
              <a:gdLst/>
              <a:ahLst/>
              <a:cxnLst/>
              <a:rect l="l" t="t" r="r" b="b"/>
              <a:pathLst>
                <a:path w="1614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9" name="Google Shape;1289;p48">
              <a:extLst>
                <a:ext uri="{FF2B5EF4-FFF2-40B4-BE49-F238E27FC236}">
                  <a16:creationId xmlns:a16="http://schemas.microsoft.com/office/drawing/2014/main" id="{8DB319B7-E85A-0B22-13B6-F5A82B6EEB6C}"/>
                </a:ext>
              </a:extLst>
            </p:cNvPr>
            <p:cNvSpPr/>
            <p:nvPr/>
          </p:nvSpPr>
          <p:spPr>
            <a:xfrm>
              <a:off x="5529888" y="3962475"/>
              <a:ext cx="40350" cy="30425"/>
            </a:xfrm>
            <a:custGeom>
              <a:avLst/>
              <a:gdLst/>
              <a:ahLst/>
              <a:cxnLst/>
              <a:rect l="l" t="t" r="r" b="b"/>
              <a:pathLst>
                <a:path w="1614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30" name="Google Shape;1399;p48">
            <a:extLst>
              <a:ext uri="{FF2B5EF4-FFF2-40B4-BE49-F238E27FC236}">
                <a16:creationId xmlns:a16="http://schemas.microsoft.com/office/drawing/2014/main" id="{038F8BF6-0D5A-A607-8B7F-14954704E049}"/>
              </a:ext>
            </a:extLst>
          </p:cNvPr>
          <p:cNvSpPr/>
          <p:nvPr/>
        </p:nvSpPr>
        <p:spPr>
          <a:xfrm>
            <a:off x="1096215" y="1412191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764C2DB-90D3-F40D-5D09-7B7F93A69367}"/>
              </a:ext>
            </a:extLst>
          </p:cNvPr>
          <p:cNvSpPr txBox="1"/>
          <p:nvPr/>
        </p:nvSpPr>
        <p:spPr>
          <a:xfrm>
            <a:off x="4524163" y="1638609"/>
            <a:ext cx="4081840" cy="957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>
              <a:lnSpc>
                <a:spcPts val="1650"/>
              </a:lnSpc>
            </a:pPr>
            <a:r>
              <a:rPr lang="en-US" altLang="zh-CN" dirty="0">
                <a:solidFill>
                  <a:srgbClr val="F9FAFB"/>
                </a:solidFill>
                <a:latin typeface="Candara" panose="020E0502030303020204" pitchFamily="34" charset="0"/>
              </a:rPr>
              <a:t>for params in </a:t>
            </a:r>
            <a:r>
              <a:rPr lang="en-US" altLang="zh-CN" dirty="0" err="1">
                <a:solidFill>
                  <a:srgbClr val="F9FAFB"/>
                </a:solidFill>
                <a:latin typeface="Candara" panose="020E0502030303020204" pitchFamily="34" charset="0"/>
              </a:rPr>
              <a:t>parameter_grid</a:t>
            </a:r>
            <a:r>
              <a:rPr lang="en-US" altLang="zh-CN" dirty="0">
                <a:solidFill>
                  <a:srgbClr val="F9FAFB"/>
                </a:solidFill>
                <a:latin typeface="Candara" panose="020E0502030303020204" pitchFamily="34" charset="0"/>
              </a:rPr>
              <a:t>:</a:t>
            </a:r>
          </a:p>
          <a:p>
            <a:pPr latinLnBrk="1">
              <a:lnSpc>
                <a:spcPts val="1650"/>
              </a:lnSpc>
            </a:pPr>
            <a:r>
              <a:rPr lang="en-US" altLang="zh-CN" dirty="0">
                <a:solidFill>
                  <a:srgbClr val="F9FAFB"/>
                </a:solidFill>
                <a:latin typeface="Candara" panose="020E0502030303020204" pitchFamily="34" charset="0"/>
              </a:rPr>
              <a:t>    model = Model(**params)</a:t>
            </a:r>
          </a:p>
          <a:p>
            <a:pPr latinLnBrk="1">
              <a:lnSpc>
                <a:spcPts val="1650"/>
              </a:lnSpc>
            </a:pPr>
            <a:r>
              <a:rPr lang="en-US" altLang="zh-CN" dirty="0">
                <a:solidFill>
                  <a:srgbClr val="F9FAFB"/>
                </a:solidFill>
                <a:latin typeface="Candara" panose="020E0502030303020204" pitchFamily="34" charset="0"/>
              </a:rPr>
              <a:t>    score = </a:t>
            </a:r>
            <a:r>
              <a:rPr lang="en-US" altLang="zh-CN" dirty="0" err="1">
                <a:solidFill>
                  <a:srgbClr val="F9FAFB"/>
                </a:solidFill>
                <a:latin typeface="Candara" panose="020E0502030303020204" pitchFamily="34" charset="0"/>
              </a:rPr>
              <a:t>cross_val_score</a:t>
            </a:r>
            <a:r>
              <a:rPr lang="en-US" altLang="zh-CN" dirty="0">
                <a:solidFill>
                  <a:srgbClr val="F9FAFB"/>
                </a:solidFill>
                <a:latin typeface="Candara" panose="020E0502030303020204" pitchFamily="34" charset="0"/>
              </a:rPr>
              <a:t>(model, X, y)</a:t>
            </a:r>
          </a:p>
          <a:p>
            <a:pPr latinLnBrk="1">
              <a:lnSpc>
                <a:spcPts val="1650"/>
              </a:lnSpc>
            </a:pPr>
            <a:r>
              <a:rPr lang="en-US" altLang="zh-CN" dirty="0">
                <a:solidFill>
                  <a:srgbClr val="F9FAFB"/>
                </a:solidFill>
                <a:latin typeface="Candara" panose="020E0502030303020204" pitchFamily="34" charset="0"/>
              </a:rPr>
              <a:t>    </a:t>
            </a:r>
            <a:r>
              <a:rPr lang="en-US" altLang="zh-CN" dirty="0" err="1">
                <a:solidFill>
                  <a:srgbClr val="F9FAFB"/>
                </a:solidFill>
                <a:latin typeface="Candara" panose="020E0502030303020204" pitchFamily="34" charset="0"/>
              </a:rPr>
              <a:t>update_best_if_needed</a:t>
            </a:r>
            <a:r>
              <a:rPr lang="en-US" altLang="zh-CN" dirty="0">
                <a:solidFill>
                  <a:srgbClr val="F9FAFB"/>
                </a:solidFill>
                <a:latin typeface="Candara" panose="020E0502030303020204" pitchFamily="34" charset="0"/>
              </a:rPr>
              <a:t>(score, params)</a:t>
            </a:r>
          </a:p>
        </p:txBody>
      </p:sp>
      <p:sp>
        <p:nvSpPr>
          <p:cNvPr id="36" name="Подзаголовок 5">
            <a:extLst>
              <a:ext uri="{FF2B5EF4-FFF2-40B4-BE49-F238E27FC236}">
                <a16:creationId xmlns:a16="http://schemas.microsoft.com/office/drawing/2014/main" id="{214CAFF2-8AE4-7118-512D-F070F899BBFC}"/>
              </a:ext>
            </a:extLst>
          </p:cNvPr>
          <p:cNvSpPr txBox="1">
            <a:spLocks/>
          </p:cNvSpPr>
          <p:nvPr/>
        </p:nvSpPr>
        <p:spPr>
          <a:xfrm>
            <a:off x="4936469" y="998700"/>
            <a:ext cx="2969761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ru-RU" altLang="zh-CN" dirty="0">
                <a:latin typeface="Candara" panose="020E0502030303020204" pitchFamily="34" charset="0"/>
              </a:rPr>
              <a:t>Математическая основа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38" name="Google Shape;1484;p48">
            <a:extLst>
              <a:ext uri="{FF2B5EF4-FFF2-40B4-BE49-F238E27FC236}">
                <a16:creationId xmlns:a16="http://schemas.microsoft.com/office/drawing/2014/main" id="{0FD79D5E-2A26-CC5D-2002-8F77DD540E6D}"/>
              </a:ext>
            </a:extLst>
          </p:cNvPr>
          <p:cNvSpPr/>
          <p:nvPr/>
        </p:nvSpPr>
        <p:spPr>
          <a:xfrm>
            <a:off x="4754742" y="1078314"/>
            <a:ext cx="346575" cy="345225"/>
          </a:xfrm>
          <a:custGeom>
            <a:avLst/>
            <a:gdLst/>
            <a:ahLst/>
            <a:cxnLst/>
            <a:rect l="l" t="t" r="r" b="b"/>
            <a:pathLst>
              <a:path w="13863" h="13809" extrusionOk="0">
                <a:moveTo>
                  <a:pt x="4582" y="795"/>
                </a:moveTo>
                <a:cubicBezTo>
                  <a:pt x="4804" y="795"/>
                  <a:pt x="4992" y="983"/>
                  <a:pt x="4992" y="1205"/>
                </a:cubicBezTo>
                <a:cubicBezTo>
                  <a:pt x="4992" y="1426"/>
                  <a:pt x="4804" y="1614"/>
                  <a:pt x="4582" y="1614"/>
                </a:cubicBezTo>
                <a:cubicBezTo>
                  <a:pt x="4360" y="1614"/>
                  <a:pt x="4184" y="1426"/>
                  <a:pt x="4184" y="1205"/>
                </a:cubicBezTo>
                <a:cubicBezTo>
                  <a:pt x="4184" y="983"/>
                  <a:pt x="4360" y="795"/>
                  <a:pt x="4582" y="795"/>
                </a:cubicBezTo>
                <a:close/>
                <a:moveTo>
                  <a:pt x="9303" y="795"/>
                </a:moveTo>
                <a:cubicBezTo>
                  <a:pt x="9525" y="795"/>
                  <a:pt x="9702" y="983"/>
                  <a:pt x="9702" y="1205"/>
                </a:cubicBezTo>
                <a:cubicBezTo>
                  <a:pt x="9702" y="1426"/>
                  <a:pt x="9525" y="1614"/>
                  <a:pt x="9303" y="1614"/>
                </a:cubicBezTo>
                <a:cubicBezTo>
                  <a:pt x="9071" y="1614"/>
                  <a:pt x="8894" y="1426"/>
                  <a:pt x="8894" y="1205"/>
                </a:cubicBezTo>
                <a:cubicBezTo>
                  <a:pt x="8894" y="983"/>
                  <a:pt x="9071" y="795"/>
                  <a:pt x="9303" y="795"/>
                </a:cubicBezTo>
                <a:close/>
                <a:moveTo>
                  <a:pt x="8159" y="1614"/>
                </a:moveTo>
                <a:cubicBezTo>
                  <a:pt x="8229" y="1813"/>
                  <a:pt x="8333" y="1987"/>
                  <a:pt x="8487" y="2116"/>
                </a:cubicBezTo>
                <a:lnTo>
                  <a:pt x="7328" y="4922"/>
                </a:lnTo>
                <a:cubicBezTo>
                  <a:pt x="7199" y="4899"/>
                  <a:pt x="7070" y="4888"/>
                  <a:pt x="6944" y="4888"/>
                </a:cubicBezTo>
                <a:cubicBezTo>
                  <a:pt x="6815" y="4888"/>
                  <a:pt x="6686" y="4899"/>
                  <a:pt x="6557" y="4922"/>
                </a:cubicBezTo>
                <a:lnTo>
                  <a:pt x="5401" y="2116"/>
                </a:lnTo>
                <a:cubicBezTo>
                  <a:pt x="5541" y="1987"/>
                  <a:pt x="5656" y="1813"/>
                  <a:pt x="5727" y="1614"/>
                </a:cubicBezTo>
                <a:close/>
                <a:moveTo>
                  <a:pt x="1249" y="4128"/>
                </a:moveTo>
                <a:cubicBezTo>
                  <a:pt x="1474" y="4128"/>
                  <a:pt x="1659" y="4313"/>
                  <a:pt x="1659" y="4537"/>
                </a:cubicBezTo>
                <a:cubicBezTo>
                  <a:pt x="1659" y="4759"/>
                  <a:pt x="1474" y="4944"/>
                  <a:pt x="1249" y="4944"/>
                </a:cubicBezTo>
                <a:cubicBezTo>
                  <a:pt x="1028" y="4944"/>
                  <a:pt x="854" y="4759"/>
                  <a:pt x="854" y="4537"/>
                </a:cubicBezTo>
                <a:cubicBezTo>
                  <a:pt x="854" y="4313"/>
                  <a:pt x="1028" y="4128"/>
                  <a:pt x="1249" y="4128"/>
                </a:cubicBezTo>
                <a:close/>
                <a:moveTo>
                  <a:pt x="12636" y="4128"/>
                </a:moveTo>
                <a:cubicBezTo>
                  <a:pt x="12858" y="4128"/>
                  <a:pt x="13032" y="4313"/>
                  <a:pt x="13032" y="4537"/>
                </a:cubicBezTo>
                <a:cubicBezTo>
                  <a:pt x="13032" y="4759"/>
                  <a:pt x="12858" y="4944"/>
                  <a:pt x="12636" y="4944"/>
                </a:cubicBezTo>
                <a:cubicBezTo>
                  <a:pt x="12414" y="4944"/>
                  <a:pt x="12227" y="4759"/>
                  <a:pt x="12227" y="4537"/>
                </a:cubicBezTo>
                <a:cubicBezTo>
                  <a:pt x="12227" y="4313"/>
                  <a:pt x="12414" y="4128"/>
                  <a:pt x="12636" y="4128"/>
                </a:cubicBezTo>
                <a:close/>
                <a:moveTo>
                  <a:pt x="4069" y="2304"/>
                </a:moveTo>
                <a:cubicBezTo>
                  <a:pt x="4220" y="2375"/>
                  <a:pt x="4394" y="2419"/>
                  <a:pt x="4582" y="2419"/>
                </a:cubicBezTo>
                <a:lnTo>
                  <a:pt x="4652" y="2419"/>
                </a:lnTo>
                <a:lnTo>
                  <a:pt x="5808" y="5214"/>
                </a:lnTo>
                <a:cubicBezTo>
                  <a:pt x="5598" y="5365"/>
                  <a:pt x="5412" y="5553"/>
                  <a:pt x="5272" y="5763"/>
                </a:cubicBezTo>
                <a:lnTo>
                  <a:pt x="2467" y="4608"/>
                </a:lnTo>
                <a:lnTo>
                  <a:pt x="2467" y="4537"/>
                </a:lnTo>
                <a:cubicBezTo>
                  <a:pt x="2467" y="4349"/>
                  <a:pt x="2419" y="4173"/>
                  <a:pt x="2349" y="4010"/>
                </a:cubicBezTo>
                <a:lnTo>
                  <a:pt x="4069" y="2304"/>
                </a:lnTo>
                <a:close/>
                <a:moveTo>
                  <a:pt x="9820" y="2304"/>
                </a:moveTo>
                <a:lnTo>
                  <a:pt x="11536" y="4010"/>
                </a:lnTo>
                <a:cubicBezTo>
                  <a:pt x="11455" y="4173"/>
                  <a:pt x="11419" y="4349"/>
                  <a:pt x="11419" y="4537"/>
                </a:cubicBezTo>
                <a:lnTo>
                  <a:pt x="11419" y="4608"/>
                </a:lnTo>
                <a:lnTo>
                  <a:pt x="8613" y="5763"/>
                </a:lnTo>
                <a:cubicBezTo>
                  <a:pt x="8473" y="5553"/>
                  <a:pt x="8288" y="5365"/>
                  <a:pt x="8077" y="5214"/>
                </a:cubicBezTo>
                <a:lnTo>
                  <a:pt x="9233" y="2419"/>
                </a:lnTo>
                <a:lnTo>
                  <a:pt x="9303" y="2419"/>
                </a:lnTo>
                <a:cubicBezTo>
                  <a:pt x="9491" y="2419"/>
                  <a:pt x="9665" y="2375"/>
                  <a:pt x="9820" y="2304"/>
                </a:cubicBezTo>
                <a:close/>
                <a:moveTo>
                  <a:pt x="6944" y="5682"/>
                </a:moveTo>
                <a:cubicBezTo>
                  <a:pt x="7609" y="5682"/>
                  <a:pt x="8159" y="6221"/>
                  <a:pt x="8159" y="6897"/>
                </a:cubicBezTo>
                <a:cubicBezTo>
                  <a:pt x="8159" y="7564"/>
                  <a:pt x="7609" y="8100"/>
                  <a:pt x="6944" y="8100"/>
                </a:cubicBezTo>
                <a:cubicBezTo>
                  <a:pt x="6276" y="8100"/>
                  <a:pt x="5727" y="7564"/>
                  <a:pt x="5727" y="6897"/>
                </a:cubicBezTo>
                <a:cubicBezTo>
                  <a:pt x="5727" y="6221"/>
                  <a:pt x="6276" y="5682"/>
                  <a:pt x="6944" y="5682"/>
                </a:cubicBezTo>
                <a:close/>
                <a:moveTo>
                  <a:pt x="2139" y="5343"/>
                </a:moveTo>
                <a:lnTo>
                  <a:pt x="4944" y="6512"/>
                </a:lnTo>
                <a:cubicBezTo>
                  <a:pt x="4921" y="6627"/>
                  <a:pt x="4910" y="6756"/>
                  <a:pt x="4910" y="6897"/>
                </a:cubicBezTo>
                <a:cubicBezTo>
                  <a:pt x="4910" y="7026"/>
                  <a:pt x="4921" y="7155"/>
                  <a:pt x="4944" y="7284"/>
                </a:cubicBezTo>
                <a:lnTo>
                  <a:pt x="2139" y="8440"/>
                </a:lnTo>
                <a:cubicBezTo>
                  <a:pt x="2010" y="8288"/>
                  <a:pt x="1836" y="8170"/>
                  <a:pt x="1648" y="8100"/>
                </a:cubicBezTo>
                <a:lnTo>
                  <a:pt x="1648" y="5682"/>
                </a:lnTo>
                <a:cubicBezTo>
                  <a:pt x="1836" y="5612"/>
                  <a:pt x="2010" y="5494"/>
                  <a:pt x="2139" y="5343"/>
                </a:cubicBezTo>
                <a:close/>
                <a:moveTo>
                  <a:pt x="11713" y="5343"/>
                </a:moveTo>
                <a:cubicBezTo>
                  <a:pt x="11853" y="5494"/>
                  <a:pt x="12016" y="5612"/>
                  <a:pt x="12215" y="5682"/>
                </a:cubicBezTo>
                <a:lnTo>
                  <a:pt x="12215" y="8100"/>
                </a:lnTo>
                <a:cubicBezTo>
                  <a:pt x="12016" y="8170"/>
                  <a:pt x="11853" y="8288"/>
                  <a:pt x="11713" y="8440"/>
                </a:cubicBezTo>
                <a:lnTo>
                  <a:pt x="8919" y="7284"/>
                </a:lnTo>
                <a:cubicBezTo>
                  <a:pt x="8942" y="7155"/>
                  <a:pt x="8953" y="7026"/>
                  <a:pt x="8953" y="6897"/>
                </a:cubicBezTo>
                <a:cubicBezTo>
                  <a:pt x="8953" y="6756"/>
                  <a:pt x="8942" y="6627"/>
                  <a:pt x="8919" y="6512"/>
                </a:cubicBezTo>
                <a:lnTo>
                  <a:pt x="11713" y="5343"/>
                </a:lnTo>
                <a:close/>
                <a:moveTo>
                  <a:pt x="1249" y="8849"/>
                </a:moveTo>
                <a:cubicBezTo>
                  <a:pt x="1474" y="8849"/>
                  <a:pt x="1659" y="9026"/>
                  <a:pt x="1659" y="9248"/>
                </a:cubicBezTo>
                <a:cubicBezTo>
                  <a:pt x="1659" y="9469"/>
                  <a:pt x="1474" y="9657"/>
                  <a:pt x="1249" y="9657"/>
                </a:cubicBezTo>
                <a:cubicBezTo>
                  <a:pt x="1028" y="9657"/>
                  <a:pt x="854" y="9469"/>
                  <a:pt x="854" y="9248"/>
                </a:cubicBezTo>
                <a:cubicBezTo>
                  <a:pt x="854" y="9026"/>
                  <a:pt x="1028" y="8849"/>
                  <a:pt x="1249" y="8849"/>
                </a:cubicBezTo>
                <a:close/>
                <a:moveTo>
                  <a:pt x="12636" y="8849"/>
                </a:moveTo>
                <a:cubicBezTo>
                  <a:pt x="12858" y="8849"/>
                  <a:pt x="13032" y="9026"/>
                  <a:pt x="13032" y="9248"/>
                </a:cubicBezTo>
                <a:cubicBezTo>
                  <a:pt x="13032" y="9469"/>
                  <a:pt x="12858" y="9657"/>
                  <a:pt x="12636" y="9657"/>
                </a:cubicBezTo>
                <a:cubicBezTo>
                  <a:pt x="12414" y="9657"/>
                  <a:pt x="12227" y="9469"/>
                  <a:pt x="12227" y="9248"/>
                </a:cubicBezTo>
                <a:cubicBezTo>
                  <a:pt x="12227" y="9026"/>
                  <a:pt x="12414" y="8849"/>
                  <a:pt x="12636" y="8849"/>
                </a:cubicBezTo>
                <a:close/>
                <a:moveTo>
                  <a:pt x="5272" y="8019"/>
                </a:moveTo>
                <a:cubicBezTo>
                  <a:pt x="5412" y="8240"/>
                  <a:pt x="5598" y="8428"/>
                  <a:pt x="5808" y="8569"/>
                </a:cubicBezTo>
                <a:lnTo>
                  <a:pt x="4652" y="11374"/>
                </a:lnTo>
                <a:lnTo>
                  <a:pt x="4582" y="11374"/>
                </a:lnTo>
                <a:cubicBezTo>
                  <a:pt x="4394" y="11374"/>
                  <a:pt x="4220" y="11410"/>
                  <a:pt x="4069" y="11492"/>
                </a:cubicBezTo>
                <a:lnTo>
                  <a:pt x="2349" y="9772"/>
                </a:lnTo>
                <a:cubicBezTo>
                  <a:pt x="2419" y="9609"/>
                  <a:pt x="2467" y="9433"/>
                  <a:pt x="2467" y="9248"/>
                </a:cubicBezTo>
                <a:lnTo>
                  <a:pt x="2467" y="9189"/>
                </a:lnTo>
                <a:lnTo>
                  <a:pt x="5272" y="8019"/>
                </a:lnTo>
                <a:close/>
                <a:moveTo>
                  <a:pt x="8613" y="8019"/>
                </a:moveTo>
                <a:lnTo>
                  <a:pt x="11419" y="9189"/>
                </a:lnTo>
                <a:lnTo>
                  <a:pt x="11419" y="9248"/>
                </a:lnTo>
                <a:cubicBezTo>
                  <a:pt x="11419" y="9433"/>
                  <a:pt x="11455" y="9609"/>
                  <a:pt x="11536" y="9772"/>
                </a:cubicBezTo>
                <a:lnTo>
                  <a:pt x="9820" y="11492"/>
                </a:lnTo>
                <a:cubicBezTo>
                  <a:pt x="9665" y="11410"/>
                  <a:pt x="9491" y="11374"/>
                  <a:pt x="9303" y="11374"/>
                </a:cubicBezTo>
                <a:lnTo>
                  <a:pt x="9233" y="11374"/>
                </a:lnTo>
                <a:lnTo>
                  <a:pt x="8077" y="8569"/>
                </a:lnTo>
                <a:cubicBezTo>
                  <a:pt x="8288" y="8428"/>
                  <a:pt x="8473" y="8240"/>
                  <a:pt x="8613" y="8019"/>
                </a:cubicBezTo>
                <a:close/>
                <a:moveTo>
                  <a:pt x="7328" y="8886"/>
                </a:moveTo>
                <a:lnTo>
                  <a:pt x="8487" y="11691"/>
                </a:lnTo>
                <a:cubicBezTo>
                  <a:pt x="8333" y="11831"/>
                  <a:pt x="8229" y="11994"/>
                  <a:pt x="8159" y="12193"/>
                </a:cubicBezTo>
                <a:lnTo>
                  <a:pt x="5727" y="12193"/>
                </a:lnTo>
                <a:cubicBezTo>
                  <a:pt x="5656" y="11994"/>
                  <a:pt x="5541" y="11831"/>
                  <a:pt x="5401" y="11691"/>
                </a:cubicBezTo>
                <a:lnTo>
                  <a:pt x="6557" y="8886"/>
                </a:lnTo>
                <a:cubicBezTo>
                  <a:pt x="6686" y="8908"/>
                  <a:pt x="6815" y="8931"/>
                  <a:pt x="6944" y="8931"/>
                </a:cubicBezTo>
                <a:cubicBezTo>
                  <a:pt x="7070" y="8931"/>
                  <a:pt x="7199" y="8908"/>
                  <a:pt x="7328" y="8886"/>
                </a:cubicBezTo>
                <a:close/>
                <a:moveTo>
                  <a:pt x="4582" y="12182"/>
                </a:moveTo>
                <a:cubicBezTo>
                  <a:pt x="4804" y="12182"/>
                  <a:pt x="4992" y="12356"/>
                  <a:pt x="4992" y="12577"/>
                </a:cubicBezTo>
                <a:cubicBezTo>
                  <a:pt x="4992" y="12799"/>
                  <a:pt x="4804" y="12987"/>
                  <a:pt x="4582" y="12987"/>
                </a:cubicBezTo>
                <a:cubicBezTo>
                  <a:pt x="4360" y="12987"/>
                  <a:pt x="4184" y="12799"/>
                  <a:pt x="4184" y="12577"/>
                </a:cubicBezTo>
                <a:cubicBezTo>
                  <a:pt x="4184" y="12356"/>
                  <a:pt x="4360" y="12182"/>
                  <a:pt x="4582" y="12182"/>
                </a:cubicBezTo>
                <a:close/>
                <a:moveTo>
                  <a:pt x="9303" y="12182"/>
                </a:moveTo>
                <a:cubicBezTo>
                  <a:pt x="9525" y="12182"/>
                  <a:pt x="9702" y="12356"/>
                  <a:pt x="9702" y="12577"/>
                </a:cubicBezTo>
                <a:cubicBezTo>
                  <a:pt x="9702" y="12799"/>
                  <a:pt x="9525" y="12987"/>
                  <a:pt x="9303" y="12987"/>
                </a:cubicBezTo>
                <a:cubicBezTo>
                  <a:pt x="9071" y="12987"/>
                  <a:pt x="8894" y="12799"/>
                  <a:pt x="8894" y="12577"/>
                </a:cubicBezTo>
                <a:cubicBezTo>
                  <a:pt x="8894" y="12356"/>
                  <a:pt x="9071" y="12182"/>
                  <a:pt x="9303" y="12182"/>
                </a:cubicBezTo>
                <a:close/>
                <a:moveTo>
                  <a:pt x="4554" y="0"/>
                </a:moveTo>
                <a:cubicBezTo>
                  <a:pt x="4536" y="0"/>
                  <a:pt x="4518" y="1"/>
                  <a:pt x="4501" y="1"/>
                </a:cubicBezTo>
                <a:cubicBezTo>
                  <a:pt x="3892" y="35"/>
                  <a:pt x="3390" y="540"/>
                  <a:pt x="3367" y="1157"/>
                </a:cubicBezTo>
                <a:cubicBezTo>
                  <a:pt x="3353" y="1367"/>
                  <a:pt x="3390" y="1567"/>
                  <a:pt x="3482" y="1743"/>
                </a:cubicBezTo>
                <a:lnTo>
                  <a:pt x="1765" y="3449"/>
                </a:lnTo>
                <a:cubicBezTo>
                  <a:pt x="1606" y="3376"/>
                  <a:pt x="1428" y="3330"/>
                  <a:pt x="1240" y="3330"/>
                </a:cubicBezTo>
                <a:cubicBezTo>
                  <a:pt x="1220" y="3330"/>
                  <a:pt x="1200" y="3330"/>
                  <a:pt x="1179" y="3331"/>
                </a:cubicBezTo>
                <a:cubicBezTo>
                  <a:pt x="562" y="3368"/>
                  <a:pt x="57" y="3859"/>
                  <a:pt x="35" y="4479"/>
                </a:cubicBezTo>
                <a:cubicBezTo>
                  <a:pt x="1" y="5040"/>
                  <a:pt x="352" y="5519"/>
                  <a:pt x="843" y="5693"/>
                </a:cubicBezTo>
                <a:lnTo>
                  <a:pt x="843" y="8114"/>
                </a:lnTo>
                <a:cubicBezTo>
                  <a:pt x="352" y="8288"/>
                  <a:pt x="1" y="8768"/>
                  <a:pt x="35" y="9329"/>
                </a:cubicBezTo>
                <a:cubicBezTo>
                  <a:pt x="57" y="9949"/>
                  <a:pt x="562" y="10440"/>
                  <a:pt x="1179" y="10473"/>
                </a:cubicBezTo>
                <a:cubicBezTo>
                  <a:pt x="1201" y="10475"/>
                  <a:pt x="1222" y="10475"/>
                  <a:pt x="1243" y="10475"/>
                </a:cubicBezTo>
                <a:cubicBezTo>
                  <a:pt x="1430" y="10475"/>
                  <a:pt x="1607" y="10432"/>
                  <a:pt x="1765" y="10358"/>
                </a:cubicBezTo>
                <a:lnTo>
                  <a:pt x="3482" y="12075"/>
                </a:lnTo>
                <a:cubicBezTo>
                  <a:pt x="3390" y="12238"/>
                  <a:pt x="3353" y="12437"/>
                  <a:pt x="3367" y="12648"/>
                </a:cubicBezTo>
                <a:cubicBezTo>
                  <a:pt x="3390" y="13268"/>
                  <a:pt x="3892" y="13770"/>
                  <a:pt x="4501" y="13806"/>
                </a:cubicBezTo>
                <a:cubicBezTo>
                  <a:pt x="4526" y="13808"/>
                  <a:pt x="4550" y="13808"/>
                  <a:pt x="4575" y="13808"/>
                </a:cubicBezTo>
                <a:cubicBezTo>
                  <a:pt x="5104" y="13808"/>
                  <a:pt x="5549" y="13467"/>
                  <a:pt x="5715" y="12998"/>
                </a:cubicBezTo>
                <a:lnTo>
                  <a:pt x="8148" y="12998"/>
                </a:lnTo>
                <a:cubicBezTo>
                  <a:pt x="8303" y="13467"/>
                  <a:pt x="8758" y="13808"/>
                  <a:pt x="9278" y="13808"/>
                </a:cubicBezTo>
                <a:cubicBezTo>
                  <a:pt x="9302" y="13808"/>
                  <a:pt x="9327" y="13808"/>
                  <a:pt x="9351" y="13806"/>
                </a:cubicBezTo>
                <a:cubicBezTo>
                  <a:pt x="9971" y="13770"/>
                  <a:pt x="10473" y="13268"/>
                  <a:pt x="10496" y="12648"/>
                </a:cubicBezTo>
                <a:cubicBezTo>
                  <a:pt x="10507" y="12437"/>
                  <a:pt x="10462" y="12238"/>
                  <a:pt x="10381" y="12075"/>
                </a:cubicBezTo>
                <a:lnTo>
                  <a:pt x="12097" y="10358"/>
                </a:lnTo>
                <a:cubicBezTo>
                  <a:pt x="12249" y="10429"/>
                  <a:pt x="12437" y="10473"/>
                  <a:pt x="12625" y="10473"/>
                </a:cubicBezTo>
                <a:cubicBezTo>
                  <a:pt x="13290" y="10473"/>
                  <a:pt x="13828" y="9924"/>
                  <a:pt x="13828" y="9259"/>
                </a:cubicBezTo>
                <a:cubicBezTo>
                  <a:pt x="13828" y="8731"/>
                  <a:pt x="13489" y="8288"/>
                  <a:pt x="13020" y="8114"/>
                </a:cubicBezTo>
                <a:lnTo>
                  <a:pt x="13020" y="5693"/>
                </a:lnTo>
                <a:cubicBezTo>
                  <a:pt x="13511" y="5519"/>
                  <a:pt x="13862" y="5040"/>
                  <a:pt x="13828" y="4479"/>
                </a:cubicBezTo>
                <a:cubicBezTo>
                  <a:pt x="13792" y="3859"/>
                  <a:pt x="13290" y="3368"/>
                  <a:pt x="12681" y="3331"/>
                </a:cubicBezTo>
                <a:cubicBezTo>
                  <a:pt x="12661" y="3330"/>
                  <a:pt x="12640" y="3330"/>
                  <a:pt x="12620" y="3330"/>
                </a:cubicBezTo>
                <a:cubicBezTo>
                  <a:pt x="12433" y="3330"/>
                  <a:pt x="12257" y="3376"/>
                  <a:pt x="12097" y="3449"/>
                </a:cubicBezTo>
                <a:lnTo>
                  <a:pt x="10381" y="1743"/>
                </a:lnTo>
                <a:cubicBezTo>
                  <a:pt x="10462" y="1567"/>
                  <a:pt x="10507" y="1367"/>
                  <a:pt x="10496" y="1157"/>
                </a:cubicBezTo>
                <a:cubicBezTo>
                  <a:pt x="10473" y="540"/>
                  <a:pt x="9971" y="35"/>
                  <a:pt x="9351" y="1"/>
                </a:cubicBezTo>
                <a:cubicBezTo>
                  <a:pt x="9334" y="1"/>
                  <a:pt x="9316" y="0"/>
                  <a:pt x="9299" y="0"/>
                </a:cubicBezTo>
                <a:cubicBezTo>
                  <a:pt x="8771" y="0"/>
                  <a:pt x="8316" y="331"/>
                  <a:pt x="8148" y="806"/>
                </a:cubicBezTo>
                <a:lnTo>
                  <a:pt x="5715" y="806"/>
                </a:lnTo>
                <a:cubicBezTo>
                  <a:pt x="5547" y="331"/>
                  <a:pt x="5092" y="0"/>
                  <a:pt x="455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512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882AE-4430-B685-8851-E192D9A79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98E6B53F-D12E-2995-6021-248BD269041D}"/>
              </a:ext>
            </a:extLst>
          </p:cNvPr>
          <p:cNvSpPr/>
          <p:nvPr/>
        </p:nvSpPr>
        <p:spPr>
          <a:xfrm>
            <a:off x="4380430" y="1552044"/>
            <a:ext cx="4304828" cy="1019706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ndara" panose="020E0502030303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4D156A-B80B-A7C4-F71D-9BFD13E10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258" y="437768"/>
            <a:ext cx="7704000" cy="572700"/>
          </a:xfrm>
        </p:spPr>
        <p:txBody>
          <a:bodyPr/>
          <a:lstStyle/>
          <a:p>
            <a:r>
              <a:rPr lang="en-US" altLang="zh-CN" b="1" dirty="0">
                <a:latin typeface="Candara" panose="020E0502030303020204" pitchFamily="34" charset="0"/>
              </a:rPr>
              <a:t>Random Search</a:t>
            </a:r>
            <a:endParaRPr lang="zh-CN" altLang="en-US" b="1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AD06B1A-2B21-281C-AFE3-FA4D88E702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829" y="1810256"/>
            <a:ext cx="2864695" cy="957250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Случайная выборка из пространства параметров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Вероятностный подход</a:t>
            </a:r>
          </a:p>
          <a:p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47AE3078-2990-B1B9-D0FA-7C789668734A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450552" y="3309082"/>
            <a:ext cx="3118473" cy="1501800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Быстрее Grid Search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Эффективен для </a:t>
            </a:r>
            <a:r>
              <a:rPr lang="ru-RU" altLang="zh-CN" dirty="0" err="1">
                <a:latin typeface="Candara" panose="020E0502030303020204" pitchFamily="34" charset="0"/>
              </a:rPr>
              <a:t>high-dimensional</a:t>
            </a:r>
            <a:r>
              <a:rPr lang="ru-RU" altLang="zh-CN" dirty="0">
                <a:latin typeface="Candara" panose="020E0502030303020204" pitchFamily="34" charset="0"/>
              </a:rPr>
              <a:t> пространств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Хорош для первоначального исследования</a:t>
            </a:r>
          </a:p>
          <a:p>
            <a:endParaRPr lang="zh-CN" altLang="en-US" dirty="0"/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52710F57-F9A3-6F37-745F-1C54E21A9865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800213" y="3370093"/>
            <a:ext cx="3662057" cy="689889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Не гарантирует нахождение оптимума</a:t>
            </a:r>
          </a:p>
          <a:p>
            <a:r>
              <a:rPr lang="ru-RU" altLang="zh-CN" dirty="0">
                <a:latin typeface="Candara" panose="020E0502030303020204" pitchFamily="34" charset="0"/>
              </a:rPr>
              <a:t>Может пропускать важные области</a:t>
            </a:r>
            <a:endParaRPr lang="zh-CN" altLang="en-US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DBED4495-850B-1494-8239-0478835E83CC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68752" y="1343770"/>
            <a:ext cx="2136311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Принцип работы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625D7261-482C-411A-8295-1FCD6F2B0B54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1268752" y="2912408"/>
            <a:ext cx="2260200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Преимущества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7C36B62A-E898-F074-E0E8-9CCAFD85DBA4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4775675" y="2918126"/>
            <a:ext cx="2069656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Недостатки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grpSp>
        <p:nvGrpSpPr>
          <p:cNvPr id="9" name="Google Shape;1233;p47">
            <a:extLst>
              <a:ext uri="{FF2B5EF4-FFF2-40B4-BE49-F238E27FC236}">
                <a16:creationId xmlns:a16="http://schemas.microsoft.com/office/drawing/2014/main" id="{3DD033EC-1DA7-EAB7-9412-A9A487A95B98}"/>
              </a:ext>
            </a:extLst>
          </p:cNvPr>
          <p:cNvGrpSpPr/>
          <p:nvPr/>
        </p:nvGrpSpPr>
        <p:grpSpPr>
          <a:xfrm>
            <a:off x="4414253" y="1963069"/>
            <a:ext cx="6577836" cy="2799873"/>
            <a:chOff x="2320585" y="-1326942"/>
            <a:chExt cx="5859225" cy="2360405"/>
          </a:xfrm>
        </p:grpSpPr>
        <p:sp>
          <p:nvSpPr>
            <p:cNvPr id="10" name="Google Shape;1234;p47">
              <a:extLst>
                <a:ext uri="{FF2B5EF4-FFF2-40B4-BE49-F238E27FC236}">
                  <a16:creationId xmlns:a16="http://schemas.microsoft.com/office/drawing/2014/main" id="{DA599136-3632-9CC4-8175-7C41FA5909D1}"/>
                </a:ext>
              </a:extLst>
            </p:cNvPr>
            <p:cNvSpPr/>
            <p:nvPr/>
          </p:nvSpPr>
          <p:spPr>
            <a:xfrm>
              <a:off x="2320585" y="-104237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1" name="Google Shape;1235;p47">
              <a:extLst>
                <a:ext uri="{FF2B5EF4-FFF2-40B4-BE49-F238E27FC236}">
                  <a16:creationId xmlns:a16="http://schemas.microsoft.com/office/drawing/2014/main" id="{F3ED7315-196C-2949-B0DF-1C8B5FABB06D}"/>
                </a:ext>
              </a:extLst>
            </p:cNvPr>
            <p:cNvGrpSpPr/>
            <p:nvPr/>
          </p:nvGrpSpPr>
          <p:grpSpPr>
            <a:xfrm rot="-5400000">
              <a:off x="7216713" y="-925832"/>
              <a:ext cx="1076536" cy="274315"/>
              <a:chOff x="7137512" y="6308643"/>
              <a:chExt cx="3816146" cy="972402"/>
            </a:xfrm>
          </p:grpSpPr>
          <p:sp>
            <p:nvSpPr>
              <p:cNvPr id="12" name="Google Shape;1236;p47">
                <a:extLst>
                  <a:ext uri="{FF2B5EF4-FFF2-40B4-BE49-F238E27FC236}">
                    <a16:creationId xmlns:a16="http://schemas.microsoft.com/office/drawing/2014/main" id="{D719DBB7-A4D0-A28F-5D21-1242518E12D6}"/>
                  </a:ext>
                </a:extLst>
              </p:cNvPr>
              <p:cNvSpPr/>
              <p:nvPr/>
            </p:nvSpPr>
            <p:spPr>
              <a:xfrm rot="10800000">
                <a:off x="7137512" y="6308643"/>
                <a:ext cx="1231991" cy="703353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237;p47">
                <a:extLst>
                  <a:ext uri="{FF2B5EF4-FFF2-40B4-BE49-F238E27FC236}">
                    <a16:creationId xmlns:a16="http://schemas.microsoft.com/office/drawing/2014/main" id="{D4C356B2-A763-0AE8-F81E-4588B98D29F5}"/>
                  </a:ext>
                </a:extLst>
              </p:cNvPr>
              <p:cNvSpPr/>
              <p:nvPr/>
            </p:nvSpPr>
            <p:spPr>
              <a:xfrm rot="10800000">
                <a:off x="10326151" y="6660319"/>
                <a:ext cx="627507" cy="6207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" name="Google Shape;1388;p48">
            <a:extLst>
              <a:ext uri="{FF2B5EF4-FFF2-40B4-BE49-F238E27FC236}">
                <a16:creationId xmlns:a16="http://schemas.microsoft.com/office/drawing/2014/main" id="{A9D29278-53F0-13BC-E910-49CEBD46098A}"/>
              </a:ext>
            </a:extLst>
          </p:cNvPr>
          <p:cNvGrpSpPr/>
          <p:nvPr/>
        </p:nvGrpSpPr>
        <p:grpSpPr>
          <a:xfrm>
            <a:off x="4572000" y="3018206"/>
            <a:ext cx="331975" cy="344800"/>
            <a:chOff x="6285563" y="2681150"/>
            <a:chExt cx="331975" cy="344800"/>
          </a:xfrm>
        </p:grpSpPr>
        <p:sp>
          <p:nvSpPr>
            <p:cNvPr id="20" name="Google Shape;1389;p48">
              <a:extLst>
                <a:ext uri="{FF2B5EF4-FFF2-40B4-BE49-F238E27FC236}">
                  <a16:creationId xmlns:a16="http://schemas.microsoft.com/office/drawing/2014/main" id="{CA1AC4CE-EF7C-30BD-A91A-41D1311C881D}"/>
                </a:ext>
              </a:extLst>
            </p:cNvPr>
            <p:cNvSpPr/>
            <p:nvPr/>
          </p:nvSpPr>
          <p:spPr>
            <a:xfrm>
              <a:off x="6285563" y="2721475"/>
              <a:ext cx="236175" cy="304475"/>
            </a:xfrm>
            <a:custGeom>
              <a:avLst/>
              <a:gdLst/>
              <a:ahLst/>
              <a:cxnLst/>
              <a:rect l="l" t="t" r="r" b="b"/>
              <a:pathLst>
                <a:path w="9447" h="12179" extrusionOk="0">
                  <a:moveTo>
                    <a:pt x="4313" y="831"/>
                  </a:moveTo>
                  <a:lnTo>
                    <a:pt x="4313" y="1765"/>
                  </a:lnTo>
                  <a:cubicBezTo>
                    <a:pt x="4313" y="1978"/>
                    <a:pt x="4487" y="2150"/>
                    <a:pt x="4698" y="2150"/>
                  </a:cubicBezTo>
                  <a:cubicBezTo>
                    <a:pt x="4706" y="2150"/>
                    <a:pt x="4714" y="2150"/>
                    <a:pt x="4722" y="2149"/>
                  </a:cubicBezTo>
                  <a:cubicBezTo>
                    <a:pt x="5003" y="2149"/>
                    <a:pt x="5213" y="2444"/>
                    <a:pt x="5084" y="2736"/>
                  </a:cubicBezTo>
                  <a:cubicBezTo>
                    <a:pt x="5028" y="2876"/>
                    <a:pt x="4888" y="2969"/>
                    <a:pt x="4722" y="2969"/>
                  </a:cubicBezTo>
                  <a:cubicBezTo>
                    <a:pt x="4501" y="2969"/>
                    <a:pt x="4313" y="3145"/>
                    <a:pt x="4313" y="3367"/>
                  </a:cubicBezTo>
                  <a:lnTo>
                    <a:pt x="4313" y="4312"/>
                  </a:lnTo>
                  <a:lnTo>
                    <a:pt x="3707" y="4312"/>
                  </a:lnTo>
                  <a:cubicBezTo>
                    <a:pt x="3541" y="3847"/>
                    <a:pt x="3098" y="3507"/>
                    <a:pt x="2573" y="3507"/>
                  </a:cubicBezTo>
                  <a:cubicBezTo>
                    <a:pt x="2035" y="3507"/>
                    <a:pt x="1592" y="3847"/>
                    <a:pt x="1426" y="4312"/>
                  </a:cubicBezTo>
                  <a:lnTo>
                    <a:pt x="831" y="4312"/>
                  </a:lnTo>
                  <a:cubicBezTo>
                    <a:pt x="1031" y="2478"/>
                    <a:pt x="2489" y="1016"/>
                    <a:pt x="4313" y="831"/>
                  </a:cubicBezTo>
                  <a:close/>
                  <a:moveTo>
                    <a:pt x="2570" y="4311"/>
                  </a:moveTo>
                  <a:cubicBezTo>
                    <a:pt x="2627" y="4311"/>
                    <a:pt x="2687" y="4323"/>
                    <a:pt x="2747" y="4349"/>
                  </a:cubicBezTo>
                  <a:cubicBezTo>
                    <a:pt x="2888" y="4408"/>
                    <a:pt x="2969" y="4559"/>
                    <a:pt x="2969" y="4711"/>
                  </a:cubicBezTo>
                  <a:cubicBezTo>
                    <a:pt x="2969" y="4944"/>
                    <a:pt x="3157" y="5120"/>
                    <a:pt x="3379" y="5120"/>
                  </a:cubicBezTo>
                  <a:lnTo>
                    <a:pt x="4313" y="5120"/>
                  </a:lnTo>
                  <a:lnTo>
                    <a:pt x="4313" y="6077"/>
                  </a:lnTo>
                  <a:cubicBezTo>
                    <a:pt x="4313" y="6294"/>
                    <a:pt x="4489" y="6465"/>
                    <a:pt x="4702" y="6465"/>
                  </a:cubicBezTo>
                  <a:cubicBezTo>
                    <a:pt x="4709" y="6465"/>
                    <a:pt x="4716" y="6464"/>
                    <a:pt x="4722" y="6464"/>
                  </a:cubicBezTo>
                  <a:cubicBezTo>
                    <a:pt x="5003" y="6464"/>
                    <a:pt x="5213" y="6756"/>
                    <a:pt x="5084" y="7048"/>
                  </a:cubicBezTo>
                  <a:cubicBezTo>
                    <a:pt x="5028" y="7188"/>
                    <a:pt x="4888" y="7283"/>
                    <a:pt x="4722" y="7283"/>
                  </a:cubicBezTo>
                  <a:cubicBezTo>
                    <a:pt x="4501" y="7283"/>
                    <a:pt x="4313" y="7457"/>
                    <a:pt x="4313" y="7679"/>
                  </a:cubicBezTo>
                  <a:lnTo>
                    <a:pt x="4313" y="9701"/>
                  </a:lnTo>
                  <a:lnTo>
                    <a:pt x="3216" y="9701"/>
                  </a:lnTo>
                  <a:cubicBezTo>
                    <a:pt x="3121" y="8907"/>
                    <a:pt x="2736" y="8170"/>
                    <a:pt x="2127" y="7645"/>
                  </a:cubicBezTo>
                  <a:cubicBezTo>
                    <a:pt x="1392" y="6989"/>
                    <a:pt x="935" y="6091"/>
                    <a:pt x="831" y="5120"/>
                  </a:cubicBezTo>
                  <a:lnTo>
                    <a:pt x="1766" y="5120"/>
                  </a:lnTo>
                  <a:cubicBezTo>
                    <a:pt x="1987" y="5120"/>
                    <a:pt x="2164" y="4944"/>
                    <a:pt x="2164" y="4722"/>
                  </a:cubicBezTo>
                  <a:cubicBezTo>
                    <a:pt x="2164" y="4498"/>
                    <a:pt x="2343" y="4311"/>
                    <a:pt x="2570" y="4311"/>
                  </a:cubicBezTo>
                  <a:close/>
                  <a:moveTo>
                    <a:pt x="8616" y="5120"/>
                  </a:moveTo>
                  <a:cubicBezTo>
                    <a:pt x="8510" y="6091"/>
                    <a:pt x="8055" y="6989"/>
                    <a:pt x="7317" y="7645"/>
                  </a:cubicBezTo>
                  <a:cubicBezTo>
                    <a:pt x="6711" y="8170"/>
                    <a:pt x="6324" y="8907"/>
                    <a:pt x="6232" y="9701"/>
                  </a:cubicBezTo>
                  <a:lnTo>
                    <a:pt x="5132" y="9701"/>
                  </a:lnTo>
                  <a:lnTo>
                    <a:pt x="5132" y="8018"/>
                  </a:lnTo>
                  <a:cubicBezTo>
                    <a:pt x="5600" y="7855"/>
                    <a:pt x="5940" y="7398"/>
                    <a:pt x="5940" y="6874"/>
                  </a:cubicBezTo>
                  <a:cubicBezTo>
                    <a:pt x="5940" y="6346"/>
                    <a:pt x="5600" y="5903"/>
                    <a:pt x="5132" y="5726"/>
                  </a:cubicBezTo>
                  <a:lnTo>
                    <a:pt x="5132" y="5120"/>
                  </a:lnTo>
                  <a:lnTo>
                    <a:pt x="5741" y="5120"/>
                  </a:lnTo>
                  <a:cubicBezTo>
                    <a:pt x="5903" y="5586"/>
                    <a:pt x="6347" y="5925"/>
                    <a:pt x="6885" y="5925"/>
                  </a:cubicBezTo>
                  <a:cubicBezTo>
                    <a:pt x="7413" y="5925"/>
                    <a:pt x="7856" y="5586"/>
                    <a:pt x="8019" y="5120"/>
                  </a:cubicBezTo>
                  <a:close/>
                  <a:moveTo>
                    <a:pt x="6206" y="10509"/>
                  </a:moveTo>
                  <a:lnTo>
                    <a:pt x="6206" y="11244"/>
                  </a:lnTo>
                  <a:cubicBezTo>
                    <a:pt x="6206" y="11314"/>
                    <a:pt x="6150" y="11373"/>
                    <a:pt x="6066" y="11373"/>
                  </a:cubicBezTo>
                  <a:lnTo>
                    <a:pt x="3379" y="11373"/>
                  </a:lnTo>
                  <a:cubicBezTo>
                    <a:pt x="3297" y="11373"/>
                    <a:pt x="3238" y="11314"/>
                    <a:pt x="3238" y="11244"/>
                  </a:cubicBezTo>
                  <a:lnTo>
                    <a:pt x="3238" y="10509"/>
                  </a:lnTo>
                  <a:close/>
                  <a:moveTo>
                    <a:pt x="4734" y="1"/>
                  </a:moveTo>
                  <a:cubicBezTo>
                    <a:pt x="2127" y="1"/>
                    <a:pt x="1" y="2116"/>
                    <a:pt x="1" y="4722"/>
                  </a:cubicBezTo>
                  <a:cubicBezTo>
                    <a:pt x="1" y="6066"/>
                    <a:pt x="584" y="7353"/>
                    <a:pt x="1592" y="8240"/>
                  </a:cubicBezTo>
                  <a:cubicBezTo>
                    <a:pt x="2127" y="8720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758"/>
                    <a:pt x="2854" y="12178"/>
                    <a:pt x="3379" y="12178"/>
                  </a:cubicBezTo>
                  <a:lnTo>
                    <a:pt x="6066" y="12178"/>
                  </a:lnTo>
                  <a:cubicBezTo>
                    <a:pt x="6593" y="12178"/>
                    <a:pt x="7014" y="11758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20"/>
                    <a:pt x="7856" y="8240"/>
                  </a:cubicBezTo>
                  <a:cubicBezTo>
                    <a:pt x="8860" y="7353"/>
                    <a:pt x="9447" y="6066"/>
                    <a:pt x="9447" y="4722"/>
                  </a:cubicBezTo>
                  <a:cubicBezTo>
                    <a:pt x="9447" y="4500"/>
                    <a:pt x="9259" y="4312"/>
                    <a:pt x="9037" y="4312"/>
                  </a:cubicBezTo>
                  <a:lnTo>
                    <a:pt x="7679" y="4312"/>
                  </a:lnTo>
                  <a:cubicBezTo>
                    <a:pt x="7458" y="4312"/>
                    <a:pt x="7284" y="4500"/>
                    <a:pt x="7284" y="4711"/>
                  </a:cubicBezTo>
                  <a:cubicBezTo>
                    <a:pt x="7284" y="4935"/>
                    <a:pt x="7104" y="5122"/>
                    <a:pt x="6884" y="5122"/>
                  </a:cubicBezTo>
                  <a:cubicBezTo>
                    <a:pt x="6828" y="5122"/>
                    <a:pt x="6770" y="5110"/>
                    <a:pt x="6711" y="5084"/>
                  </a:cubicBezTo>
                  <a:cubicBezTo>
                    <a:pt x="6557" y="5025"/>
                    <a:pt x="6476" y="4873"/>
                    <a:pt x="6476" y="4722"/>
                  </a:cubicBezTo>
                  <a:cubicBezTo>
                    <a:pt x="6476" y="4500"/>
                    <a:pt x="6302" y="4312"/>
                    <a:pt x="6066" y="4312"/>
                  </a:cubicBezTo>
                  <a:lnTo>
                    <a:pt x="5132" y="4312"/>
                  </a:lnTo>
                  <a:lnTo>
                    <a:pt x="5132" y="3706"/>
                  </a:lnTo>
                  <a:cubicBezTo>
                    <a:pt x="5600" y="3541"/>
                    <a:pt x="5940" y="3086"/>
                    <a:pt x="5940" y="2559"/>
                  </a:cubicBezTo>
                  <a:cubicBezTo>
                    <a:pt x="5940" y="2034"/>
                    <a:pt x="5600" y="1577"/>
                    <a:pt x="5132" y="1414"/>
                  </a:cubicBezTo>
                  <a:lnTo>
                    <a:pt x="5132" y="396"/>
                  </a:lnTo>
                  <a:cubicBezTo>
                    <a:pt x="5132" y="175"/>
                    <a:pt x="4958" y="1"/>
                    <a:pt x="4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1" name="Google Shape;1390;p48">
              <a:extLst>
                <a:ext uri="{FF2B5EF4-FFF2-40B4-BE49-F238E27FC236}">
                  <a16:creationId xmlns:a16="http://schemas.microsoft.com/office/drawing/2014/main" id="{90616A3E-BDD2-7618-5AF9-6844A902736F}"/>
                </a:ext>
              </a:extLst>
            </p:cNvPr>
            <p:cNvSpPr/>
            <p:nvPr/>
          </p:nvSpPr>
          <p:spPr>
            <a:xfrm>
              <a:off x="6489238" y="2681150"/>
              <a:ext cx="128300" cy="148150"/>
            </a:xfrm>
            <a:custGeom>
              <a:avLst/>
              <a:gdLst/>
              <a:ahLst/>
              <a:cxnLst/>
              <a:rect l="l" t="t" r="r" b="b"/>
              <a:pathLst>
                <a:path w="5132" h="5926" extrusionOk="0">
                  <a:moveTo>
                    <a:pt x="809" y="817"/>
                  </a:moveTo>
                  <a:cubicBezTo>
                    <a:pt x="2643" y="1016"/>
                    <a:pt x="4105" y="2478"/>
                    <a:pt x="4290" y="4312"/>
                  </a:cubicBezTo>
                  <a:lnTo>
                    <a:pt x="3367" y="4312"/>
                  </a:lnTo>
                  <a:cubicBezTo>
                    <a:pt x="3145" y="4312"/>
                    <a:pt x="2969" y="4489"/>
                    <a:pt x="2969" y="4711"/>
                  </a:cubicBezTo>
                  <a:cubicBezTo>
                    <a:pt x="2969" y="4873"/>
                    <a:pt x="2876" y="5014"/>
                    <a:pt x="2736" y="5084"/>
                  </a:cubicBezTo>
                  <a:cubicBezTo>
                    <a:pt x="2679" y="5107"/>
                    <a:pt x="2622" y="5117"/>
                    <a:pt x="2568" y="5117"/>
                  </a:cubicBezTo>
                  <a:cubicBezTo>
                    <a:pt x="2345" y="5117"/>
                    <a:pt x="2164" y="4939"/>
                    <a:pt x="2164" y="4722"/>
                  </a:cubicBezTo>
                  <a:cubicBezTo>
                    <a:pt x="2152" y="4489"/>
                    <a:pt x="1976" y="4312"/>
                    <a:pt x="1754" y="4312"/>
                  </a:cubicBezTo>
                  <a:lnTo>
                    <a:pt x="809" y="4312"/>
                  </a:lnTo>
                  <a:lnTo>
                    <a:pt x="809" y="3706"/>
                  </a:lnTo>
                  <a:cubicBezTo>
                    <a:pt x="1274" y="3530"/>
                    <a:pt x="1614" y="3086"/>
                    <a:pt x="1614" y="2559"/>
                  </a:cubicBezTo>
                  <a:cubicBezTo>
                    <a:pt x="1614" y="2034"/>
                    <a:pt x="1274" y="1577"/>
                    <a:pt x="809" y="1414"/>
                  </a:cubicBezTo>
                  <a:lnTo>
                    <a:pt x="809" y="817"/>
                  </a:lnTo>
                  <a:close/>
                  <a:moveTo>
                    <a:pt x="420" y="1"/>
                  </a:moveTo>
                  <a:cubicBezTo>
                    <a:pt x="413" y="1"/>
                    <a:pt x="406" y="1"/>
                    <a:pt x="399" y="1"/>
                  </a:cubicBezTo>
                  <a:cubicBezTo>
                    <a:pt x="177" y="1"/>
                    <a:pt x="1" y="174"/>
                    <a:pt x="1" y="385"/>
                  </a:cubicBezTo>
                  <a:lnTo>
                    <a:pt x="1" y="1754"/>
                  </a:lnTo>
                  <a:cubicBezTo>
                    <a:pt x="1" y="1975"/>
                    <a:pt x="189" y="2149"/>
                    <a:pt x="399" y="2149"/>
                  </a:cubicBezTo>
                  <a:cubicBezTo>
                    <a:pt x="680" y="2149"/>
                    <a:pt x="901" y="2430"/>
                    <a:pt x="772" y="2736"/>
                  </a:cubicBezTo>
                  <a:cubicBezTo>
                    <a:pt x="713" y="2876"/>
                    <a:pt x="562" y="2957"/>
                    <a:pt x="410" y="2957"/>
                  </a:cubicBezTo>
                  <a:cubicBezTo>
                    <a:pt x="189" y="2957"/>
                    <a:pt x="1" y="3145"/>
                    <a:pt x="1" y="3367"/>
                  </a:cubicBezTo>
                  <a:lnTo>
                    <a:pt x="1" y="4722"/>
                  </a:lnTo>
                  <a:cubicBezTo>
                    <a:pt x="1" y="4944"/>
                    <a:pt x="177" y="5120"/>
                    <a:pt x="399" y="5120"/>
                  </a:cubicBezTo>
                  <a:lnTo>
                    <a:pt x="1415" y="5120"/>
                  </a:lnTo>
                  <a:cubicBezTo>
                    <a:pt x="1591" y="5586"/>
                    <a:pt x="2035" y="5925"/>
                    <a:pt x="2562" y="5925"/>
                  </a:cubicBezTo>
                  <a:cubicBezTo>
                    <a:pt x="3086" y="5925"/>
                    <a:pt x="3544" y="5586"/>
                    <a:pt x="3706" y="5120"/>
                  </a:cubicBezTo>
                  <a:lnTo>
                    <a:pt x="4722" y="5120"/>
                  </a:lnTo>
                  <a:cubicBezTo>
                    <a:pt x="4946" y="5120"/>
                    <a:pt x="5120" y="4944"/>
                    <a:pt x="5120" y="4722"/>
                  </a:cubicBezTo>
                  <a:cubicBezTo>
                    <a:pt x="5132" y="2123"/>
                    <a:pt x="3016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22" name="Google Shape;1282;p48">
            <a:extLst>
              <a:ext uri="{FF2B5EF4-FFF2-40B4-BE49-F238E27FC236}">
                <a16:creationId xmlns:a16="http://schemas.microsoft.com/office/drawing/2014/main" id="{1AB7EA4F-B395-8760-8060-A4C7B096D412}"/>
              </a:ext>
            </a:extLst>
          </p:cNvPr>
          <p:cNvGrpSpPr/>
          <p:nvPr/>
        </p:nvGrpSpPr>
        <p:grpSpPr>
          <a:xfrm>
            <a:off x="1102954" y="3021452"/>
            <a:ext cx="346275" cy="345150"/>
            <a:chOff x="5521113" y="3797375"/>
            <a:chExt cx="346275" cy="345150"/>
          </a:xfrm>
        </p:grpSpPr>
        <p:sp>
          <p:nvSpPr>
            <p:cNvPr id="23" name="Google Shape;1283;p48">
              <a:extLst>
                <a:ext uri="{FF2B5EF4-FFF2-40B4-BE49-F238E27FC236}">
                  <a16:creationId xmlns:a16="http://schemas.microsoft.com/office/drawing/2014/main" id="{C359D4F3-9F24-4D0F-2AAD-C21FE1FDED47}"/>
                </a:ext>
              </a:extLst>
            </p:cNvPr>
            <p:cNvSpPr/>
            <p:nvPr/>
          </p:nvSpPr>
          <p:spPr>
            <a:xfrm>
              <a:off x="5576313" y="3797375"/>
              <a:ext cx="235900" cy="345150"/>
            </a:xfrm>
            <a:custGeom>
              <a:avLst/>
              <a:gdLst/>
              <a:ahLst/>
              <a:cxnLst/>
              <a:rect l="l" t="t" r="r" b="b"/>
              <a:pathLst>
                <a:path w="9436" h="13806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4" name="Google Shape;1284;p48">
              <a:extLst>
                <a:ext uri="{FF2B5EF4-FFF2-40B4-BE49-F238E27FC236}">
                  <a16:creationId xmlns:a16="http://schemas.microsoft.com/office/drawing/2014/main" id="{7E01F5B9-8A39-C60F-D9E9-8F617FE0CAC4}"/>
                </a:ext>
              </a:extLst>
            </p:cNvPr>
            <p:cNvSpPr/>
            <p:nvPr/>
          </p:nvSpPr>
          <p:spPr>
            <a:xfrm>
              <a:off x="5825913" y="3905250"/>
              <a:ext cx="41475" cy="20150"/>
            </a:xfrm>
            <a:custGeom>
              <a:avLst/>
              <a:gdLst/>
              <a:ahLst/>
              <a:cxnLst/>
              <a:rect l="l" t="t" r="r" b="b"/>
              <a:pathLst>
                <a:path w="1659" h="806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5" name="Google Shape;1285;p48">
              <a:extLst>
                <a:ext uri="{FF2B5EF4-FFF2-40B4-BE49-F238E27FC236}">
                  <a16:creationId xmlns:a16="http://schemas.microsoft.com/office/drawing/2014/main" id="{57E4FD71-E125-761B-A09B-7596F91DF162}"/>
                </a:ext>
              </a:extLst>
            </p:cNvPr>
            <p:cNvSpPr/>
            <p:nvPr/>
          </p:nvSpPr>
          <p:spPr>
            <a:xfrm>
              <a:off x="5818288" y="383777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6" name="Google Shape;1286;p48">
              <a:extLst>
                <a:ext uri="{FF2B5EF4-FFF2-40B4-BE49-F238E27FC236}">
                  <a16:creationId xmlns:a16="http://schemas.microsoft.com/office/drawing/2014/main" id="{20B6ECA0-73B4-E54C-594A-AA507830CF9D}"/>
                </a:ext>
              </a:extLst>
            </p:cNvPr>
            <p:cNvSpPr/>
            <p:nvPr/>
          </p:nvSpPr>
          <p:spPr>
            <a:xfrm>
              <a:off x="5818288" y="3962475"/>
              <a:ext cx="40700" cy="30425"/>
            </a:xfrm>
            <a:custGeom>
              <a:avLst/>
              <a:gdLst/>
              <a:ahLst/>
              <a:cxnLst/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7" name="Google Shape;1287;p48">
              <a:extLst>
                <a:ext uri="{FF2B5EF4-FFF2-40B4-BE49-F238E27FC236}">
                  <a16:creationId xmlns:a16="http://schemas.microsoft.com/office/drawing/2014/main" id="{D692EEC5-FE55-F5BB-86B2-93E8916F6E38}"/>
                </a:ext>
              </a:extLst>
            </p:cNvPr>
            <p:cNvSpPr/>
            <p:nvPr/>
          </p:nvSpPr>
          <p:spPr>
            <a:xfrm>
              <a:off x="5521113" y="3905250"/>
              <a:ext cx="41825" cy="20150"/>
            </a:xfrm>
            <a:custGeom>
              <a:avLst/>
              <a:gdLst/>
              <a:ahLst/>
              <a:cxnLst/>
              <a:rect l="l" t="t" r="r" b="b"/>
              <a:pathLst>
                <a:path w="1673" h="806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8" name="Google Shape;1288;p48">
              <a:extLst>
                <a:ext uri="{FF2B5EF4-FFF2-40B4-BE49-F238E27FC236}">
                  <a16:creationId xmlns:a16="http://schemas.microsoft.com/office/drawing/2014/main" id="{A5E690BA-BF72-7C36-9B3F-69F2E1B9D4E2}"/>
                </a:ext>
              </a:extLst>
            </p:cNvPr>
            <p:cNvSpPr/>
            <p:nvPr/>
          </p:nvSpPr>
          <p:spPr>
            <a:xfrm>
              <a:off x="5529888" y="3837775"/>
              <a:ext cx="40350" cy="30375"/>
            </a:xfrm>
            <a:custGeom>
              <a:avLst/>
              <a:gdLst/>
              <a:ahLst/>
              <a:cxnLst/>
              <a:rect l="l" t="t" r="r" b="b"/>
              <a:pathLst>
                <a:path w="1614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9" name="Google Shape;1289;p48">
              <a:extLst>
                <a:ext uri="{FF2B5EF4-FFF2-40B4-BE49-F238E27FC236}">
                  <a16:creationId xmlns:a16="http://schemas.microsoft.com/office/drawing/2014/main" id="{2FABE2AB-3C67-D573-1A07-27BD6A797CE6}"/>
                </a:ext>
              </a:extLst>
            </p:cNvPr>
            <p:cNvSpPr/>
            <p:nvPr/>
          </p:nvSpPr>
          <p:spPr>
            <a:xfrm>
              <a:off x="5529888" y="3962475"/>
              <a:ext cx="40350" cy="30425"/>
            </a:xfrm>
            <a:custGeom>
              <a:avLst/>
              <a:gdLst/>
              <a:ahLst/>
              <a:cxnLst/>
              <a:rect l="l" t="t" r="r" b="b"/>
              <a:pathLst>
                <a:path w="1614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30" name="Google Shape;1399;p48">
            <a:extLst>
              <a:ext uri="{FF2B5EF4-FFF2-40B4-BE49-F238E27FC236}">
                <a16:creationId xmlns:a16="http://schemas.microsoft.com/office/drawing/2014/main" id="{A690F45C-C8C5-63C8-1E8E-D4CE2F1D57E4}"/>
              </a:ext>
            </a:extLst>
          </p:cNvPr>
          <p:cNvSpPr/>
          <p:nvPr/>
        </p:nvSpPr>
        <p:spPr>
          <a:xfrm>
            <a:off x="1096215" y="1412191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D419C8-3F72-F5F5-8503-D4AC631B8E05}"/>
              </a:ext>
            </a:extLst>
          </p:cNvPr>
          <p:cNvSpPr txBox="1"/>
          <p:nvPr/>
        </p:nvSpPr>
        <p:spPr>
          <a:xfrm>
            <a:off x="4452296" y="1699680"/>
            <a:ext cx="41610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for </a:t>
            </a:r>
            <a:r>
              <a:rPr lang="en-US" altLang="zh-CN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i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 in range(</a:t>
            </a:r>
            <a:r>
              <a:rPr lang="en-US" altLang="zh-CN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n_iter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):</a:t>
            </a:r>
          </a:p>
          <a:p>
            <a:pPr latinLnBrk="1"/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    </a:t>
            </a:r>
            <a:r>
              <a:rPr lang="en-US" altLang="zh-CN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random_params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 = sample(</a:t>
            </a:r>
            <a:r>
              <a:rPr lang="en-US" altLang="zh-CN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parameter_distribution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)</a:t>
            </a:r>
          </a:p>
          <a:p>
            <a:pPr latinLnBrk="1"/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    score = </a:t>
            </a:r>
            <a:r>
              <a:rPr lang="en-US" altLang="zh-CN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evaluate_model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(</a:t>
            </a:r>
            <a:r>
              <a:rPr lang="en-US" altLang="zh-CN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random_params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)</a:t>
            </a:r>
          </a:p>
        </p:txBody>
      </p:sp>
      <p:sp>
        <p:nvSpPr>
          <p:cNvPr id="36" name="Подзаголовок 5">
            <a:extLst>
              <a:ext uri="{FF2B5EF4-FFF2-40B4-BE49-F238E27FC236}">
                <a16:creationId xmlns:a16="http://schemas.microsoft.com/office/drawing/2014/main" id="{34C4719A-BE81-153D-7AC3-910143F52DCE}"/>
              </a:ext>
            </a:extLst>
          </p:cNvPr>
          <p:cNvSpPr txBox="1">
            <a:spLocks/>
          </p:cNvSpPr>
          <p:nvPr/>
        </p:nvSpPr>
        <p:spPr>
          <a:xfrm>
            <a:off x="4936469" y="998700"/>
            <a:ext cx="2969761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ru-RU" altLang="zh-CN" dirty="0">
                <a:latin typeface="Candara" panose="020E0502030303020204" pitchFamily="34" charset="0"/>
              </a:rPr>
              <a:t>Математическая основа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38" name="Google Shape;1484;p48">
            <a:extLst>
              <a:ext uri="{FF2B5EF4-FFF2-40B4-BE49-F238E27FC236}">
                <a16:creationId xmlns:a16="http://schemas.microsoft.com/office/drawing/2014/main" id="{A78D3B3C-D363-2C69-4459-DFC04331ABF1}"/>
              </a:ext>
            </a:extLst>
          </p:cNvPr>
          <p:cNvSpPr/>
          <p:nvPr/>
        </p:nvSpPr>
        <p:spPr>
          <a:xfrm>
            <a:off x="4754742" y="1078314"/>
            <a:ext cx="346575" cy="345225"/>
          </a:xfrm>
          <a:custGeom>
            <a:avLst/>
            <a:gdLst/>
            <a:ahLst/>
            <a:cxnLst/>
            <a:rect l="l" t="t" r="r" b="b"/>
            <a:pathLst>
              <a:path w="13863" h="13809" extrusionOk="0">
                <a:moveTo>
                  <a:pt x="4582" y="795"/>
                </a:moveTo>
                <a:cubicBezTo>
                  <a:pt x="4804" y="795"/>
                  <a:pt x="4992" y="983"/>
                  <a:pt x="4992" y="1205"/>
                </a:cubicBezTo>
                <a:cubicBezTo>
                  <a:pt x="4992" y="1426"/>
                  <a:pt x="4804" y="1614"/>
                  <a:pt x="4582" y="1614"/>
                </a:cubicBezTo>
                <a:cubicBezTo>
                  <a:pt x="4360" y="1614"/>
                  <a:pt x="4184" y="1426"/>
                  <a:pt x="4184" y="1205"/>
                </a:cubicBezTo>
                <a:cubicBezTo>
                  <a:pt x="4184" y="983"/>
                  <a:pt x="4360" y="795"/>
                  <a:pt x="4582" y="795"/>
                </a:cubicBezTo>
                <a:close/>
                <a:moveTo>
                  <a:pt x="9303" y="795"/>
                </a:moveTo>
                <a:cubicBezTo>
                  <a:pt x="9525" y="795"/>
                  <a:pt x="9702" y="983"/>
                  <a:pt x="9702" y="1205"/>
                </a:cubicBezTo>
                <a:cubicBezTo>
                  <a:pt x="9702" y="1426"/>
                  <a:pt x="9525" y="1614"/>
                  <a:pt x="9303" y="1614"/>
                </a:cubicBezTo>
                <a:cubicBezTo>
                  <a:pt x="9071" y="1614"/>
                  <a:pt x="8894" y="1426"/>
                  <a:pt x="8894" y="1205"/>
                </a:cubicBezTo>
                <a:cubicBezTo>
                  <a:pt x="8894" y="983"/>
                  <a:pt x="9071" y="795"/>
                  <a:pt x="9303" y="795"/>
                </a:cubicBezTo>
                <a:close/>
                <a:moveTo>
                  <a:pt x="8159" y="1614"/>
                </a:moveTo>
                <a:cubicBezTo>
                  <a:pt x="8229" y="1813"/>
                  <a:pt x="8333" y="1987"/>
                  <a:pt x="8487" y="2116"/>
                </a:cubicBezTo>
                <a:lnTo>
                  <a:pt x="7328" y="4922"/>
                </a:lnTo>
                <a:cubicBezTo>
                  <a:pt x="7199" y="4899"/>
                  <a:pt x="7070" y="4888"/>
                  <a:pt x="6944" y="4888"/>
                </a:cubicBezTo>
                <a:cubicBezTo>
                  <a:pt x="6815" y="4888"/>
                  <a:pt x="6686" y="4899"/>
                  <a:pt x="6557" y="4922"/>
                </a:cubicBezTo>
                <a:lnTo>
                  <a:pt x="5401" y="2116"/>
                </a:lnTo>
                <a:cubicBezTo>
                  <a:pt x="5541" y="1987"/>
                  <a:pt x="5656" y="1813"/>
                  <a:pt x="5727" y="1614"/>
                </a:cubicBezTo>
                <a:close/>
                <a:moveTo>
                  <a:pt x="1249" y="4128"/>
                </a:moveTo>
                <a:cubicBezTo>
                  <a:pt x="1474" y="4128"/>
                  <a:pt x="1659" y="4313"/>
                  <a:pt x="1659" y="4537"/>
                </a:cubicBezTo>
                <a:cubicBezTo>
                  <a:pt x="1659" y="4759"/>
                  <a:pt x="1474" y="4944"/>
                  <a:pt x="1249" y="4944"/>
                </a:cubicBezTo>
                <a:cubicBezTo>
                  <a:pt x="1028" y="4944"/>
                  <a:pt x="854" y="4759"/>
                  <a:pt x="854" y="4537"/>
                </a:cubicBezTo>
                <a:cubicBezTo>
                  <a:pt x="854" y="4313"/>
                  <a:pt x="1028" y="4128"/>
                  <a:pt x="1249" y="4128"/>
                </a:cubicBezTo>
                <a:close/>
                <a:moveTo>
                  <a:pt x="12636" y="4128"/>
                </a:moveTo>
                <a:cubicBezTo>
                  <a:pt x="12858" y="4128"/>
                  <a:pt x="13032" y="4313"/>
                  <a:pt x="13032" y="4537"/>
                </a:cubicBezTo>
                <a:cubicBezTo>
                  <a:pt x="13032" y="4759"/>
                  <a:pt x="12858" y="4944"/>
                  <a:pt x="12636" y="4944"/>
                </a:cubicBezTo>
                <a:cubicBezTo>
                  <a:pt x="12414" y="4944"/>
                  <a:pt x="12227" y="4759"/>
                  <a:pt x="12227" y="4537"/>
                </a:cubicBezTo>
                <a:cubicBezTo>
                  <a:pt x="12227" y="4313"/>
                  <a:pt x="12414" y="4128"/>
                  <a:pt x="12636" y="4128"/>
                </a:cubicBezTo>
                <a:close/>
                <a:moveTo>
                  <a:pt x="4069" y="2304"/>
                </a:moveTo>
                <a:cubicBezTo>
                  <a:pt x="4220" y="2375"/>
                  <a:pt x="4394" y="2419"/>
                  <a:pt x="4582" y="2419"/>
                </a:cubicBezTo>
                <a:lnTo>
                  <a:pt x="4652" y="2419"/>
                </a:lnTo>
                <a:lnTo>
                  <a:pt x="5808" y="5214"/>
                </a:lnTo>
                <a:cubicBezTo>
                  <a:pt x="5598" y="5365"/>
                  <a:pt x="5412" y="5553"/>
                  <a:pt x="5272" y="5763"/>
                </a:cubicBezTo>
                <a:lnTo>
                  <a:pt x="2467" y="4608"/>
                </a:lnTo>
                <a:lnTo>
                  <a:pt x="2467" y="4537"/>
                </a:lnTo>
                <a:cubicBezTo>
                  <a:pt x="2467" y="4349"/>
                  <a:pt x="2419" y="4173"/>
                  <a:pt x="2349" y="4010"/>
                </a:cubicBezTo>
                <a:lnTo>
                  <a:pt x="4069" y="2304"/>
                </a:lnTo>
                <a:close/>
                <a:moveTo>
                  <a:pt x="9820" y="2304"/>
                </a:moveTo>
                <a:lnTo>
                  <a:pt x="11536" y="4010"/>
                </a:lnTo>
                <a:cubicBezTo>
                  <a:pt x="11455" y="4173"/>
                  <a:pt x="11419" y="4349"/>
                  <a:pt x="11419" y="4537"/>
                </a:cubicBezTo>
                <a:lnTo>
                  <a:pt x="11419" y="4608"/>
                </a:lnTo>
                <a:lnTo>
                  <a:pt x="8613" y="5763"/>
                </a:lnTo>
                <a:cubicBezTo>
                  <a:pt x="8473" y="5553"/>
                  <a:pt x="8288" y="5365"/>
                  <a:pt x="8077" y="5214"/>
                </a:cubicBezTo>
                <a:lnTo>
                  <a:pt x="9233" y="2419"/>
                </a:lnTo>
                <a:lnTo>
                  <a:pt x="9303" y="2419"/>
                </a:lnTo>
                <a:cubicBezTo>
                  <a:pt x="9491" y="2419"/>
                  <a:pt x="9665" y="2375"/>
                  <a:pt x="9820" y="2304"/>
                </a:cubicBezTo>
                <a:close/>
                <a:moveTo>
                  <a:pt x="6944" y="5682"/>
                </a:moveTo>
                <a:cubicBezTo>
                  <a:pt x="7609" y="5682"/>
                  <a:pt x="8159" y="6221"/>
                  <a:pt x="8159" y="6897"/>
                </a:cubicBezTo>
                <a:cubicBezTo>
                  <a:pt x="8159" y="7564"/>
                  <a:pt x="7609" y="8100"/>
                  <a:pt x="6944" y="8100"/>
                </a:cubicBezTo>
                <a:cubicBezTo>
                  <a:pt x="6276" y="8100"/>
                  <a:pt x="5727" y="7564"/>
                  <a:pt x="5727" y="6897"/>
                </a:cubicBezTo>
                <a:cubicBezTo>
                  <a:pt x="5727" y="6221"/>
                  <a:pt x="6276" y="5682"/>
                  <a:pt x="6944" y="5682"/>
                </a:cubicBezTo>
                <a:close/>
                <a:moveTo>
                  <a:pt x="2139" y="5343"/>
                </a:moveTo>
                <a:lnTo>
                  <a:pt x="4944" y="6512"/>
                </a:lnTo>
                <a:cubicBezTo>
                  <a:pt x="4921" y="6627"/>
                  <a:pt x="4910" y="6756"/>
                  <a:pt x="4910" y="6897"/>
                </a:cubicBezTo>
                <a:cubicBezTo>
                  <a:pt x="4910" y="7026"/>
                  <a:pt x="4921" y="7155"/>
                  <a:pt x="4944" y="7284"/>
                </a:cubicBezTo>
                <a:lnTo>
                  <a:pt x="2139" y="8440"/>
                </a:lnTo>
                <a:cubicBezTo>
                  <a:pt x="2010" y="8288"/>
                  <a:pt x="1836" y="8170"/>
                  <a:pt x="1648" y="8100"/>
                </a:cubicBezTo>
                <a:lnTo>
                  <a:pt x="1648" y="5682"/>
                </a:lnTo>
                <a:cubicBezTo>
                  <a:pt x="1836" y="5612"/>
                  <a:pt x="2010" y="5494"/>
                  <a:pt x="2139" y="5343"/>
                </a:cubicBezTo>
                <a:close/>
                <a:moveTo>
                  <a:pt x="11713" y="5343"/>
                </a:moveTo>
                <a:cubicBezTo>
                  <a:pt x="11853" y="5494"/>
                  <a:pt x="12016" y="5612"/>
                  <a:pt x="12215" y="5682"/>
                </a:cubicBezTo>
                <a:lnTo>
                  <a:pt x="12215" y="8100"/>
                </a:lnTo>
                <a:cubicBezTo>
                  <a:pt x="12016" y="8170"/>
                  <a:pt x="11853" y="8288"/>
                  <a:pt x="11713" y="8440"/>
                </a:cubicBezTo>
                <a:lnTo>
                  <a:pt x="8919" y="7284"/>
                </a:lnTo>
                <a:cubicBezTo>
                  <a:pt x="8942" y="7155"/>
                  <a:pt x="8953" y="7026"/>
                  <a:pt x="8953" y="6897"/>
                </a:cubicBezTo>
                <a:cubicBezTo>
                  <a:pt x="8953" y="6756"/>
                  <a:pt x="8942" y="6627"/>
                  <a:pt x="8919" y="6512"/>
                </a:cubicBezTo>
                <a:lnTo>
                  <a:pt x="11713" y="5343"/>
                </a:lnTo>
                <a:close/>
                <a:moveTo>
                  <a:pt x="1249" y="8849"/>
                </a:moveTo>
                <a:cubicBezTo>
                  <a:pt x="1474" y="8849"/>
                  <a:pt x="1659" y="9026"/>
                  <a:pt x="1659" y="9248"/>
                </a:cubicBezTo>
                <a:cubicBezTo>
                  <a:pt x="1659" y="9469"/>
                  <a:pt x="1474" y="9657"/>
                  <a:pt x="1249" y="9657"/>
                </a:cubicBezTo>
                <a:cubicBezTo>
                  <a:pt x="1028" y="9657"/>
                  <a:pt x="854" y="9469"/>
                  <a:pt x="854" y="9248"/>
                </a:cubicBezTo>
                <a:cubicBezTo>
                  <a:pt x="854" y="9026"/>
                  <a:pt x="1028" y="8849"/>
                  <a:pt x="1249" y="8849"/>
                </a:cubicBezTo>
                <a:close/>
                <a:moveTo>
                  <a:pt x="12636" y="8849"/>
                </a:moveTo>
                <a:cubicBezTo>
                  <a:pt x="12858" y="8849"/>
                  <a:pt x="13032" y="9026"/>
                  <a:pt x="13032" y="9248"/>
                </a:cubicBezTo>
                <a:cubicBezTo>
                  <a:pt x="13032" y="9469"/>
                  <a:pt x="12858" y="9657"/>
                  <a:pt x="12636" y="9657"/>
                </a:cubicBezTo>
                <a:cubicBezTo>
                  <a:pt x="12414" y="9657"/>
                  <a:pt x="12227" y="9469"/>
                  <a:pt x="12227" y="9248"/>
                </a:cubicBezTo>
                <a:cubicBezTo>
                  <a:pt x="12227" y="9026"/>
                  <a:pt x="12414" y="8849"/>
                  <a:pt x="12636" y="8849"/>
                </a:cubicBezTo>
                <a:close/>
                <a:moveTo>
                  <a:pt x="5272" y="8019"/>
                </a:moveTo>
                <a:cubicBezTo>
                  <a:pt x="5412" y="8240"/>
                  <a:pt x="5598" y="8428"/>
                  <a:pt x="5808" y="8569"/>
                </a:cubicBezTo>
                <a:lnTo>
                  <a:pt x="4652" y="11374"/>
                </a:lnTo>
                <a:lnTo>
                  <a:pt x="4582" y="11374"/>
                </a:lnTo>
                <a:cubicBezTo>
                  <a:pt x="4394" y="11374"/>
                  <a:pt x="4220" y="11410"/>
                  <a:pt x="4069" y="11492"/>
                </a:cubicBezTo>
                <a:lnTo>
                  <a:pt x="2349" y="9772"/>
                </a:lnTo>
                <a:cubicBezTo>
                  <a:pt x="2419" y="9609"/>
                  <a:pt x="2467" y="9433"/>
                  <a:pt x="2467" y="9248"/>
                </a:cubicBezTo>
                <a:lnTo>
                  <a:pt x="2467" y="9189"/>
                </a:lnTo>
                <a:lnTo>
                  <a:pt x="5272" y="8019"/>
                </a:lnTo>
                <a:close/>
                <a:moveTo>
                  <a:pt x="8613" y="8019"/>
                </a:moveTo>
                <a:lnTo>
                  <a:pt x="11419" y="9189"/>
                </a:lnTo>
                <a:lnTo>
                  <a:pt x="11419" y="9248"/>
                </a:lnTo>
                <a:cubicBezTo>
                  <a:pt x="11419" y="9433"/>
                  <a:pt x="11455" y="9609"/>
                  <a:pt x="11536" y="9772"/>
                </a:cubicBezTo>
                <a:lnTo>
                  <a:pt x="9820" y="11492"/>
                </a:lnTo>
                <a:cubicBezTo>
                  <a:pt x="9665" y="11410"/>
                  <a:pt x="9491" y="11374"/>
                  <a:pt x="9303" y="11374"/>
                </a:cubicBezTo>
                <a:lnTo>
                  <a:pt x="9233" y="11374"/>
                </a:lnTo>
                <a:lnTo>
                  <a:pt x="8077" y="8569"/>
                </a:lnTo>
                <a:cubicBezTo>
                  <a:pt x="8288" y="8428"/>
                  <a:pt x="8473" y="8240"/>
                  <a:pt x="8613" y="8019"/>
                </a:cubicBezTo>
                <a:close/>
                <a:moveTo>
                  <a:pt x="7328" y="8886"/>
                </a:moveTo>
                <a:lnTo>
                  <a:pt x="8487" y="11691"/>
                </a:lnTo>
                <a:cubicBezTo>
                  <a:pt x="8333" y="11831"/>
                  <a:pt x="8229" y="11994"/>
                  <a:pt x="8159" y="12193"/>
                </a:cubicBezTo>
                <a:lnTo>
                  <a:pt x="5727" y="12193"/>
                </a:lnTo>
                <a:cubicBezTo>
                  <a:pt x="5656" y="11994"/>
                  <a:pt x="5541" y="11831"/>
                  <a:pt x="5401" y="11691"/>
                </a:cubicBezTo>
                <a:lnTo>
                  <a:pt x="6557" y="8886"/>
                </a:lnTo>
                <a:cubicBezTo>
                  <a:pt x="6686" y="8908"/>
                  <a:pt x="6815" y="8931"/>
                  <a:pt x="6944" y="8931"/>
                </a:cubicBezTo>
                <a:cubicBezTo>
                  <a:pt x="7070" y="8931"/>
                  <a:pt x="7199" y="8908"/>
                  <a:pt x="7328" y="8886"/>
                </a:cubicBezTo>
                <a:close/>
                <a:moveTo>
                  <a:pt x="4582" y="12182"/>
                </a:moveTo>
                <a:cubicBezTo>
                  <a:pt x="4804" y="12182"/>
                  <a:pt x="4992" y="12356"/>
                  <a:pt x="4992" y="12577"/>
                </a:cubicBezTo>
                <a:cubicBezTo>
                  <a:pt x="4992" y="12799"/>
                  <a:pt x="4804" y="12987"/>
                  <a:pt x="4582" y="12987"/>
                </a:cubicBezTo>
                <a:cubicBezTo>
                  <a:pt x="4360" y="12987"/>
                  <a:pt x="4184" y="12799"/>
                  <a:pt x="4184" y="12577"/>
                </a:cubicBezTo>
                <a:cubicBezTo>
                  <a:pt x="4184" y="12356"/>
                  <a:pt x="4360" y="12182"/>
                  <a:pt x="4582" y="12182"/>
                </a:cubicBezTo>
                <a:close/>
                <a:moveTo>
                  <a:pt x="9303" y="12182"/>
                </a:moveTo>
                <a:cubicBezTo>
                  <a:pt x="9525" y="12182"/>
                  <a:pt x="9702" y="12356"/>
                  <a:pt x="9702" y="12577"/>
                </a:cubicBezTo>
                <a:cubicBezTo>
                  <a:pt x="9702" y="12799"/>
                  <a:pt x="9525" y="12987"/>
                  <a:pt x="9303" y="12987"/>
                </a:cubicBezTo>
                <a:cubicBezTo>
                  <a:pt x="9071" y="12987"/>
                  <a:pt x="8894" y="12799"/>
                  <a:pt x="8894" y="12577"/>
                </a:cubicBezTo>
                <a:cubicBezTo>
                  <a:pt x="8894" y="12356"/>
                  <a:pt x="9071" y="12182"/>
                  <a:pt x="9303" y="12182"/>
                </a:cubicBezTo>
                <a:close/>
                <a:moveTo>
                  <a:pt x="4554" y="0"/>
                </a:moveTo>
                <a:cubicBezTo>
                  <a:pt x="4536" y="0"/>
                  <a:pt x="4518" y="1"/>
                  <a:pt x="4501" y="1"/>
                </a:cubicBezTo>
                <a:cubicBezTo>
                  <a:pt x="3892" y="35"/>
                  <a:pt x="3390" y="540"/>
                  <a:pt x="3367" y="1157"/>
                </a:cubicBezTo>
                <a:cubicBezTo>
                  <a:pt x="3353" y="1367"/>
                  <a:pt x="3390" y="1567"/>
                  <a:pt x="3482" y="1743"/>
                </a:cubicBezTo>
                <a:lnTo>
                  <a:pt x="1765" y="3449"/>
                </a:lnTo>
                <a:cubicBezTo>
                  <a:pt x="1606" y="3376"/>
                  <a:pt x="1428" y="3330"/>
                  <a:pt x="1240" y="3330"/>
                </a:cubicBezTo>
                <a:cubicBezTo>
                  <a:pt x="1220" y="3330"/>
                  <a:pt x="1200" y="3330"/>
                  <a:pt x="1179" y="3331"/>
                </a:cubicBezTo>
                <a:cubicBezTo>
                  <a:pt x="562" y="3368"/>
                  <a:pt x="57" y="3859"/>
                  <a:pt x="35" y="4479"/>
                </a:cubicBezTo>
                <a:cubicBezTo>
                  <a:pt x="1" y="5040"/>
                  <a:pt x="352" y="5519"/>
                  <a:pt x="843" y="5693"/>
                </a:cubicBezTo>
                <a:lnTo>
                  <a:pt x="843" y="8114"/>
                </a:lnTo>
                <a:cubicBezTo>
                  <a:pt x="352" y="8288"/>
                  <a:pt x="1" y="8768"/>
                  <a:pt x="35" y="9329"/>
                </a:cubicBezTo>
                <a:cubicBezTo>
                  <a:pt x="57" y="9949"/>
                  <a:pt x="562" y="10440"/>
                  <a:pt x="1179" y="10473"/>
                </a:cubicBezTo>
                <a:cubicBezTo>
                  <a:pt x="1201" y="10475"/>
                  <a:pt x="1222" y="10475"/>
                  <a:pt x="1243" y="10475"/>
                </a:cubicBezTo>
                <a:cubicBezTo>
                  <a:pt x="1430" y="10475"/>
                  <a:pt x="1607" y="10432"/>
                  <a:pt x="1765" y="10358"/>
                </a:cubicBezTo>
                <a:lnTo>
                  <a:pt x="3482" y="12075"/>
                </a:lnTo>
                <a:cubicBezTo>
                  <a:pt x="3390" y="12238"/>
                  <a:pt x="3353" y="12437"/>
                  <a:pt x="3367" y="12648"/>
                </a:cubicBezTo>
                <a:cubicBezTo>
                  <a:pt x="3390" y="13268"/>
                  <a:pt x="3892" y="13770"/>
                  <a:pt x="4501" y="13806"/>
                </a:cubicBezTo>
                <a:cubicBezTo>
                  <a:pt x="4526" y="13808"/>
                  <a:pt x="4550" y="13808"/>
                  <a:pt x="4575" y="13808"/>
                </a:cubicBezTo>
                <a:cubicBezTo>
                  <a:pt x="5104" y="13808"/>
                  <a:pt x="5549" y="13467"/>
                  <a:pt x="5715" y="12998"/>
                </a:cubicBezTo>
                <a:lnTo>
                  <a:pt x="8148" y="12998"/>
                </a:lnTo>
                <a:cubicBezTo>
                  <a:pt x="8303" y="13467"/>
                  <a:pt x="8758" y="13808"/>
                  <a:pt x="9278" y="13808"/>
                </a:cubicBezTo>
                <a:cubicBezTo>
                  <a:pt x="9302" y="13808"/>
                  <a:pt x="9327" y="13808"/>
                  <a:pt x="9351" y="13806"/>
                </a:cubicBezTo>
                <a:cubicBezTo>
                  <a:pt x="9971" y="13770"/>
                  <a:pt x="10473" y="13268"/>
                  <a:pt x="10496" y="12648"/>
                </a:cubicBezTo>
                <a:cubicBezTo>
                  <a:pt x="10507" y="12437"/>
                  <a:pt x="10462" y="12238"/>
                  <a:pt x="10381" y="12075"/>
                </a:cubicBezTo>
                <a:lnTo>
                  <a:pt x="12097" y="10358"/>
                </a:lnTo>
                <a:cubicBezTo>
                  <a:pt x="12249" y="10429"/>
                  <a:pt x="12437" y="10473"/>
                  <a:pt x="12625" y="10473"/>
                </a:cubicBezTo>
                <a:cubicBezTo>
                  <a:pt x="13290" y="10473"/>
                  <a:pt x="13828" y="9924"/>
                  <a:pt x="13828" y="9259"/>
                </a:cubicBezTo>
                <a:cubicBezTo>
                  <a:pt x="13828" y="8731"/>
                  <a:pt x="13489" y="8288"/>
                  <a:pt x="13020" y="8114"/>
                </a:cubicBezTo>
                <a:lnTo>
                  <a:pt x="13020" y="5693"/>
                </a:lnTo>
                <a:cubicBezTo>
                  <a:pt x="13511" y="5519"/>
                  <a:pt x="13862" y="5040"/>
                  <a:pt x="13828" y="4479"/>
                </a:cubicBezTo>
                <a:cubicBezTo>
                  <a:pt x="13792" y="3859"/>
                  <a:pt x="13290" y="3368"/>
                  <a:pt x="12681" y="3331"/>
                </a:cubicBezTo>
                <a:cubicBezTo>
                  <a:pt x="12661" y="3330"/>
                  <a:pt x="12640" y="3330"/>
                  <a:pt x="12620" y="3330"/>
                </a:cubicBezTo>
                <a:cubicBezTo>
                  <a:pt x="12433" y="3330"/>
                  <a:pt x="12257" y="3376"/>
                  <a:pt x="12097" y="3449"/>
                </a:cubicBezTo>
                <a:lnTo>
                  <a:pt x="10381" y="1743"/>
                </a:lnTo>
                <a:cubicBezTo>
                  <a:pt x="10462" y="1567"/>
                  <a:pt x="10507" y="1367"/>
                  <a:pt x="10496" y="1157"/>
                </a:cubicBezTo>
                <a:cubicBezTo>
                  <a:pt x="10473" y="540"/>
                  <a:pt x="9971" y="35"/>
                  <a:pt x="9351" y="1"/>
                </a:cubicBezTo>
                <a:cubicBezTo>
                  <a:pt x="9334" y="1"/>
                  <a:pt x="9316" y="0"/>
                  <a:pt x="9299" y="0"/>
                </a:cubicBezTo>
                <a:cubicBezTo>
                  <a:pt x="8771" y="0"/>
                  <a:pt x="8316" y="331"/>
                  <a:pt x="8148" y="806"/>
                </a:cubicBezTo>
                <a:lnTo>
                  <a:pt x="5715" y="806"/>
                </a:lnTo>
                <a:cubicBezTo>
                  <a:pt x="5547" y="331"/>
                  <a:pt x="5092" y="0"/>
                  <a:pt x="455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2502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EED7E-9738-E365-2728-620C257C7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12C2AC13-F25D-26F6-3AF9-753EF299C704}"/>
              </a:ext>
            </a:extLst>
          </p:cNvPr>
          <p:cNvSpPr/>
          <p:nvPr/>
        </p:nvSpPr>
        <p:spPr>
          <a:xfrm>
            <a:off x="4380430" y="1552044"/>
            <a:ext cx="4304828" cy="1215462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ndara" panose="020E0502030303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E34EC4-DC44-A30A-9DAB-4CD23C410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258" y="437768"/>
            <a:ext cx="7704000" cy="572700"/>
          </a:xfrm>
        </p:spPr>
        <p:txBody>
          <a:bodyPr/>
          <a:lstStyle/>
          <a:p>
            <a:r>
              <a:rPr lang="ru-RU" altLang="zh-CN" b="1" dirty="0">
                <a:latin typeface="Candara" panose="020E0502030303020204" pitchFamily="34" charset="0"/>
              </a:rPr>
              <a:t>Байесовская оптимизация (</a:t>
            </a:r>
            <a:r>
              <a:rPr lang="en-US" altLang="zh-CN" b="1" dirty="0" err="1">
                <a:latin typeface="Candara" panose="020E0502030303020204" pitchFamily="34" charset="0"/>
              </a:rPr>
              <a:t>Optuna</a:t>
            </a:r>
            <a:r>
              <a:rPr lang="en-US" altLang="zh-CN" b="1" dirty="0">
                <a:latin typeface="Candara" panose="020E0502030303020204" pitchFamily="34" charset="0"/>
              </a:rPr>
              <a:t>)</a:t>
            </a:r>
            <a:endParaRPr lang="zh-CN" altLang="en-US" b="1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C782113-6668-8B77-7DE8-86A156FEB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829" y="1810256"/>
            <a:ext cx="2864695" cy="957250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Строит вероятностную модель целевой функции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Балансирует </a:t>
            </a:r>
            <a:r>
              <a:rPr lang="ru-RU" altLang="zh-CN" dirty="0" err="1">
                <a:latin typeface="Candara" panose="020E0502030303020204" pitchFamily="34" charset="0"/>
              </a:rPr>
              <a:t>exploration</a:t>
            </a:r>
            <a:r>
              <a:rPr lang="ru-RU" altLang="zh-CN" dirty="0">
                <a:latin typeface="Candara" panose="020E0502030303020204" pitchFamily="34" charset="0"/>
              </a:rPr>
              <a:t>/</a:t>
            </a:r>
            <a:r>
              <a:rPr lang="ru-RU" altLang="zh-CN" dirty="0" err="1">
                <a:latin typeface="Candara" panose="020E0502030303020204" pitchFamily="34" charset="0"/>
              </a:rPr>
              <a:t>exploitation</a:t>
            </a:r>
            <a:endParaRPr lang="ru-RU" altLang="zh-CN" dirty="0">
              <a:latin typeface="Candara" panose="020E0502030303020204" pitchFamily="34" charset="0"/>
            </a:endParaRPr>
          </a:p>
          <a:p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A5857F15-4E33-26CA-2280-1249E4EEA595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450552" y="3309082"/>
            <a:ext cx="3118473" cy="1501800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Умный поиск - учится на предыдущих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итерациях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Эффективен для дорогих функций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Хорош для сложных пространств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341B904E-CBBB-0D1E-81BD-B6E2A65C2337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800213" y="3370093"/>
            <a:ext cx="3662057" cy="689889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Сложность реализации</a:t>
            </a:r>
          </a:p>
          <a:p>
            <a:r>
              <a:rPr lang="ru-RU" altLang="zh-CN" dirty="0">
                <a:latin typeface="Candara" panose="020E0502030303020204" pitchFamily="34" charset="0"/>
              </a:rPr>
              <a:t>Зависимость от выбора</a:t>
            </a:r>
          </a:p>
          <a:p>
            <a:r>
              <a:rPr lang="ru-RU" altLang="zh-CN" dirty="0" err="1">
                <a:latin typeface="Candara" panose="020E0502030303020204" pitchFamily="34" charset="0"/>
              </a:rPr>
              <a:t>surrogate</a:t>
            </a:r>
            <a:r>
              <a:rPr lang="ru-RU" altLang="zh-CN" dirty="0">
                <a:latin typeface="Candara" panose="020E0502030303020204" pitchFamily="34" charset="0"/>
              </a:rPr>
              <a:t> </a:t>
            </a:r>
            <a:r>
              <a:rPr lang="ru-RU" altLang="zh-CN" dirty="0" err="1">
                <a:latin typeface="Candara" panose="020E0502030303020204" pitchFamily="34" charset="0"/>
              </a:rPr>
              <a:t>model</a:t>
            </a:r>
            <a:endParaRPr lang="ru-RU" altLang="zh-CN" dirty="0">
              <a:latin typeface="Candara" panose="020E0502030303020204" pitchFamily="34" charset="0"/>
            </a:endParaRPr>
          </a:p>
          <a:p>
            <a:endParaRPr lang="zh-CN" altLang="en-US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DA975E96-8F83-3827-9EC7-725805AC9DFB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68752" y="1343770"/>
            <a:ext cx="2136311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Принцип работы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24A204BB-D004-4A15-CF5A-4586AD26C83F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1268752" y="2912408"/>
            <a:ext cx="2260200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Преимущества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72FD6319-CEC3-4EF2-1AEC-5841EAC0A0D3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4775675" y="2918126"/>
            <a:ext cx="2069656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Недостатки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grpSp>
        <p:nvGrpSpPr>
          <p:cNvPr id="9" name="Google Shape;1233;p47">
            <a:extLst>
              <a:ext uri="{FF2B5EF4-FFF2-40B4-BE49-F238E27FC236}">
                <a16:creationId xmlns:a16="http://schemas.microsoft.com/office/drawing/2014/main" id="{FD363579-0F70-1F5D-DC09-98BB5C4B4CB9}"/>
              </a:ext>
            </a:extLst>
          </p:cNvPr>
          <p:cNvGrpSpPr/>
          <p:nvPr/>
        </p:nvGrpSpPr>
        <p:grpSpPr>
          <a:xfrm>
            <a:off x="4414253" y="1963069"/>
            <a:ext cx="6577836" cy="2799873"/>
            <a:chOff x="2320585" y="-1326942"/>
            <a:chExt cx="5859225" cy="2360405"/>
          </a:xfrm>
        </p:grpSpPr>
        <p:sp>
          <p:nvSpPr>
            <p:cNvPr id="10" name="Google Shape;1234;p47">
              <a:extLst>
                <a:ext uri="{FF2B5EF4-FFF2-40B4-BE49-F238E27FC236}">
                  <a16:creationId xmlns:a16="http://schemas.microsoft.com/office/drawing/2014/main" id="{0B5EBA12-9BCB-14F6-C2CB-53E0A72FD5BD}"/>
                </a:ext>
              </a:extLst>
            </p:cNvPr>
            <p:cNvSpPr/>
            <p:nvPr/>
          </p:nvSpPr>
          <p:spPr>
            <a:xfrm>
              <a:off x="2320585" y="-104237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1" name="Google Shape;1235;p47">
              <a:extLst>
                <a:ext uri="{FF2B5EF4-FFF2-40B4-BE49-F238E27FC236}">
                  <a16:creationId xmlns:a16="http://schemas.microsoft.com/office/drawing/2014/main" id="{8E5CC35A-445E-48B0-B001-3EC949AF845C}"/>
                </a:ext>
              </a:extLst>
            </p:cNvPr>
            <p:cNvGrpSpPr/>
            <p:nvPr/>
          </p:nvGrpSpPr>
          <p:grpSpPr>
            <a:xfrm rot="-5400000">
              <a:off x="7216713" y="-925832"/>
              <a:ext cx="1076536" cy="274315"/>
              <a:chOff x="7137512" y="6308643"/>
              <a:chExt cx="3816146" cy="972402"/>
            </a:xfrm>
          </p:grpSpPr>
          <p:sp>
            <p:nvSpPr>
              <p:cNvPr id="12" name="Google Shape;1236;p47">
                <a:extLst>
                  <a:ext uri="{FF2B5EF4-FFF2-40B4-BE49-F238E27FC236}">
                    <a16:creationId xmlns:a16="http://schemas.microsoft.com/office/drawing/2014/main" id="{EEF83D9B-88D8-FC0C-FB5D-27E3B9DB6F4D}"/>
                  </a:ext>
                </a:extLst>
              </p:cNvPr>
              <p:cNvSpPr/>
              <p:nvPr/>
            </p:nvSpPr>
            <p:spPr>
              <a:xfrm rot="10800000">
                <a:off x="7137512" y="6308643"/>
                <a:ext cx="1231991" cy="703353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237;p47">
                <a:extLst>
                  <a:ext uri="{FF2B5EF4-FFF2-40B4-BE49-F238E27FC236}">
                    <a16:creationId xmlns:a16="http://schemas.microsoft.com/office/drawing/2014/main" id="{F6041F62-423C-9A0C-4477-BA9BC912DA4F}"/>
                  </a:ext>
                </a:extLst>
              </p:cNvPr>
              <p:cNvSpPr/>
              <p:nvPr/>
            </p:nvSpPr>
            <p:spPr>
              <a:xfrm rot="10800000">
                <a:off x="10326151" y="6660319"/>
                <a:ext cx="627507" cy="6207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" name="Google Shape;1388;p48">
            <a:extLst>
              <a:ext uri="{FF2B5EF4-FFF2-40B4-BE49-F238E27FC236}">
                <a16:creationId xmlns:a16="http://schemas.microsoft.com/office/drawing/2014/main" id="{51B10C13-49B5-F754-AF0D-43DACA46F9CB}"/>
              </a:ext>
            </a:extLst>
          </p:cNvPr>
          <p:cNvGrpSpPr/>
          <p:nvPr/>
        </p:nvGrpSpPr>
        <p:grpSpPr>
          <a:xfrm>
            <a:off x="4572000" y="3018206"/>
            <a:ext cx="331975" cy="344800"/>
            <a:chOff x="6285563" y="2681150"/>
            <a:chExt cx="331975" cy="344800"/>
          </a:xfrm>
        </p:grpSpPr>
        <p:sp>
          <p:nvSpPr>
            <p:cNvPr id="20" name="Google Shape;1389;p48">
              <a:extLst>
                <a:ext uri="{FF2B5EF4-FFF2-40B4-BE49-F238E27FC236}">
                  <a16:creationId xmlns:a16="http://schemas.microsoft.com/office/drawing/2014/main" id="{21E5CE7C-7AEA-C0D1-0322-BBBED7CBD8AF}"/>
                </a:ext>
              </a:extLst>
            </p:cNvPr>
            <p:cNvSpPr/>
            <p:nvPr/>
          </p:nvSpPr>
          <p:spPr>
            <a:xfrm>
              <a:off x="6285563" y="2721475"/>
              <a:ext cx="236175" cy="304475"/>
            </a:xfrm>
            <a:custGeom>
              <a:avLst/>
              <a:gdLst/>
              <a:ahLst/>
              <a:cxnLst/>
              <a:rect l="l" t="t" r="r" b="b"/>
              <a:pathLst>
                <a:path w="9447" h="12179" extrusionOk="0">
                  <a:moveTo>
                    <a:pt x="4313" y="831"/>
                  </a:moveTo>
                  <a:lnTo>
                    <a:pt x="4313" y="1765"/>
                  </a:lnTo>
                  <a:cubicBezTo>
                    <a:pt x="4313" y="1978"/>
                    <a:pt x="4487" y="2150"/>
                    <a:pt x="4698" y="2150"/>
                  </a:cubicBezTo>
                  <a:cubicBezTo>
                    <a:pt x="4706" y="2150"/>
                    <a:pt x="4714" y="2150"/>
                    <a:pt x="4722" y="2149"/>
                  </a:cubicBezTo>
                  <a:cubicBezTo>
                    <a:pt x="5003" y="2149"/>
                    <a:pt x="5213" y="2444"/>
                    <a:pt x="5084" y="2736"/>
                  </a:cubicBezTo>
                  <a:cubicBezTo>
                    <a:pt x="5028" y="2876"/>
                    <a:pt x="4888" y="2969"/>
                    <a:pt x="4722" y="2969"/>
                  </a:cubicBezTo>
                  <a:cubicBezTo>
                    <a:pt x="4501" y="2969"/>
                    <a:pt x="4313" y="3145"/>
                    <a:pt x="4313" y="3367"/>
                  </a:cubicBezTo>
                  <a:lnTo>
                    <a:pt x="4313" y="4312"/>
                  </a:lnTo>
                  <a:lnTo>
                    <a:pt x="3707" y="4312"/>
                  </a:lnTo>
                  <a:cubicBezTo>
                    <a:pt x="3541" y="3847"/>
                    <a:pt x="3098" y="3507"/>
                    <a:pt x="2573" y="3507"/>
                  </a:cubicBezTo>
                  <a:cubicBezTo>
                    <a:pt x="2035" y="3507"/>
                    <a:pt x="1592" y="3847"/>
                    <a:pt x="1426" y="4312"/>
                  </a:cubicBezTo>
                  <a:lnTo>
                    <a:pt x="831" y="4312"/>
                  </a:lnTo>
                  <a:cubicBezTo>
                    <a:pt x="1031" y="2478"/>
                    <a:pt x="2489" y="1016"/>
                    <a:pt x="4313" y="831"/>
                  </a:cubicBezTo>
                  <a:close/>
                  <a:moveTo>
                    <a:pt x="2570" y="4311"/>
                  </a:moveTo>
                  <a:cubicBezTo>
                    <a:pt x="2627" y="4311"/>
                    <a:pt x="2687" y="4323"/>
                    <a:pt x="2747" y="4349"/>
                  </a:cubicBezTo>
                  <a:cubicBezTo>
                    <a:pt x="2888" y="4408"/>
                    <a:pt x="2969" y="4559"/>
                    <a:pt x="2969" y="4711"/>
                  </a:cubicBezTo>
                  <a:cubicBezTo>
                    <a:pt x="2969" y="4944"/>
                    <a:pt x="3157" y="5120"/>
                    <a:pt x="3379" y="5120"/>
                  </a:cubicBezTo>
                  <a:lnTo>
                    <a:pt x="4313" y="5120"/>
                  </a:lnTo>
                  <a:lnTo>
                    <a:pt x="4313" y="6077"/>
                  </a:lnTo>
                  <a:cubicBezTo>
                    <a:pt x="4313" y="6294"/>
                    <a:pt x="4489" y="6465"/>
                    <a:pt x="4702" y="6465"/>
                  </a:cubicBezTo>
                  <a:cubicBezTo>
                    <a:pt x="4709" y="6465"/>
                    <a:pt x="4716" y="6464"/>
                    <a:pt x="4722" y="6464"/>
                  </a:cubicBezTo>
                  <a:cubicBezTo>
                    <a:pt x="5003" y="6464"/>
                    <a:pt x="5213" y="6756"/>
                    <a:pt x="5084" y="7048"/>
                  </a:cubicBezTo>
                  <a:cubicBezTo>
                    <a:pt x="5028" y="7188"/>
                    <a:pt x="4888" y="7283"/>
                    <a:pt x="4722" y="7283"/>
                  </a:cubicBezTo>
                  <a:cubicBezTo>
                    <a:pt x="4501" y="7283"/>
                    <a:pt x="4313" y="7457"/>
                    <a:pt x="4313" y="7679"/>
                  </a:cubicBezTo>
                  <a:lnTo>
                    <a:pt x="4313" y="9701"/>
                  </a:lnTo>
                  <a:lnTo>
                    <a:pt x="3216" y="9701"/>
                  </a:lnTo>
                  <a:cubicBezTo>
                    <a:pt x="3121" y="8907"/>
                    <a:pt x="2736" y="8170"/>
                    <a:pt x="2127" y="7645"/>
                  </a:cubicBezTo>
                  <a:cubicBezTo>
                    <a:pt x="1392" y="6989"/>
                    <a:pt x="935" y="6091"/>
                    <a:pt x="831" y="5120"/>
                  </a:cubicBezTo>
                  <a:lnTo>
                    <a:pt x="1766" y="5120"/>
                  </a:lnTo>
                  <a:cubicBezTo>
                    <a:pt x="1987" y="5120"/>
                    <a:pt x="2164" y="4944"/>
                    <a:pt x="2164" y="4722"/>
                  </a:cubicBezTo>
                  <a:cubicBezTo>
                    <a:pt x="2164" y="4498"/>
                    <a:pt x="2343" y="4311"/>
                    <a:pt x="2570" y="4311"/>
                  </a:cubicBezTo>
                  <a:close/>
                  <a:moveTo>
                    <a:pt x="8616" y="5120"/>
                  </a:moveTo>
                  <a:cubicBezTo>
                    <a:pt x="8510" y="6091"/>
                    <a:pt x="8055" y="6989"/>
                    <a:pt x="7317" y="7645"/>
                  </a:cubicBezTo>
                  <a:cubicBezTo>
                    <a:pt x="6711" y="8170"/>
                    <a:pt x="6324" y="8907"/>
                    <a:pt x="6232" y="9701"/>
                  </a:cubicBezTo>
                  <a:lnTo>
                    <a:pt x="5132" y="9701"/>
                  </a:lnTo>
                  <a:lnTo>
                    <a:pt x="5132" y="8018"/>
                  </a:lnTo>
                  <a:cubicBezTo>
                    <a:pt x="5600" y="7855"/>
                    <a:pt x="5940" y="7398"/>
                    <a:pt x="5940" y="6874"/>
                  </a:cubicBezTo>
                  <a:cubicBezTo>
                    <a:pt x="5940" y="6346"/>
                    <a:pt x="5600" y="5903"/>
                    <a:pt x="5132" y="5726"/>
                  </a:cubicBezTo>
                  <a:lnTo>
                    <a:pt x="5132" y="5120"/>
                  </a:lnTo>
                  <a:lnTo>
                    <a:pt x="5741" y="5120"/>
                  </a:lnTo>
                  <a:cubicBezTo>
                    <a:pt x="5903" y="5586"/>
                    <a:pt x="6347" y="5925"/>
                    <a:pt x="6885" y="5925"/>
                  </a:cubicBezTo>
                  <a:cubicBezTo>
                    <a:pt x="7413" y="5925"/>
                    <a:pt x="7856" y="5586"/>
                    <a:pt x="8019" y="5120"/>
                  </a:cubicBezTo>
                  <a:close/>
                  <a:moveTo>
                    <a:pt x="6206" y="10509"/>
                  </a:moveTo>
                  <a:lnTo>
                    <a:pt x="6206" y="11244"/>
                  </a:lnTo>
                  <a:cubicBezTo>
                    <a:pt x="6206" y="11314"/>
                    <a:pt x="6150" y="11373"/>
                    <a:pt x="6066" y="11373"/>
                  </a:cubicBezTo>
                  <a:lnTo>
                    <a:pt x="3379" y="11373"/>
                  </a:lnTo>
                  <a:cubicBezTo>
                    <a:pt x="3297" y="11373"/>
                    <a:pt x="3238" y="11314"/>
                    <a:pt x="3238" y="11244"/>
                  </a:cubicBezTo>
                  <a:lnTo>
                    <a:pt x="3238" y="10509"/>
                  </a:lnTo>
                  <a:close/>
                  <a:moveTo>
                    <a:pt x="4734" y="1"/>
                  </a:moveTo>
                  <a:cubicBezTo>
                    <a:pt x="2127" y="1"/>
                    <a:pt x="1" y="2116"/>
                    <a:pt x="1" y="4722"/>
                  </a:cubicBezTo>
                  <a:cubicBezTo>
                    <a:pt x="1" y="6066"/>
                    <a:pt x="584" y="7353"/>
                    <a:pt x="1592" y="8240"/>
                  </a:cubicBezTo>
                  <a:cubicBezTo>
                    <a:pt x="2127" y="8720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758"/>
                    <a:pt x="2854" y="12178"/>
                    <a:pt x="3379" y="12178"/>
                  </a:cubicBezTo>
                  <a:lnTo>
                    <a:pt x="6066" y="12178"/>
                  </a:lnTo>
                  <a:cubicBezTo>
                    <a:pt x="6593" y="12178"/>
                    <a:pt x="7014" y="11758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20"/>
                    <a:pt x="7856" y="8240"/>
                  </a:cubicBezTo>
                  <a:cubicBezTo>
                    <a:pt x="8860" y="7353"/>
                    <a:pt x="9447" y="6066"/>
                    <a:pt x="9447" y="4722"/>
                  </a:cubicBezTo>
                  <a:cubicBezTo>
                    <a:pt x="9447" y="4500"/>
                    <a:pt x="9259" y="4312"/>
                    <a:pt x="9037" y="4312"/>
                  </a:cubicBezTo>
                  <a:lnTo>
                    <a:pt x="7679" y="4312"/>
                  </a:lnTo>
                  <a:cubicBezTo>
                    <a:pt x="7458" y="4312"/>
                    <a:pt x="7284" y="4500"/>
                    <a:pt x="7284" y="4711"/>
                  </a:cubicBezTo>
                  <a:cubicBezTo>
                    <a:pt x="7284" y="4935"/>
                    <a:pt x="7104" y="5122"/>
                    <a:pt x="6884" y="5122"/>
                  </a:cubicBezTo>
                  <a:cubicBezTo>
                    <a:pt x="6828" y="5122"/>
                    <a:pt x="6770" y="5110"/>
                    <a:pt x="6711" y="5084"/>
                  </a:cubicBezTo>
                  <a:cubicBezTo>
                    <a:pt x="6557" y="5025"/>
                    <a:pt x="6476" y="4873"/>
                    <a:pt x="6476" y="4722"/>
                  </a:cubicBezTo>
                  <a:cubicBezTo>
                    <a:pt x="6476" y="4500"/>
                    <a:pt x="6302" y="4312"/>
                    <a:pt x="6066" y="4312"/>
                  </a:cubicBezTo>
                  <a:lnTo>
                    <a:pt x="5132" y="4312"/>
                  </a:lnTo>
                  <a:lnTo>
                    <a:pt x="5132" y="3706"/>
                  </a:lnTo>
                  <a:cubicBezTo>
                    <a:pt x="5600" y="3541"/>
                    <a:pt x="5940" y="3086"/>
                    <a:pt x="5940" y="2559"/>
                  </a:cubicBezTo>
                  <a:cubicBezTo>
                    <a:pt x="5940" y="2034"/>
                    <a:pt x="5600" y="1577"/>
                    <a:pt x="5132" y="1414"/>
                  </a:cubicBezTo>
                  <a:lnTo>
                    <a:pt x="5132" y="396"/>
                  </a:lnTo>
                  <a:cubicBezTo>
                    <a:pt x="5132" y="175"/>
                    <a:pt x="4958" y="1"/>
                    <a:pt x="4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1" name="Google Shape;1390;p48">
              <a:extLst>
                <a:ext uri="{FF2B5EF4-FFF2-40B4-BE49-F238E27FC236}">
                  <a16:creationId xmlns:a16="http://schemas.microsoft.com/office/drawing/2014/main" id="{AEF3B1F0-D6FF-A579-CB30-45D2F5844697}"/>
                </a:ext>
              </a:extLst>
            </p:cNvPr>
            <p:cNvSpPr/>
            <p:nvPr/>
          </p:nvSpPr>
          <p:spPr>
            <a:xfrm>
              <a:off x="6489238" y="2681150"/>
              <a:ext cx="128300" cy="148150"/>
            </a:xfrm>
            <a:custGeom>
              <a:avLst/>
              <a:gdLst/>
              <a:ahLst/>
              <a:cxnLst/>
              <a:rect l="l" t="t" r="r" b="b"/>
              <a:pathLst>
                <a:path w="5132" h="5926" extrusionOk="0">
                  <a:moveTo>
                    <a:pt x="809" y="817"/>
                  </a:moveTo>
                  <a:cubicBezTo>
                    <a:pt x="2643" y="1016"/>
                    <a:pt x="4105" y="2478"/>
                    <a:pt x="4290" y="4312"/>
                  </a:cubicBezTo>
                  <a:lnTo>
                    <a:pt x="3367" y="4312"/>
                  </a:lnTo>
                  <a:cubicBezTo>
                    <a:pt x="3145" y="4312"/>
                    <a:pt x="2969" y="4489"/>
                    <a:pt x="2969" y="4711"/>
                  </a:cubicBezTo>
                  <a:cubicBezTo>
                    <a:pt x="2969" y="4873"/>
                    <a:pt x="2876" y="5014"/>
                    <a:pt x="2736" y="5084"/>
                  </a:cubicBezTo>
                  <a:cubicBezTo>
                    <a:pt x="2679" y="5107"/>
                    <a:pt x="2622" y="5117"/>
                    <a:pt x="2568" y="5117"/>
                  </a:cubicBezTo>
                  <a:cubicBezTo>
                    <a:pt x="2345" y="5117"/>
                    <a:pt x="2164" y="4939"/>
                    <a:pt x="2164" y="4722"/>
                  </a:cubicBezTo>
                  <a:cubicBezTo>
                    <a:pt x="2152" y="4489"/>
                    <a:pt x="1976" y="4312"/>
                    <a:pt x="1754" y="4312"/>
                  </a:cubicBezTo>
                  <a:lnTo>
                    <a:pt x="809" y="4312"/>
                  </a:lnTo>
                  <a:lnTo>
                    <a:pt x="809" y="3706"/>
                  </a:lnTo>
                  <a:cubicBezTo>
                    <a:pt x="1274" y="3530"/>
                    <a:pt x="1614" y="3086"/>
                    <a:pt x="1614" y="2559"/>
                  </a:cubicBezTo>
                  <a:cubicBezTo>
                    <a:pt x="1614" y="2034"/>
                    <a:pt x="1274" y="1577"/>
                    <a:pt x="809" y="1414"/>
                  </a:cubicBezTo>
                  <a:lnTo>
                    <a:pt x="809" y="817"/>
                  </a:lnTo>
                  <a:close/>
                  <a:moveTo>
                    <a:pt x="420" y="1"/>
                  </a:moveTo>
                  <a:cubicBezTo>
                    <a:pt x="413" y="1"/>
                    <a:pt x="406" y="1"/>
                    <a:pt x="399" y="1"/>
                  </a:cubicBezTo>
                  <a:cubicBezTo>
                    <a:pt x="177" y="1"/>
                    <a:pt x="1" y="174"/>
                    <a:pt x="1" y="385"/>
                  </a:cubicBezTo>
                  <a:lnTo>
                    <a:pt x="1" y="1754"/>
                  </a:lnTo>
                  <a:cubicBezTo>
                    <a:pt x="1" y="1975"/>
                    <a:pt x="189" y="2149"/>
                    <a:pt x="399" y="2149"/>
                  </a:cubicBezTo>
                  <a:cubicBezTo>
                    <a:pt x="680" y="2149"/>
                    <a:pt x="901" y="2430"/>
                    <a:pt x="772" y="2736"/>
                  </a:cubicBezTo>
                  <a:cubicBezTo>
                    <a:pt x="713" y="2876"/>
                    <a:pt x="562" y="2957"/>
                    <a:pt x="410" y="2957"/>
                  </a:cubicBezTo>
                  <a:cubicBezTo>
                    <a:pt x="189" y="2957"/>
                    <a:pt x="1" y="3145"/>
                    <a:pt x="1" y="3367"/>
                  </a:cubicBezTo>
                  <a:lnTo>
                    <a:pt x="1" y="4722"/>
                  </a:lnTo>
                  <a:cubicBezTo>
                    <a:pt x="1" y="4944"/>
                    <a:pt x="177" y="5120"/>
                    <a:pt x="399" y="5120"/>
                  </a:cubicBezTo>
                  <a:lnTo>
                    <a:pt x="1415" y="5120"/>
                  </a:lnTo>
                  <a:cubicBezTo>
                    <a:pt x="1591" y="5586"/>
                    <a:pt x="2035" y="5925"/>
                    <a:pt x="2562" y="5925"/>
                  </a:cubicBezTo>
                  <a:cubicBezTo>
                    <a:pt x="3086" y="5925"/>
                    <a:pt x="3544" y="5586"/>
                    <a:pt x="3706" y="5120"/>
                  </a:cubicBezTo>
                  <a:lnTo>
                    <a:pt x="4722" y="5120"/>
                  </a:lnTo>
                  <a:cubicBezTo>
                    <a:pt x="4946" y="5120"/>
                    <a:pt x="5120" y="4944"/>
                    <a:pt x="5120" y="4722"/>
                  </a:cubicBezTo>
                  <a:cubicBezTo>
                    <a:pt x="5132" y="2123"/>
                    <a:pt x="3016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22" name="Google Shape;1282;p48">
            <a:extLst>
              <a:ext uri="{FF2B5EF4-FFF2-40B4-BE49-F238E27FC236}">
                <a16:creationId xmlns:a16="http://schemas.microsoft.com/office/drawing/2014/main" id="{0699CD6F-D954-B083-9367-38DDFE7480D3}"/>
              </a:ext>
            </a:extLst>
          </p:cNvPr>
          <p:cNvGrpSpPr/>
          <p:nvPr/>
        </p:nvGrpSpPr>
        <p:grpSpPr>
          <a:xfrm>
            <a:off x="1102954" y="3021452"/>
            <a:ext cx="346275" cy="345150"/>
            <a:chOff x="5521113" y="3797375"/>
            <a:chExt cx="346275" cy="345150"/>
          </a:xfrm>
        </p:grpSpPr>
        <p:sp>
          <p:nvSpPr>
            <p:cNvPr id="23" name="Google Shape;1283;p48">
              <a:extLst>
                <a:ext uri="{FF2B5EF4-FFF2-40B4-BE49-F238E27FC236}">
                  <a16:creationId xmlns:a16="http://schemas.microsoft.com/office/drawing/2014/main" id="{94F1BD64-03EF-66CB-8579-9947B51FA9C5}"/>
                </a:ext>
              </a:extLst>
            </p:cNvPr>
            <p:cNvSpPr/>
            <p:nvPr/>
          </p:nvSpPr>
          <p:spPr>
            <a:xfrm>
              <a:off x="5576313" y="3797375"/>
              <a:ext cx="235900" cy="345150"/>
            </a:xfrm>
            <a:custGeom>
              <a:avLst/>
              <a:gdLst/>
              <a:ahLst/>
              <a:cxnLst/>
              <a:rect l="l" t="t" r="r" b="b"/>
              <a:pathLst>
                <a:path w="9436" h="13806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4" name="Google Shape;1284;p48">
              <a:extLst>
                <a:ext uri="{FF2B5EF4-FFF2-40B4-BE49-F238E27FC236}">
                  <a16:creationId xmlns:a16="http://schemas.microsoft.com/office/drawing/2014/main" id="{439C5B6E-4CA7-5544-02DF-1FBC6DE038DD}"/>
                </a:ext>
              </a:extLst>
            </p:cNvPr>
            <p:cNvSpPr/>
            <p:nvPr/>
          </p:nvSpPr>
          <p:spPr>
            <a:xfrm>
              <a:off x="5825913" y="3905250"/>
              <a:ext cx="41475" cy="20150"/>
            </a:xfrm>
            <a:custGeom>
              <a:avLst/>
              <a:gdLst/>
              <a:ahLst/>
              <a:cxnLst/>
              <a:rect l="l" t="t" r="r" b="b"/>
              <a:pathLst>
                <a:path w="1659" h="806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5" name="Google Shape;1285;p48">
              <a:extLst>
                <a:ext uri="{FF2B5EF4-FFF2-40B4-BE49-F238E27FC236}">
                  <a16:creationId xmlns:a16="http://schemas.microsoft.com/office/drawing/2014/main" id="{0B0C5750-428F-DE9F-07EE-3B8108E0B694}"/>
                </a:ext>
              </a:extLst>
            </p:cNvPr>
            <p:cNvSpPr/>
            <p:nvPr/>
          </p:nvSpPr>
          <p:spPr>
            <a:xfrm>
              <a:off x="5818288" y="383777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6" name="Google Shape;1286;p48">
              <a:extLst>
                <a:ext uri="{FF2B5EF4-FFF2-40B4-BE49-F238E27FC236}">
                  <a16:creationId xmlns:a16="http://schemas.microsoft.com/office/drawing/2014/main" id="{B32B3C87-3C8E-EDBA-5C07-68F843339C98}"/>
                </a:ext>
              </a:extLst>
            </p:cNvPr>
            <p:cNvSpPr/>
            <p:nvPr/>
          </p:nvSpPr>
          <p:spPr>
            <a:xfrm>
              <a:off x="5818288" y="3962475"/>
              <a:ext cx="40700" cy="30425"/>
            </a:xfrm>
            <a:custGeom>
              <a:avLst/>
              <a:gdLst/>
              <a:ahLst/>
              <a:cxnLst/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7" name="Google Shape;1287;p48">
              <a:extLst>
                <a:ext uri="{FF2B5EF4-FFF2-40B4-BE49-F238E27FC236}">
                  <a16:creationId xmlns:a16="http://schemas.microsoft.com/office/drawing/2014/main" id="{8A314B7D-A869-AA5D-F757-6129D09BD947}"/>
                </a:ext>
              </a:extLst>
            </p:cNvPr>
            <p:cNvSpPr/>
            <p:nvPr/>
          </p:nvSpPr>
          <p:spPr>
            <a:xfrm>
              <a:off x="5521113" y="3905250"/>
              <a:ext cx="41825" cy="20150"/>
            </a:xfrm>
            <a:custGeom>
              <a:avLst/>
              <a:gdLst/>
              <a:ahLst/>
              <a:cxnLst/>
              <a:rect l="l" t="t" r="r" b="b"/>
              <a:pathLst>
                <a:path w="1673" h="806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8" name="Google Shape;1288;p48">
              <a:extLst>
                <a:ext uri="{FF2B5EF4-FFF2-40B4-BE49-F238E27FC236}">
                  <a16:creationId xmlns:a16="http://schemas.microsoft.com/office/drawing/2014/main" id="{A20471A4-1A78-5568-D3DC-3A4C2D0FE716}"/>
                </a:ext>
              </a:extLst>
            </p:cNvPr>
            <p:cNvSpPr/>
            <p:nvPr/>
          </p:nvSpPr>
          <p:spPr>
            <a:xfrm>
              <a:off x="5529888" y="3837775"/>
              <a:ext cx="40350" cy="30375"/>
            </a:xfrm>
            <a:custGeom>
              <a:avLst/>
              <a:gdLst/>
              <a:ahLst/>
              <a:cxnLst/>
              <a:rect l="l" t="t" r="r" b="b"/>
              <a:pathLst>
                <a:path w="1614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9" name="Google Shape;1289;p48">
              <a:extLst>
                <a:ext uri="{FF2B5EF4-FFF2-40B4-BE49-F238E27FC236}">
                  <a16:creationId xmlns:a16="http://schemas.microsoft.com/office/drawing/2014/main" id="{56EF0CF5-CE12-30B4-1F72-00AC65FAC97D}"/>
                </a:ext>
              </a:extLst>
            </p:cNvPr>
            <p:cNvSpPr/>
            <p:nvPr/>
          </p:nvSpPr>
          <p:spPr>
            <a:xfrm>
              <a:off x="5529888" y="3962475"/>
              <a:ext cx="40350" cy="30425"/>
            </a:xfrm>
            <a:custGeom>
              <a:avLst/>
              <a:gdLst/>
              <a:ahLst/>
              <a:cxnLst/>
              <a:rect l="l" t="t" r="r" b="b"/>
              <a:pathLst>
                <a:path w="1614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30" name="Google Shape;1399;p48">
            <a:extLst>
              <a:ext uri="{FF2B5EF4-FFF2-40B4-BE49-F238E27FC236}">
                <a16:creationId xmlns:a16="http://schemas.microsoft.com/office/drawing/2014/main" id="{164D43DA-8609-9BDD-6C73-B6BE6D4A9CF9}"/>
              </a:ext>
            </a:extLst>
          </p:cNvPr>
          <p:cNvSpPr/>
          <p:nvPr/>
        </p:nvSpPr>
        <p:spPr>
          <a:xfrm>
            <a:off x="1096215" y="1412191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3F520AC-53AF-E856-CBD7-DF01A2F456D7}"/>
              </a:ext>
            </a:extLst>
          </p:cNvPr>
          <p:cNvSpPr txBox="1"/>
          <p:nvPr/>
        </p:nvSpPr>
        <p:spPr>
          <a:xfrm>
            <a:off x="4452296" y="1699680"/>
            <a:ext cx="416109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Использует 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surrogate model (</a:t>
            </a:r>
            <a:r>
              <a:rPr lang="ru-RU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часто 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Gaussian Process)</a:t>
            </a:r>
          </a:p>
          <a:p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Acquisition function (EI, UCB) </a:t>
            </a:r>
            <a:r>
              <a:rPr lang="ru-RU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для выбора следующей точки</a:t>
            </a:r>
          </a:p>
        </p:txBody>
      </p:sp>
      <p:sp>
        <p:nvSpPr>
          <p:cNvPr id="36" name="Подзаголовок 5">
            <a:extLst>
              <a:ext uri="{FF2B5EF4-FFF2-40B4-BE49-F238E27FC236}">
                <a16:creationId xmlns:a16="http://schemas.microsoft.com/office/drawing/2014/main" id="{858EB9EC-BBF9-B828-9C10-14D05AD817DC}"/>
              </a:ext>
            </a:extLst>
          </p:cNvPr>
          <p:cNvSpPr txBox="1">
            <a:spLocks/>
          </p:cNvSpPr>
          <p:nvPr/>
        </p:nvSpPr>
        <p:spPr>
          <a:xfrm>
            <a:off x="4936469" y="998700"/>
            <a:ext cx="2969761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ru-RU" altLang="zh-CN" dirty="0">
                <a:latin typeface="Candara" panose="020E0502030303020204" pitchFamily="34" charset="0"/>
              </a:rPr>
              <a:t>Математическая основа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38" name="Google Shape;1484;p48">
            <a:extLst>
              <a:ext uri="{FF2B5EF4-FFF2-40B4-BE49-F238E27FC236}">
                <a16:creationId xmlns:a16="http://schemas.microsoft.com/office/drawing/2014/main" id="{21DB485D-882F-E526-98C9-3B7D572834C6}"/>
              </a:ext>
            </a:extLst>
          </p:cNvPr>
          <p:cNvSpPr/>
          <p:nvPr/>
        </p:nvSpPr>
        <p:spPr>
          <a:xfrm>
            <a:off x="4754742" y="1078314"/>
            <a:ext cx="346575" cy="345225"/>
          </a:xfrm>
          <a:custGeom>
            <a:avLst/>
            <a:gdLst/>
            <a:ahLst/>
            <a:cxnLst/>
            <a:rect l="l" t="t" r="r" b="b"/>
            <a:pathLst>
              <a:path w="13863" h="13809" extrusionOk="0">
                <a:moveTo>
                  <a:pt x="4582" y="795"/>
                </a:moveTo>
                <a:cubicBezTo>
                  <a:pt x="4804" y="795"/>
                  <a:pt x="4992" y="983"/>
                  <a:pt x="4992" y="1205"/>
                </a:cubicBezTo>
                <a:cubicBezTo>
                  <a:pt x="4992" y="1426"/>
                  <a:pt x="4804" y="1614"/>
                  <a:pt x="4582" y="1614"/>
                </a:cubicBezTo>
                <a:cubicBezTo>
                  <a:pt x="4360" y="1614"/>
                  <a:pt x="4184" y="1426"/>
                  <a:pt x="4184" y="1205"/>
                </a:cubicBezTo>
                <a:cubicBezTo>
                  <a:pt x="4184" y="983"/>
                  <a:pt x="4360" y="795"/>
                  <a:pt x="4582" y="795"/>
                </a:cubicBezTo>
                <a:close/>
                <a:moveTo>
                  <a:pt x="9303" y="795"/>
                </a:moveTo>
                <a:cubicBezTo>
                  <a:pt x="9525" y="795"/>
                  <a:pt x="9702" y="983"/>
                  <a:pt x="9702" y="1205"/>
                </a:cubicBezTo>
                <a:cubicBezTo>
                  <a:pt x="9702" y="1426"/>
                  <a:pt x="9525" y="1614"/>
                  <a:pt x="9303" y="1614"/>
                </a:cubicBezTo>
                <a:cubicBezTo>
                  <a:pt x="9071" y="1614"/>
                  <a:pt x="8894" y="1426"/>
                  <a:pt x="8894" y="1205"/>
                </a:cubicBezTo>
                <a:cubicBezTo>
                  <a:pt x="8894" y="983"/>
                  <a:pt x="9071" y="795"/>
                  <a:pt x="9303" y="795"/>
                </a:cubicBezTo>
                <a:close/>
                <a:moveTo>
                  <a:pt x="8159" y="1614"/>
                </a:moveTo>
                <a:cubicBezTo>
                  <a:pt x="8229" y="1813"/>
                  <a:pt x="8333" y="1987"/>
                  <a:pt x="8487" y="2116"/>
                </a:cubicBezTo>
                <a:lnTo>
                  <a:pt x="7328" y="4922"/>
                </a:lnTo>
                <a:cubicBezTo>
                  <a:pt x="7199" y="4899"/>
                  <a:pt x="7070" y="4888"/>
                  <a:pt x="6944" y="4888"/>
                </a:cubicBezTo>
                <a:cubicBezTo>
                  <a:pt x="6815" y="4888"/>
                  <a:pt x="6686" y="4899"/>
                  <a:pt x="6557" y="4922"/>
                </a:cubicBezTo>
                <a:lnTo>
                  <a:pt x="5401" y="2116"/>
                </a:lnTo>
                <a:cubicBezTo>
                  <a:pt x="5541" y="1987"/>
                  <a:pt x="5656" y="1813"/>
                  <a:pt x="5727" y="1614"/>
                </a:cubicBezTo>
                <a:close/>
                <a:moveTo>
                  <a:pt x="1249" y="4128"/>
                </a:moveTo>
                <a:cubicBezTo>
                  <a:pt x="1474" y="4128"/>
                  <a:pt x="1659" y="4313"/>
                  <a:pt x="1659" y="4537"/>
                </a:cubicBezTo>
                <a:cubicBezTo>
                  <a:pt x="1659" y="4759"/>
                  <a:pt x="1474" y="4944"/>
                  <a:pt x="1249" y="4944"/>
                </a:cubicBezTo>
                <a:cubicBezTo>
                  <a:pt x="1028" y="4944"/>
                  <a:pt x="854" y="4759"/>
                  <a:pt x="854" y="4537"/>
                </a:cubicBezTo>
                <a:cubicBezTo>
                  <a:pt x="854" y="4313"/>
                  <a:pt x="1028" y="4128"/>
                  <a:pt x="1249" y="4128"/>
                </a:cubicBezTo>
                <a:close/>
                <a:moveTo>
                  <a:pt x="12636" y="4128"/>
                </a:moveTo>
                <a:cubicBezTo>
                  <a:pt x="12858" y="4128"/>
                  <a:pt x="13032" y="4313"/>
                  <a:pt x="13032" y="4537"/>
                </a:cubicBezTo>
                <a:cubicBezTo>
                  <a:pt x="13032" y="4759"/>
                  <a:pt x="12858" y="4944"/>
                  <a:pt x="12636" y="4944"/>
                </a:cubicBezTo>
                <a:cubicBezTo>
                  <a:pt x="12414" y="4944"/>
                  <a:pt x="12227" y="4759"/>
                  <a:pt x="12227" y="4537"/>
                </a:cubicBezTo>
                <a:cubicBezTo>
                  <a:pt x="12227" y="4313"/>
                  <a:pt x="12414" y="4128"/>
                  <a:pt x="12636" y="4128"/>
                </a:cubicBezTo>
                <a:close/>
                <a:moveTo>
                  <a:pt x="4069" y="2304"/>
                </a:moveTo>
                <a:cubicBezTo>
                  <a:pt x="4220" y="2375"/>
                  <a:pt x="4394" y="2419"/>
                  <a:pt x="4582" y="2419"/>
                </a:cubicBezTo>
                <a:lnTo>
                  <a:pt x="4652" y="2419"/>
                </a:lnTo>
                <a:lnTo>
                  <a:pt x="5808" y="5214"/>
                </a:lnTo>
                <a:cubicBezTo>
                  <a:pt x="5598" y="5365"/>
                  <a:pt x="5412" y="5553"/>
                  <a:pt x="5272" y="5763"/>
                </a:cubicBezTo>
                <a:lnTo>
                  <a:pt x="2467" y="4608"/>
                </a:lnTo>
                <a:lnTo>
                  <a:pt x="2467" y="4537"/>
                </a:lnTo>
                <a:cubicBezTo>
                  <a:pt x="2467" y="4349"/>
                  <a:pt x="2419" y="4173"/>
                  <a:pt x="2349" y="4010"/>
                </a:cubicBezTo>
                <a:lnTo>
                  <a:pt x="4069" y="2304"/>
                </a:lnTo>
                <a:close/>
                <a:moveTo>
                  <a:pt x="9820" y="2304"/>
                </a:moveTo>
                <a:lnTo>
                  <a:pt x="11536" y="4010"/>
                </a:lnTo>
                <a:cubicBezTo>
                  <a:pt x="11455" y="4173"/>
                  <a:pt x="11419" y="4349"/>
                  <a:pt x="11419" y="4537"/>
                </a:cubicBezTo>
                <a:lnTo>
                  <a:pt x="11419" y="4608"/>
                </a:lnTo>
                <a:lnTo>
                  <a:pt x="8613" y="5763"/>
                </a:lnTo>
                <a:cubicBezTo>
                  <a:pt x="8473" y="5553"/>
                  <a:pt x="8288" y="5365"/>
                  <a:pt x="8077" y="5214"/>
                </a:cubicBezTo>
                <a:lnTo>
                  <a:pt x="9233" y="2419"/>
                </a:lnTo>
                <a:lnTo>
                  <a:pt x="9303" y="2419"/>
                </a:lnTo>
                <a:cubicBezTo>
                  <a:pt x="9491" y="2419"/>
                  <a:pt x="9665" y="2375"/>
                  <a:pt x="9820" y="2304"/>
                </a:cubicBezTo>
                <a:close/>
                <a:moveTo>
                  <a:pt x="6944" y="5682"/>
                </a:moveTo>
                <a:cubicBezTo>
                  <a:pt x="7609" y="5682"/>
                  <a:pt x="8159" y="6221"/>
                  <a:pt x="8159" y="6897"/>
                </a:cubicBezTo>
                <a:cubicBezTo>
                  <a:pt x="8159" y="7564"/>
                  <a:pt x="7609" y="8100"/>
                  <a:pt x="6944" y="8100"/>
                </a:cubicBezTo>
                <a:cubicBezTo>
                  <a:pt x="6276" y="8100"/>
                  <a:pt x="5727" y="7564"/>
                  <a:pt x="5727" y="6897"/>
                </a:cubicBezTo>
                <a:cubicBezTo>
                  <a:pt x="5727" y="6221"/>
                  <a:pt x="6276" y="5682"/>
                  <a:pt x="6944" y="5682"/>
                </a:cubicBezTo>
                <a:close/>
                <a:moveTo>
                  <a:pt x="2139" y="5343"/>
                </a:moveTo>
                <a:lnTo>
                  <a:pt x="4944" y="6512"/>
                </a:lnTo>
                <a:cubicBezTo>
                  <a:pt x="4921" y="6627"/>
                  <a:pt x="4910" y="6756"/>
                  <a:pt x="4910" y="6897"/>
                </a:cubicBezTo>
                <a:cubicBezTo>
                  <a:pt x="4910" y="7026"/>
                  <a:pt x="4921" y="7155"/>
                  <a:pt x="4944" y="7284"/>
                </a:cubicBezTo>
                <a:lnTo>
                  <a:pt x="2139" y="8440"/>
                </a:lnTo>
                <a:cubicBezTo>
                  <a:pt x="2010" y="8288"/>
                  <a:pt x="1836" y="8170"/>
                  <a:pt x="1648" y="8100"/>
                </a:cubicBezTo>
                <a:lnTo>
                  <a:pt x="1648" y="5682"/>
                </a:lnTo>
                <a:cubicBezTo>
                  <a:pt x="1836" y="5612"/>
                  <a:pt x="2010" y="5494"/>
                  <a:pt x="2139" y="5343"/>
                </a:cubicBezTo>
                <a:close/>
                <a:moveTo>
                  <a:pt x="11713" y="5343"/>
                </a:moveTo>
                <a:cubicBezTo>
                  <a:pt x="11853" y="5494"/>
                  <a:pt x="12016" y="5612"/>
                  <a:pt x="12215" y="5682"/>
                </a:cubicBezTo>
                <a:lnTo>
                  <a:pt x="12215" y="8100"/>
                </a:lnTo>
                <a:cubicBezTo>
                  <a:pt x="12016" y="8170"/>
                  <a:pt x="11853" y="8288"/>
                  <a:pt x="11713" y="8440"/>
                </a:cubicBezTo>
                <a:lnTo>
                  <a:pt x="8919" y="7284"/>
                </a:lnTo>
                <a:cubicBezTo>
                  <a:pt x="8942" y="7155"/>
                  <a:pt x="8953" y="7026"/>
                  <a:pt x="8953" y="6897"/>
                </a:cubicBezTo>
                <a:cubicBezTo>
                  <a:pt x="8953" y="6756"/>
                  <a:pt x="8942" y="6627"/>
                  <a:pt x="8919" y="6512"/>
                </a:cubicBezTo>
                <a:lnTo>
                  <a:pt x="11713" y="5343"/>
                </a:lnTo>
                <a:close/>
                <a:moveTo>
                  <a:pt x="1249" y="8849"/>
                </a:moveTo>
                <a:cubicBezTo>
                  <a:pt x="1474" y="8849"/>
                  <a:pt x="1659" y="9026"/>
                  <a:pt x="1659" y="9248"/>
                </a:cubicBezTo>
                <a:cubicBezTo>
                  <a:pt x="1659" y="9469"/>
                  <a:pt x="1474" y="9657"/>
                  <a:pt x="1249" y="9657"/>
                </a:cubicBezTo>
                <a:cubicBezTo>
                  <a:pt x="1028" y="9657"/>
                  <a:pt x="854" y="9469"/>
                  <a:pt x="854" y="9248"/>
                </a:cubicBezTo>
                <a:cubicBezTo>
                  <a:pt x="854" y="9026"/>
                  <a:pt x="1028" y="8849"/>
                  <a:pt x="1249" y="8849"/>
                </a:cubicBezTo>
                <a:close/>
                <a:moveTo>
                  <a:pt x="12636" y="8849"/>
                </a:moveTo>
                <a:cubicBezTo>
                  <a:pt x="12858" y="8849"/>
                  <a:pt x="13032" y="9026"/>
                  <a:pt x="13032" y="9248"/>
                </a:cubicBezTo>
                <a:cubicBezTo>
                  <a:pt x="13032" y="9469"/>
                  <a:pt x="12858" y="9657"/>
                  <a:pt x="12636" y="9657"/>
                </a:cubicBezTo>
                <a:cubicBezTo>
                  <a:pt x="12414" y="9657"/>
                  <a:pt x="12227" y="9469"/>
                  <a:pt x="12227" y="9248"/>
                </a:cubicBezTo>
                <a:cubicBezTo>
                  <a:pt x="12227" y="9026"/>
                  <a:pt x="12414" y="8849"/>
                  <a:pt x="12636" y="8849"/>
                </a:cubicBezTo>
                <a:close/>
                <a:moveTo>
                  <a:pt x="5272" y="8019"/>
                </a:moveTo>
                <a:cubicBezTo>
                  <a:pt x="5412" y="8240"/>
                  <a:pt x="5598" y="8428"/>
                  <a:pt x="5808" y="8569"/>
                </a:cubicBezTo>
                <a:lnTo>
                  <a:pt x="4652" y="11374"/>
                </a:lnTo>
                <a:lnTo>
                  <a:pt x="4582" y="11374"/>
                </a:lnTo>
                <a:cubicBezTo>
                  <a:pt x="4394" y="11374"/>
                  <a:pt x="4220" y="11410"/>
                  <a:pt x="4069" y="11492"/>
                </a:cubicBezTo>
                <a:lnTo>
                  <a:pt x="2349" y="9772"/>
                </a:lnTo>
                <a:cubicBezTo>
                  <a:pt x="2419" y="9609"/>
                  <a:pt x="2467" y="9433"/>
                  <a:pt x="2467" y="9248"/>
                </a:cubicBezTo>
                <a:lnTo>
                  <a:pt x="2467" y="9189"/>
                </a:lnTo>
                <a:lnTo>
                  <a:pt x="5272" y="8019"/>
                </a:lnTo>
                <a:close/>
                <a:moveTo>
                  <a:pt x="8613" y="8019"/>
                </a:moveTo>
                <a:lnTo>
                  <a:pt x="11419" y="9189"/>
                </a:lnTo>
                <a:lnTo>
                  <a:pt x="11419" y="9248"/>
                </a:lnTo>
                <a:cubicBezTo>
                  <a:pt x="11419" y="9433"/>
                  <a:pt x="11455" y="9609"/>
                  <a:pt x="11536" y="9772"/>
                </a:cubicBezTo>
                <a:lnTo>
                  <a:pt x="9820" y="11492"/>
                </a:lnTo>
                <a:cubicBezTo>
                  <a:pt x="9665" y="11410"/>
                  <a:pt x="9491" y="11374"/>
                  <a:pt x="9303" y="11374"/>
                </a:cubicBezTo>
                <a:lnTo>
                  <a:pt x="9233" y="11374"/>
                </a:lnTo>
                <a:lnTo>
                  <a:pt x="8077" y="8569"/>
                </a:lnTo>
                <a:cubicBezTo>
                  <a:pt x="8288" y="8428"/>
                  <a:pt x="8473" y="8240"/>
                  <a:pt x="8613" y="8019"/>
                </a:cubicBezTo>
                <a:close/>
                <a:moveTo>
                  <a:pt x="7328" y="8886"/>
                </a:moveTo>
                <a:lnTo>
                  <a:pt x="8487" y="11691"/>
                </a:lnTo>
                <a:cubicBezTo>
                  <a:pt x="8333" y="11831"/>
                  <a:pt x="8229" y="11994"/>
                  <a:pt x="8159" y="12193"/>
                </a:cubicBezTo>
                <a:lnTo>
                  <a:pt x="5727" y="12193"/>
                </a:lnTo>
                <a:cubicBezTo>
                  <a:pt x="5656" y="11994"/>
                  <a:pt x="5541" y="11831"/>
                  <a:pt x="5401" y="11691"/>
                </a:cubicBezTo>
                <a:lnTo>
                  <a:pt x="6557" y="8886"/>
                </a:lnTo>
                <a:cubicBezTo>
                  <a:pt x="6686" y="8908"/>
                  <a:pt x="6815" y="8931"/>
                  <a:pt x="6944" y="8931"/>
                </a:cubicBezTo>
                <a:cubicBezTo>
                  <a:pt x="7070" y="8931"/>
                  <a:pt x="7199" y="8908"/>
                  <a:pt x="7328" y="8886"/>
                </a:cubicBezTo>
                <a:close/>
                <a:moveTo>
                  <a:pt x="4582" y="12182"/>
                </a:moveTo>
                <a:cubicBezTo>
                  <a:pt x="4804" y="12182"/>
                  <a:pt x="4992" y="12356"/>
                  <a:pt x="4992" y="12577"/>
                </a:cubicBezTo>
                <a:cubicBezTo>
                  <a:pt x="4992" y="12799"/>
                  <a:pt x="4804" y="12987"/>
                  <a:pt x="4582" y="12987"/>
                </a:cubicBezTo>
                <a:cubicBezTo>
                  <a:pt x="4360" y="12987"/>
                  <a:pt x="4184" y="12799"/>
                  <a:pt x="4184" y="12577"/>
                </a:cubicBezTo>
                <a:cubicBezTo>
                  <a:pt x="4184" y="12356"/>
                  <a:pt x="4360" y="12182"/>
                  <a:pt x="4582" y="12182"/>
                </a:cubicBezTo>
                <a:close/>
                <a:moveTo>
                  <a:pt x="9303" y="12182"/>
                </a:moveTo>
                <a:cubicBezTo>
                  <a:pt x="9525" y="12182"/>
                  <a:pt x="9702" y="12356"/>
                  <a:pt x="9702" y="12577"/>
                </a:cubicBezTo>
                <a:cubicBezTo>
                  <a:pt x="9702" y="12799"/>
                  <a:pt x="9525" y="12987"/>
                  <a:pt x="9303" y="12987"/>
                </a:cubicBezTo>
                <a:cubicBezTo>
                  <a:pt x="9071" y="12987"/>
                  <a:pt x="8894" y="12799"/>
                  <a:pt x="8894" y="12577"/>
                </a:cubicBezTo>
                <a:cubicBezTo>
                  <a:pt x="8894" y="12356"/>
                  <a:pt x="9071" y="12182"/>
                  <a:pt x="9303" y="12182"/>
                </a:cubicBezTo>
                <a:close/>
                <a:moveTo>
                  <a:pt x="4554" y="0"/>
                </a:moveTo>
                <a:cubicBezTo>
                  <a:pt x="4536" y="0"/>
                  <a:pt x="4518" y="1"/>
                  <a:pt x="4501" y="1"/>
                </a:cubicBezTo>
                <a:cubicBezTo>
                  <a:pt x="3892" y="35"/>
                  <a:pt x="3390" y="540"/>
                  <a:pt x="3367" y="1157"/>
                </a:cubicBezTo>
                <a:cubicBezTo>
                  <a:pt x="3353" y="1367"/>
                  <a:pt x="3390" y="1567"/>
                  <a:pt x="3482" y="1743"/>
                </a:cubicBezTo>
                <a:lnTo>
                  <a:pt x="1765" y="3449"/>
                </a:lnTo>
                <a:cubicBezTo>
                  <a:pt x="1606" y="3376"/>
                  <a:pt x="1428" y="3330"/>
                  <a:pt x="1240" y="3330"/>
                </a:cubicBezTo>
                <a:cubicBezTo>
                  <a:pt x="1220" y="3330"/>
                  <a:pt x="1200" y="3330"/>
                  <a:pt x="1179" y="3331"/>
                </a:cubicBezTo>
                <a:cubicBezTo>
                  <a:pt x="562" y="3368"/>
                  <a:pt x="57" y="3859"/>
                  <a:pt x="35" y="4479"/>
                </a:cubicBezTo>
                <a:cubicBezTo>
                  <a:pt x="1" y="5040"/>
                  <a:pt x="352" y="5519"/>
                  <a:pt x="843" y="5693"/>
                </a:cubicBezTo>
                <a:lnTo>
                  <a:pt x="843" y="8114"/>
                </a:lnTo>
                <a:cubicBezTo>
                  <a:pt x="352" y="8288"/>
                  <a:pt x="1" y="8768"/>
                  <a:pt x="35" y="9329"/>
                </a:cubicBezTo>
                <a:cubicBezTo>
                  <a:pt x="57" y="9949"/>
                  <a:pt x="562" y="10440"/>
                  <a:pt x="1179" y="10473"/>
                </a:cubicBezTo>
                <a:cubicBezTo>
                  <a:pt x="1201" y="10475"/>
                  <a:pt x="1222" y="10475"/>
                  <a:pt x="1243" y="10475"/>
                </a:cubicBezTo>
                <a:cubicBezTo>
                  <a:pt x="1430" y="10475"/>
                  <a:pt x="1607" y="10432"/>
                  <a:pt x="1765" y="10358"/>
                </a:cubicBezTo>
                <a:lnTo>
                  <a:pt x="3482" y="12075"/>
                </a:lnTo>
                <a:cubicBezTo>
                  <a:pt x="3390" y="12238"/>
                  <a:pt x="3353" y="12437"/>
                  <a:pt x="3367" y="12648"/>
                </a:cubicBezTo>
                <a:cubicBezTo>
                  <a:pt x="3390" y="13268"/>
                  <a:pt x="3892" y="13770"/>
                  <a:pt x="4501" y="13806"/>
                </a:cubicBezTo>
                <a:cubicBezTo>
                  <a:pt x="4526" y="13808"/>
                  <a:pt x="4550" y="13808"/>
                  <a:pt x="4575" y="13808"/>
                </a:cubicBezTo>
                <a:cubicBezTo>
                  <a:pt x="5104" y="13808"/>
                  <a:pt x="5549" y="13467"/>
                  <a:pt x="5715" y="12998"/>
                </a:cubicBezTo>
                <a:lnTo>
                  <a:pt x="8148" y="12998"/>
                </a:lnTo>
                <a:cubicBezTo>
                  <a:pt x="8303" y="13467"/>
                  <a:pt x="8758" y="13808"/>
                  <a:pt x="9278" y="13808"/>
                </a:cubicBezTo>
                <a:cubicBezTo>
                  <a:pt x="9302" y="13808"/>
                  <a:pt x="9327" y="13808"/>
                  <a:pt x="9351" y="13806"/>
                </a:cubicBezTo>
                <a:cubicBezTo>
                  <a:pt x="9971" y="13770"/>
                  <a:pt x="10473" y="13268"/>
                  <a:pt x="10496" y="12648"/>
                </a:cubicBezTo>
                <a:cubicBezTo>
                  <a:pt x="10507" y="12437"/>
                  <a:pt x="10462" y="12238"/>
                  <a:pt x="10381" y="12075"/>
                </a:cubicBezTo>
                <a:lnTo>
                  <a:pt x="12097" y="10358"/>
                </a:lnTo>
                <a:cubicBezTo>
                  <a:pt x="12249" y="10429"/>
                  <a:pt x="12437" y="10473"/>
                  <a:pt x="12625" y="10473"/>
                </a:cubicBezTo>
                <a:cubicBezTo>
                  <a:pt x="13290" y="10473"/>
                  <a:pt x="13828" y="9924"/>
                  <a:pt x="13828" y="9259"/>
                </a:cubicBezTo>
                <a:cubicBezTo>
                  <a:pt x="13828" y="8731"/>
                  <a:pt x="13489" y="8288"/>
                  <a:pt x="13020" y="8114"/>
                </a:cubicBezTo>
                <a:lnTo>
                  <a:pt x="13020" y="5693"/>
                </a:lnTo>
                <a:cubicBezTo>
                  <a:pt x="13511" y="5519"/>
                  <a:pt x="13862" y="5040"/>
                  <a:pt x="13828" y="4479"/>
                </a:cubicBezTo>
                <a:cubicBezTo>
                  <a:pt x="13792" y="3859"/>
                  <a:pt x="13290" y="3368"/>
                  <a:pt x="12681" y="3331"/>
                </a:cubicBezTo>
                <a:cubicBezTo>
                  <a:pt x="12661" y="3330"/>
                  <a:pt x="12640" y="3330"/>
                  <a:pt x="12620" y="3330"/>
                </a:cubicBezTo>
                <a:cubicBezTo>
                  <a:pt x="12433" y="3330"/>
                  <a:pt x="12257" y="3376"/>
                  <a:pt x="12097" y="3449"/>
                </a:cubicBezTo>
                <a:lnTo>
                  <a:pt x="10381" y="1743"/>
                </a:lnTo>
                <a:cubicBezTo>
                  <a:pt x="10462" y="1567"/>
                  <a:pt x="10507" y="1367"/>
                  <a:pt x="10496" y="1157"/>
                </a:cubicBezTo>
                <a:cubicBezTo>
                  <a:pt x="10473" y="540"/>
                  <a:pt x="9971" y="35"/>
                  <a:pt x="9351" y="1"/>
                </a:cubicBezTo>
                <a:cubicBezTo>
                  <a:pt x="9334" y="1"/>
                  <a:pt x="9316" y="0"/>
                  <a:pt x="9299" y="0"/>
                </a:cubicBezTo>
                <a:cubicBezTo>
                  <a:pt x="8771" y="0"/>
                  <a:pt x="8316" y="331"/>
                  <a:pt x="8148" y="806"/>
                </a:cubicBezTo>
                <a:lnTo>
                  <a:pt x="5715" y="806"/>
                </a:lnTo>
                <a:cubicBezTo>
                  <a:pt x="5547" y="331"/>
                  <a:pt x="5092" y="0"/>
                  <a:pt x="455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667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FFDF3-A9B2-F00F-18FE-FEBA9DB86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522CAC0-C473-CE33-19CD-8B31DB8140B9}"/>
              </a:ext>
            </a:extLst>
          </p:cNvPr>
          <p:cNvSpPr/>
          <p:nvPr/>
        </p:nvSpPr>
        <p:spPr>
          <a:xfrm>
            <a:off x="4380430" y="1552044"/>
            <a:ext cx="4304828" cy="1019706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ndara" panose="020E0502030303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49DD8D-B606-50C6-FA8B-266315ABD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258" y="437768"/>
            <a:ext cx="7704000" cy="572700"/>
          </a:xfrm>
        </p:spPr>
        <p:txBody>
          <a:bodyPr/>
          <a:lstStyle/>
          <a:p>
            <a:r>
              <a:rPr lang="en-US" altLang="zh-CN" b="1" dirty="0">
                <a:latin typeface="Candara" panose="020E0502030303020204" pitchFamily="34" charset="0"/>
              </a:rPr>
              <a:t>Genetic Programming (TPOT)</a:t>
            </a:r>
            <a:endParaRPr lang="zh-CN" altLang="en-US" b="1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33CFAE4-5387-D9E0-282E-E4383E15B3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829" y="1810256"/>
            <a:ext cx="2864695" cy="957250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Эволюционные алгоритмы для оптимизации </a:t>
            </a:r>
            <a:r>
              <a:rPr lang="ru-RU" altLang="zh-CN" dirty="0" err="1">
                <a:latin typeface="Candara" panose="020E0502030303020204" pitchFamily="34" charset="0"/>
              </a:rPr>
              <a:t>пайплайнов</a:t>
            </a:r>
            <a:endParaRPr lang="ru-RU" altLang="zh-CN" dirty="0">
              <a:latin typeface="Candara" panose="020E0502030303020204" pitchFamily="34" charset="0"/>
            </a:endParaRP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"Скрещивание" и "мутация" конвейеров</a:t>
            </a:r>
          </a:p>
          <a:p>
            <a:pPr marL="0" indent="0"/>
            <a:br>
              <a:rPr lang="ru-RU" altLang="zh-CN" dirty="0">
                <a:latin typeface="Candara" panose="020E0502030303020204" pitchFamily="34" charset="0"/>
              </a:rPr>
            </a:b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21EC1A94-70C4-AE9D-01F1-1FFD3D88C205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450552" y="3309082"/>
            <a:ext cx="3118473" cy="1501800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Автоматический подбор не только параметров, но и алгоритмов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Находит неочевидные решения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Генерирует готовый Python код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2F30B9F-D2F8-3216-A824-031D76274428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800213" y="3370093"/>
            <a:ext cx="3662057" cy="689889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Долгое время выполнения для сложных задач</a:t>
            </a:r>
          </a:p>
          <a:p>
            <a:r>
              <a:rPr lang="ru-RU" altLang="zh-CN" dirty="0">
                <a:latin typeface="Candara" panose="020E0502030303020204" pitchFamily="34" charset="0"/>
              </a:rPr>
              <a:t>Требует значительных ресурсов</a:t>
            </a:r>
          </a:p>
          <a:p>
            <a:endParaRPr lang="zh-CN" altLang="en-US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160C7D72-54B1-E994-A1D1-2374F3896A7D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68752" y="1343770"/>
            <a:ext cx="2136311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Принцип работы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AC2BBFBB-43AA-D4A9-9FC2-D74AE6F62A9D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1268752" y="2912408"/>
            <a:ext cx="2260200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Преимущества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09E8D49D-7201-70FC-7ADD-CE0A933781F0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4775675" y="2918126"/>
            <a:ext cx="2069656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Недостатки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grpSp>
        <p:nvGrpSpPr>
          <p:cNvPr id="9" name="Google Shape;1233;p47">
            <a:extLst>
              <a:ext uri="{FF2B5EF4-FFF2-40B4-BE49-F238E27FC236}">
                <a16:creationId xmlns:a16="http://schemas.microsoft.com/office/drawing/2014/main" id="{A993E53A-05C7-85D3-38BB-B71AF4FAA2F6}"/>
              </a:ext>
            </a:extLst>
          </p:cNvPr>
          <p:cNvGrpSpPr/>
          <p:nvPr/>
        </p:nvGrpSpPr>
        <p:grpSpPr>
          <a:xfrm>
            <a:off x="4414253" y="1963069"/>
            <a:ext cx="6577836" cy="2799873"/>
            <a:chOff x="2320585" y="-1326942"/>
            <a:chExt cx="5859225" cy="2360405"/>
          </a:xfrm>
        </p:grpSpPr>
        <p:sp>
          <p:nvSpPr>
            <p:cNvPr id="10" name="Google Shape;1234;p47">
              <a:extLst>
                <a:ext uri="{FF2B5EF4-FFF2-40B4-BE49-F238E27FC236}">
                  <a16:creationId xmlns:a16="http://schemas.microsoft.com/office/drawing/2014/main" id="{7BD45573-40F5-9D56-C7AA-8F1A218327A7}"/>
                </a:ext>
              </a:extLst>
            </p:cNvPr>
            <p:cNvSpPr/>
            <p:nvPr/>
          </p:nvSpPr>
          <p:spPr>
            <a:xfrm>
              <a:off x="2320585" y="-104237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1" name="Google Shape;1235;p47">
              <a:extLst>
                <a:ext uri="{FF2B5EF4-FFF2-40B4-BE49-F238E27FC236}">
                  <a16:creationId xmlns:a16="http://schemas.microsoft.com/office/drawing/2014/main" id="{AEA39E83-858F-9711-6136-23EE1D4B3A03}"/>
                </a:ext>
              </a:extLst>
            </p:cNvPr>
            <p:cNvGrpSpPr/>
            <p:nvPr/>
          </p:nvGrpSpPr>
          <p:grpSpPr>
            <a:xfrm rot="-5400000">
              <a:off x="7216713" y="-925832"/>
              <a:ext cx="1076536" cy="274315"/>
              <a:chOff x="7137512" y="6308643"/>
              <a:chExt cx="3816146" cy="972402"/>
            </a:xfrm>
          </p:grpSpPr>
          <p:sp>
            <p:nvSpPr>
              <p:cNvPr id="12" name="Google Shape;1236;p47">
                <a:extLst>
                  <a:ext uri="{FF2B5EF4-FFF2-40B4-BE49-F238E27FC236}">
                    <a16:creationId xmlns:a16="http://schemas.microsoft.com/office/drawing/2014/main" id="{1EA1DC11-B783-06E0-CCFE-75F493F9845B}"/>
                  </a:ext>
                </a:extLst>
              </p:cNvPr>
              <p:cNvSpPr/>
              <p:nvPr/>
            </p:nvSpPr>
            <p:spPr>
              <a:xfrm rot="10800000">
                <a:off x="7137512" y="6308643"/>
                <a:ext cx="1231991" cy="703353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237;p47">
                <a:extLst>
                  <a:ext uri="{FF2B5EF4-FFF2-40B4-BE49-F238E27FC236}">
                    <a16:creationId xmlns:a16="http://schemas.microsoft.com/office/drawing/2014/main" id="{66A11EC7-F878-4AD8-62A9-CCA4149E87F8}"/>
                  </a:ext>
                </a:extLst>
              </p:cNvPr>
              <p:cNvSpPr/>
              <p:nvPr/>
            </p:nvSpPr>
            <p:spPr>
              <a:xfrm rot="10800000">
                <a:off x="10326151" y="6660319"/>
                <a:ext cx="627507" cy="6207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9" name="Google Shape;1388;p48">
            <a:extLst>
              <a:ext uri="{FF2B5EF4-FFF2-40B4-BE49-F238E27FC236}">
                <a16:creationId xmlns:a16="http://schemas.microsoft.com/office/drawing/2014/main" id="{F2DB2246-9B0C-ADD1-0DD0-9A6F2C801CA8}"/>
              </a:ext>
            </a:extLst>
          </p:cNvPr>
          <p:cNvGrpSpPr/>
          <p:nvPr/>
        </p:nvGrpSpPr>
        <p:grpSpPr>
          <a:xfrm>
            <a:off x="4572000" y="3018206"/>
            <a:ext cx="331975" cy="344800"/>
            <a:chOff x="6285563" y="2681150"/>
            <a:chExt cx="331975" cy="344800"/>
          </a:xfrm>
        </p:grpSpPr>
        <p:sp>
          <p:nvSpPr>
            <p:cNvPr id="20" name="Google Shape;1389;p48">
              <a:extLst>
                <a:ext uri="{FF2B5EF4-FFF2-40B4-BE49-F238E27FC236}">
                  <a16:creationId xmlns:a16="http://schemas.microsoft.com/office/drawing/2014/main" id="{2F6E6245-D745-714D-F2B9-769525CC8970}"/>
                </a:ext>
              </a:extLst>
            </p:cNvPr>
            <p:cNvSpPr/>
            <p:nvPr/>
          </p:nvSpPr>
          <p:spPr>
            <a:xfrm>
              <a:off x="6285563" y="2721475"/>
              <a:ext cx="236175" cy="304475"/>
            </a:xfrm>
            <a:custGeom>
              <a:avLst/>
              <a:gdLst/>
              <a:ahLst/>
              <a:cxnLst/>
              <a:rect l="l" t="t" r="r" b="b"/>
              <a:pathLst>
                <a:path w="9447" h="12179" extrusionOk="0">
                  <a:moveTo>
                    <a:pt x="4313" y="831"/>
                  </a:moveTo>
                  <a:lnTo>
                    <a:pt x="4313" y="1765"/>
                  </a:lnTo>
                  <a:cubicBezTo>
                    <a:pt x="4313" y="1978"/>
                    <a:pt x="4487" y="2150"/>
                    <a:pt x="4698" y="2150"/>
                  </a:cubicBezTo>
                  <a:cubicBezTo>
                    <a:pt x="4706" y="2150"/>
                    <a:pt x="4714" y="2150"/>
                    <a:pt x="4722" y="2149"/>
                  </a:cubicBezTo>
                  <a:cubicBezTo>
                    <a:pt x="5003" y="2149"/>
                    <a:pt x="5213" y="2444"/>
                    <a:pt x="5084" y="2736"/>
                  </a:cubicBezTo>
                  <a:cubicBezTo>
                    <a:pt x="5028" y="2876"/>
                    <a:pt x="4888" y="2969"/>
                    <a:pt x="4722" y="2969"/>
                  </a:cubicBezTo>
                  <a:cubicBezTo>
                    <a:pt x="4501" y="2969"/>
                    <a:pt x="4313" y="3145"/>
                    <a:pt x="4313" y="3367"/>
                  </a:cubicBezTo>
                  <a:lnTo>
                    <a:pt x="4313" y="4312"/>
                  </a:lnTo>
                  <a:lnTo>
                    <a:pt x="3707" y="4312"/>
                  </a:lnTo>
                  <a:cubicBezTo>
                    <a:pt x="3541" y="3847"/>
                    <a:pt x="3098" y="3507"/>
                    <a:pt x="2573" y="3507"/>
                  </a:cubicBezTo>
                  <a:cubicBezTo>
                    <a:pt x="2035" y="3507"/>
                    <a:pt x="1592" y="3847"/>
                    <a:pt x="1426" y="4312"/>
                  </a:cubicBezTo>
                  <a:lnTo>
                    <a:pt x="831" y="4312"/>
                  </a:lnTo>
                  <a:cubicBezTo>
                    <a:pt x="1031" y="2478"/>
                    <a:pt x="2489" y="1016"/>
                    <a:pt x="4313" y="831"/>
                  </a:cubicBezTo>
                  <a:close/>
                  <a:moveTo>
                    <a:pt x="2570" y="4311"/>
                  </a:moveTo>
                  <a:cubicBezTo>
                    <a:pt x="2627" y="4311"/>
                    <a:pt x="2687" y="4323"/>
                    <a:pt x="2747" y="4349"/>
                  </a:cubicBezTo>
                  <a:cubicBezTo>
                    <a:pt x="2888" y="4408"/>
                    <a:pt x="2969" y="4559"/>
                    <a:pt x="2969" y="4711"/>
                  </a:cubicBezTo>
                  <a:cubicBezTo>
                    <a:pt x="2969" y="4944"/>
                    <a:pt x="3157" y="5120"/>
                    <a:pt x="3379" y="5120"/>
                  </a:cubicBezTo>
                  <a:lnTo>
                    <a:pt x="4313" y="5120"/>
                  </a:lnTo>
                  <a:lnTo>
                    <a:pt x="4313" y="6077"/>
                  </a:lnTo>
                  <a:cubicBezTo>
                    <a:pt x="4313" y="6294"/>
                    <a:pt x="4489" y="6465"/>
                    <a:pt x="4702" y="6465"/>
                  </a:cubicBezTo>
                  <a:cubicBezTo>
                    <a:pt x="4709" y="6465"/>
                    <a:pt x="4716" y="6464"/>
                    <a:pt x="4722" y="6464"/>
                  </a:cubicBezTo>
                  <a:cubicBezTo>
                    <a:pt x="5003" y="6464"/>
                    <a:pt x="5213" y="6756"/>
                    <a:pt x="5084" y="7048"/>
                  </a:cubicBezTo>
                  <a:cubicBezTo>
                    <a:pt x="5028" y="7188"/>
                    <a:pt x="4888" y="7283"/>
                    <a:pt x="4722" y="7283"/>
                  </a:cubicBezTo>
                  <a:cubicBezTo>
                    <a:pt x="4501" y="7283"/>
                    <a:pt x="4313" y="7457"/>
                    <a:pt x="4313" y="7679"/>
                  </a:cubicBezTo>
                  <a:lnTo>
                    <a:pt x="4313" y="9701"/>
                  </a:lnTo>
                  <a:lnTo>
                    <a:pt x="3216" y="9701"/>
                  </a:lnTo>
                  <a:cubicBezTo>
                    <a:pt x="3121" y="8907"/>
                    <a:pt x="2736" y="8170"/>
                    <a:pt x="2127" y="7645"/>
                  </a:cubicBezTo>
                  <a:cubicBezTo>
                    <a:pt x="1392" y="6989"/>
                    <a:pt x="935" y="6091"/>
                    <a:pt x="831" y="5120"/>
                  </a:cubicBezTo>
                  <a:lnTo>
                    <a:pt x="1766" y="5120"/>
                  </a:lnTo>
                  <a:cubicBezTo>
                    <a:pt x="1987" y="5120"/>
                    <a:pt x="2164" y="4944"/>
                    <a:pt x="2164" y="4722"/>
                  </a:cubicBezTo>
                  <a:cubicBezTo>
                    <a:pt x="2164" y="4498"/>
                    <a:pt x="2343" y="4311"/>
                    <a:pt x="2570" y="4311"/>
                  </a:cubicBezTo>
                  <a:close/>
                  <a:moveTo>
                    <a:pt x="8616" y="5120"/>
                  </a:moveTo>
                  <a:cubicBezTo>
                    <a:pt x="8510" y="6091"/>
                    <a:pt x="8055" y="6989"/>
                    <a:pt x="7317" y="7645"/>
                  </a:cubicBezTo>
                  <a:cubicBezTo>
                    <a:pt x="6711" y="8170"/>
                    <a:pt x="6324" y="8907"/>
                    <a:pt x="6232" y="9701"/>
                  </a:cubicBezTo>
                  <a:lnTo>
                    <a:pt x="5132" y="9701"/>
                  </a:lnTo>
                  <a:lnTo>
                    <a:pt x="5132" y="8018"/>
                  </a:lnTo>
                  <a:cubicBezTo>
                    <a:pt x="5600" y="7855"/>
                    <a:pt x="5940" y="7398"/>
                    <a:pt x="5940" y="6874"/>
                  </a:cubicBezTo>
                  <a:cubicBezTo>
                    <a:pt x="5940" y="6346"/>
                    <a:pt x="5600" y="5903"/>
                    <a:pt x="5132" y="5726"/>
                  </a:cubicBezTo>
                  <a:lnTo>
                    <a:pt x="5132" y="5120"/>
                  </a:lnTo>
                  <a:lnTo>
                    <a:pt x="5741" y="5120"/>
                  </a:lnTo>
                  <a:cubicBezTo>
                    <a:pt x="5903" y="5586"/>
                    <a:pt x="6347" y="5925"/>
                    <a:pt x="6885" y="5925"/>
                  </a:cubicBezTo>
                  <a:cubicBezTo>
                    <a:pt x="7413" y="5925"/>
                    <a:pt x="7856" y="5586"/>
                    <a:pt x="8019" y="5120"/>
                  </a:cubicBezTo>
                  <a:close/>
                  <a:moveTo>
                    <a:pt x="6206" y="10509"/>
                  </a:moveTo>
                  <a:lnTo>
                    <a:pt x="6206" y="11244"/>
                  </a:lnTo>
                  <a:cubicBezTo>
                    <a:pt x="6206" y="11314"/>
                    <a:pt x="6150" y="11373"/>
                    <a:pt x="6066" y="11373"/>
                  </a:cubicBezTo>
                  <a:lnTo>
                    <a:pt x="3379" y="11373"/>
                  </a:lnTo>
                  <a:cubicBezTo>
                    <a:pt x="3297" y="11373"/>
                    <a:pt x="3238" y="11314"/>
                    <a:pt x="3238" y="11244"/>
                  </a:cubicBezTo>
                  <a:lnTo>
                    <a:pt x="3238" y="10509"/>
                  </a:lnTo>
                  <a:close/>
                  <a:moveTo>
                    <a:pt x="4734" y="1"/>
                  </a:moveTo>
                  <a:cubicBezTo>
                    <a:pt x="2127" y="1"/>
                    <a:pt x="1" y="2116"/>
                    <a:pt x="1" y="4722"/>
                  </a:cubicBezTo>
                  <a:cubicBezTo>
                    <a:pt x="1" y="6066"/>
                    <a:pt x="584" y="7353"/>
                    <a:pt x="1592" y="8240"/>
                  </a:cubicBezTo>
                  <a:cubicBezTo>
                    <a:pt x="2127" y="8720"/>
                    <a:pt x="2433" y="9398"/>
                    <a:pt x="2433" y="10111"/>
                  </a:cubicBezTo>
                  <a:lnTo>
                    <a:pt x="2433" y="11244"/>
                  </a:lnTo>
                  <a:cubicBezTo>
                    <a:pt x="2433" y="11758"/>
                    <a:pt x="2854" y="12178"/>
                    <a:pt x="3379" y="12178"/>
                  </a:cubicBezTo>
                  <a:lnTo>
                    <a:pt x="6066" y="12178"/>
                  </a:lnTo>
                  <a:cubicBezTo>
                    <a:pt x="6593" y="12178"/>
                    <a:pt x="7014" y="11758"/>
                    <a:pt x="7014" y="11244"/>
                  </a:cubicBezTo>
                  <a:lnTo>
                    <a:pt x="7014" y="10111"/>
                  </a:lnTo>
                  <a:cubicBezTo>
                    <a:pt x="7014" y="9398"/>
                    <a:pt x="7317" y="8720"/>
                    <a:pt x="7856" y="8240"/>
                  </a:cubicBezTo>
                  <a:cubicBezTo>
                    <a:pt x="8860" y="7353"/>
                    <a:pt x="9447" y="6066"/>
                    <a:pt x="9447" y="4722"/>
                  </a:cubicBezTo>
                  <a:cubicBezTo>
                    <a:pt x="9447" y="4500"/>
                    <a:pt x="9259" y="4312"/>
                    <a:pt x="9037" y="4312"/>
                  </a:cubicBezTo>
                  <a:lnTo>
                    <a:pt x="7679" y="4312"/>
                  </a:lnTo>
                  <a:cubicBezTo>
                    <a:pt x="7458" y="4312"/>
                    <a:pt x="7284" y="4500"/>
                    <a:pt x="7284" y="4711"/>
                  </a:cubicBezTo>
                  <a:cubicBezTo>
                    <a:pt x="7284" y="4935"/>
                    <a:pt x="7104" y="5122"/>
                    <a:pt x="6884" y="5122"/>
                  </a:cubicBezTo>
                  <a:cubicBezTo>
                    <a:pt x="6828" y="5122"/>
                    <a:pt x="6770" y="5110"/>
                    <a:pt x="6711" y="5084"/>
                  </a:cubicBezTo>
                  <a:cubicBezTo>
                    <a:pt x="6557" y="5025"/>
                    <a:pt x="6476" y="4873"/>
                    <a:pt x="6476" y="4722"/>
                  </a:cubicBezTo>
                  <a:cubicBezTo>
                    <a:pt x="6476" y="4500"/>
                    <a:pt x="6302" y="4312"/>
                    <a:pt x="6066" y="4312"/>
                  </a:cubicBezTo>
                  <a:lnTo>
                    <a:pt x="5132" y="4312"/>
                  </a:lnTo>
                  <a:lnTo>
                    <a:pt x="5132" y="3706"/>
                  </a:lnTo>
                  <a:cubicBezTo>
                    <a:pt x="5600" y="3541"/>
                    <a:pt x="5940" y="3086"/>
                    <a:pt x="5940" y="2559"/>
                  </a:cubicBezTo>
                  <a:cubicBezTo>
                    <a:pt x="5940" y="2034"/>
                    <a:pt x="5600" y="1577"/>
                    <a:pt x="5132" y="1414"/>
                  </a:cubicBezTo>
                  <a:lnTo>
                    <a:pt x="5132" y="396"/>
                  </a:lnTo>
                  <a:cubicBezTo>
                    <a:pt x="5132" y="175"/>
                    <a:pt x="4958" y="1"/>
                    <a:pt x="47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1" name="Google Shape;1390;p48">
              <a:extLst>
                <a:ext uri="{FF2B5EF4-FFF2-40B4-BE49-F238E27FC236}">
                  <a16:creationId xmlns:a16="http://schemas.microsoft.com/office/drawing/2014/main" id="{0447F961-354E-2A5C-B306-D483F726F333}"/>
                </a:ext>
              </a:extLst>
            </p:cNvPr>
            <p:cNvSpPr/>
            <p:nvPr/>
          </p:nvSpPr>
          <p:spPr>
            <a:xfrm>
              <a:off x="6489238" y="2681150"/>
              <a:ext cx="128300" cy="148150"/>
            </a:xfrm>
            <a:custGeom>
              <a:avLst/>
              <a:gdLst/>
              <a:ahLst/>
              <a:cxnLst/>
              <a:rect l="l" t="t" r="r" b="b"/>
              <a:pathLst>
                <a:path w="5132" h="5926" extrusionOk="0">
                  <a:moveTo>
                    <a:pt x="809" y="817"/>
                  </a:moveTo>
                  <a:cubicBezTo>
                    <a:pt x="2643" y="1016"/>
                    <a:pt x="4105" y="2478"/>
                    <a:pt x="4290" y="4312"/>
                  </a:cubicBezTo>
                  <a:lnTo>
                    <a:pt x="3367" y="4312"/>
                  </a:lnTo>
                  <a:cubicBezTo>
                    <a:pt x="3145" y="4312"/>
                    <a:pt x="2969" y="4489"/>
                    <a:pt x="2969" y="4711"/>
                  </a:cubicBezTo>
                  <a:cubicBezTo>
                    <a:pt x="2969" y="4873"/>
                    <a:pt x="2876" y="5014"/>
                    <a:pt x="2736" y="5084"/>
                  </a:cubicBezTo>
                  <a:cubicBezTo>
                    <a:pt x="2679" y="5107"/>
                    <a:pt x="2622" y="5117"/>
                    <a:pt x="2568" y="5117"/>
                  </a:cubicBezTo>
                  <a:cubicBezTo>
                    <a:pt x="2345" y="5117"/>
                    <a:pt x="2164" y="4939"/>
                    <a:pt x="2164" y="4722"/>
                  </a:cubicBezTo>
                  <a:cubicBezTo>
                    <a:pt x="2152" y="4489"/>
                    <a:pt x="1976" y="4312"/>
                    <a:pt x="1754" y="4312"/>
                  </a:cubicBezTo>
                  <a:lnTo>
                    <a:pt x="809" y="4312"/>
                  </a:lnTo>
                  <a:lnTo>
                    <a:pt x="809" y="3706"/>
                  </a:lnTo>
                  <a:cubicBezTo>
                    <a:pt x="1274" y="3530"/>
                    <a:pt x="1614" y="3086"/>
                    <a:pt x="1614" y="2559"/>
                  </a:cubicBezTo>
                  <a:cubicBezTo>
                    <a:pt x="1614" y="2034"/>
                    <a:pt x="1274" y="1577"/>
                    <a:pt x="809" y="1414"/>
                  </a:cubicBezTo>
                  <a:lnTo>
                    <a:pt x="809" y="817"/>
                  </a:lnTo>
                  <a:close/>
                  <a:moveTo>
                    <a:pt x="420" y="1"/>
                  </a:moveTo>
                  <a:cubicBezTo>
                    <a:pt x="413" y="1"/>
                    <a:pt x="406" y="1"/>
                    <a:pt x="399" y="1"/>
                  </a:cubicBezTo>
                  <a:cubicBezTo>
                    <a:pt x="177" y="1"/>
                    <a:pt x="1" y="174"/>
                    <a:pt x="1" y="385"/>
                  </a:cubicBezTo>
                  <a:lnTo>
                    <a:pt x="1" y="1754"/>
                  </a:lnTo>
                  <a:cubicBezTo>
                    <a:pt x="1" y="1975"/>
                    <a:pt x="189" y="2149"/>
                    <a:pt x="399" y="2149"/>
                  </a:cubicBezTo>
                  <a:cubicBezTo>
                    <a:pt x="680" y="2149"/>
                    <a:pt x="901" y="2430"/>
                    <a:pt x="772" y="2736"/>
                  </a:cubicBezTo>
                  <a:cubicBezTo>
                    <a:pt x="713" y="2876"/>
                    <a:pt x="562" y="2957"/>
                    <a:pt x="410" y="2957"/>
                  </a:cubicBezTo>
                  <a:cubicBezTo>
                    <a:pt x="189" y="2957"/>
                    <a:pt x="1" y="3145"/>
                    <a:pt x="1" y="3367"/>
                  </a:cubicBezTo>
                  <a:lnTo>
                    <a:pt x="1" y="4722"/>
                  </a:lnTo>
                  <a:cubicBezTo>
                    <a:pt x="1" y="4944"/>
                    <a:pt x="177" y="5120"/>
                    <a:pt x="399" y="5120"/>
                  </a:cubicBezTo>
                  <a:lnTo>
                    <a:pt x="1415" y="5120"/>
                  </a:lnTo>
                  <a:cubicBezTo>
                    <a:pt x="1591" y="5586"/>
                    <a:pt x="2035" y="5925"/>
                    <a:pt x="2562" y="5925"/>
                  </a:cubicBezTo>
                  <a:cubicBezTo>
                    <a:pt x="3086" y="5925"/>
                    <a:pt x="3544" y="5586"/>
                    <a:pt x="3706" y="5120"/>
                  </a:cubicBezTo>
                  <a:lnTo>
                    <a:pt x="4722" y="5120"/>
                  </a:lnTo>
                  <a:cubicBezTo>
                    <a:pt x="4946" y="5120"/>
                    <a:pt x="5120" y="4944"/>
                    <a:pt x="5120" y="4722"/>
                  </a:cubicBezTo>
                  <a:cubicBezTo>
                    <a:pt x="5132" y="2123"/>
                    <a:pt x="3016" y="1"/>
                    <a:pt x="42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grpSp>
        <p:nvGrpSpPr>
          <p:cNvPr id="22" name="Google Shape;1282;p48">
            <a:extLst>
              <a:ext uri="{FF2B5EF4-FFF2-40B4-BE49-F238E27FC236}">
                <a16:creationId xmlns:a16="http://schemas.microsoft.com/office/drawing/2014/main" id="{7C80BBCE-CBDF-B24F-03AD-9CF91311308F}"/>
              </a:ext>
            </a:extLst>
          </p:cNvPr>
          <p:cNvGrpSpPr/>
          <p:nvPr/>
        </p:nvGrpSpPr>
        <p:grpSpPr>
          <a:xfrm>
            <a:off x="1102954" y="3021452"/>
            <a:ext cx="346275" cy="345150"/>
            <a:chOff x="5521113" y="3797375"/>
            <a:chExt cx="346275" cy="345150"/>
          </a:xfrm>
        </p:grpSpPr>
        <p:sp>
          <p:nvSpPr>
            <p:cNvPr id="23" name="Google Shape;1283;p48">
              <a:extLst>
                <a:ext uri="{FF2B5EF4-FFF2-40B4-BE49-F238E27FC236}">
                  <a16:creationId xmlns:a16="http://schemas.microsoft.com/office/drawing/2014/main" id="{6515D590-53C9-8FF4-2ED2-C325F0EB49A1}"/>
                </a:ext>
              </a:extLst>
            </p:cNvPr>
            <p:cNvSpPr/>
            <p:nvPr/>
          </p:nvSpPr>
          <p:spPr>
            <a:xfrm>
              <a:off x="5576313" y="3797375"/>
              <a:ext cx="235900" cy="345150"/>
            </a:xfrm>
            <a:custGeom>
              <a:avLst/>
              <a:gdLst/>
              <a:ahLst/>
              <a:cxnLst/>
              <a:rect l="l" t="t" r="r" b="b"/>
              <a:pathLst>
                <a:path w="9436" h="13806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4" name="Google Shape;1284;p48">
              <a:extLst>
                <a:ext uri="{FF2B5EF4-FFF2-40B4-BE49-F238E27FC236}">
                  <a16:creationId xmlns:a16="http://schemas.microsoft.com/office/drawing/2014/main" id="{7A565D5E-53DA-0A7B-6E12-5E29C9D82BE1}"/>
                </a:ext>
              </a:extLst>
            </p:cNvPr>
            <p:cNvSpPr/>
            <p:nvPr/>
          </p:nvSpPr>
          <p:spPr>
            <a:xfrm>
              <a:off x="5825913" y="3905250"/>
              <a:ext cx="41475" cy="20150"/>
            </a:xfrm>
            <a:custGeom>
              <a:avLst/>
              <a:gdLst/>
              <a:ahLst/>
              <a:cxnLst/>
              <a:rect l="l" t="t" r="r" b="b"/>
              <a:pathLst>
                <a:path w="1659" h="806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5" name="Google Shape;1285;p48">
              <a:extLst>
                <a:ext uri="{FF2B5EF4-FFF2-40B4-BE49-F238E27FC236}">
                  <a16:creationId xmlns:a16="http://schemas.microsoft.com/office/drawing/2014/main" id="{04FE4317-A5C9-6ECA-E8AB-8E54F8AD4001}"/>
                </a:ext>
              </a:extLst>
            </p:cNvPr>
            <p:cNvSpPr/>
            <p:nvPr/>
          </p:nvSpPr>
          <p:spPr>
            <a:xfrm>
              <a:off x="5818288" y="383777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6" name="Google Shape;1286;p48">
              <a:extLst>
                <a:ext uri="{FF2B5EF4-FFF2-40B4-BE49-F238E27FC236}">
                  <a16:creationId xmlns:a16="http://schemas.microsoft.com/office/drawing/2014/main" id="{4E05169D-763C-78D4-8891-B6A0E40D4A5A}"/>
                </a:ext>
              </a:extLst>
            </p:cNvPr>
            <p:cNvSpPr/>
            <p:nvPr/>
          </p:nvSpPr>
          <p:spPr>
            <a:xfrm>
              <a:off x="5818288" y="3962475"/>
              <a:ext cx="40700" cy="30425"/>
            </a:xfrm>
            <a:custGeom>
              <a:avLst/>
              <a:gdLst/>
              <a:ahLst/>
              <a:cxnLst/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7" name="Google Shape;1287;p48">
              <a:extLst>
                <a:ext uri="{FF2B5EF4-FFF2-40B4-BE49-F238E27FC236}">
                  <a16:creationId xmlns:a16="http://schemas.microsoft.com/office/drawing/2014/main" id="{E852816C-C3D7-76A4-0708-85893701D78C}"/>
                </a:ext>
              </a:extLst>
            </p:cNvPr>
            <p:cNvSpPr/>
            <p:nvPr/>
          </p:nvSpPr>
          <p:spPr>
            <a:xfrm>
              <a:off x="5521113" y="3905250"/>
              <a:ext cx="41825" cy="20150"/>
            </a:xfrm>
            <a:custGeom>
              <a:avLst/>
              <a:gdLst/>
              <a:ahLst/>
              <a:cxnLst/>
              <a:rect l="l" t="t" r="r" b="b"/>
              <a:pathLst>
                <a:path w="1673" h="806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8" name="Google Shape;1288;p48">
              <a:extLst>
                <a:ext uri="{FF2B5EF4-FFF2-40B4-BE49-F238E27FC236}">
                  <a16:creationId xmlns:a16="http://schemas.microsoft.com/office/drawing/2014/main" id="{F5F8572D-886F-7455-72E5-0DDB385E7890}"/>
                </a:ext>
              </a:extLst>
            </p:cNvPr>
            <p:cNvSpPr/>
            <p:nvPr/>
          </p:nvSpPr>
          <p:spPr>
            <a:xfrm>
              <a:off x="5529888" y="3837775"/>
              <a:ext cx="40350" cy="30375"/>
            </a:xfrm>
            <a:custGeom>
              <a:avLst/>
              <a:gdLst/>
              <a:ahLst/>
              <a:cxnLst/>
              <a:rect l="l" t="t" r="r" b="b"/>
              <a:pathLst>
                <a:path w="1614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9" name="Google Shape;1289;p48">
              <a:extLst>
                <a:ext uri="{FF2B5EF4-FFF2-40B4-BE49-F238E27FC236}">
                  <a16:creationId xmlns:a16="http://schemas.microsoft.com/office/drawing/2014/main" id="{BD3B6BD2-91B4-50E7-F395-3EFDEF046CF5}"/>
                </a:ext>
              </a:extLst>
            </p:cNvPr>
            <p:cNvSpPr/>
            <p:nvPr/>
          </p:nvSpPr>
          <p:spPr>
            <a:xfrm>
              <a:off x="5529888" y="3962475"/>
              <a:ext cx="40350" cy="30425"/>
            </a:xfrm>
            <a:custGeom>
              <a:avLst/>
              <a:gdLst/>
              <a:ahLst/>
              <a:cxnLst/>
              <a:rect l="l" t="t" r="r" b="b"/>
              <a:pathLst>
                <a:path w="1614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30" name="Google Shape;1399;p48">
            <a:extLst>
              <a:ext uri="{FF2B5EF4-FFF2-40B4-BE49-F238E27FC236}">
                <a16:creationId xmlns:a16="http://schemas.microsoft.com/office/drawing/2014/main" id="{E64E05C4-D442-8592-708A-76877C366A26}"/>
              </a:ext>
            </a:extLst>
          </p:cNvPr>
          <p:cNvSpPr/>
          <p:nvPr/>
        </p:nvSpPr>
        <p:spPr>
          <a:xfrm>
            <a:off x="1096215" y="1412191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5C4497C-0622-A0DB-753B-24F2F33A19D1}"/>
              </a:ext>
            </a:extLst>
          </p:cNvPr>
          <p:cNvSpPr txBox="1"/>
          <p:nvPr/>
        </p:nvSpPr>
        <p:spPr>
          <a:xfrm>
            <a:off x="4452296" y="1699680"/>
            <a:ext cx="416109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Selection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 - </a:t>
            </a:r>
            <a:r>
              <a:rPr lang="ru-RU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отбор лучших </a:t>
            </a:r>
            <a:r>
              <a:rPr lang="ru-RU" altLang="zh-CN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пайплайнов</a:t>
            </a:r>
            <a:endParaRPr lang="ru-RU" altLang="zh-CN" dirty="0">
              <a:solidFill>
                <a:schemeClr val="accent2">
                  <a:lumMod val="40000"/>
                  <a:lumOff val="60000"/>
                </a:schemeClr>
              </a:solidFill>
              <a:latin typeface="Candara" panose="020E0502030303020204" pitchFamily="34" charset="0"/>
            </a:endParaRPr>
          </a:p>
          <a:p>
            <a:r>
              <a:rPr lang="en-US" altLang="zh-CN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Crossover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 - </a:t>
            </a:r>
            <a:r>
              <a:rPr lang="ru-RU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комбинация частей </a:t>
            </a:r>
            <a:r>
              <a:rPr lang="ru-RU" altLang="zh-CN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пайплайнов</a:t>
            </a:r>
            <a:endParaRPr lang="ru-RU" altLang="zh-CN" dirty="0">
              <a:solidFill>
                <a:schemeClr val="accent2">
                  <a:lumMod val="40000"/>
                  <a:lumOff val="60000"/>
                </a:schemeClr>
              </a:solidFill>
              <a:latin typeface="Candara" panose="020E0502030303020204" pitchFamily="34" charset="0"/>
            </a:endParaRPr>
          </a:p>
          <a:p>
            <a:r>
              <a:rPr lang="en-US" altLang="zh-CN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Mutation</a:t>
            </a:r>
            <a:r>
              <a:rPr lang="en-US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 - </a:t>
            </a:r>
            <a:r>
              <a:rPr lang="ru-RU" altLang="zh-CN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случайные изменения</a:t>
            </a:r>
          </a:p>
        </p:txBody>
      </p:sp>
      <p:sp>
        <p:nvSpPr>
          <p:cNvPr id="36" name="Подзаголовок 5">
            <a:extLst>
              <a:ext uri="{FF2B5EF4-FFF2-40B4-BE49-F238E27FC236}">
                <a16:creationId xmlns:a16="http://schemas.microsoft.com/office/drawing/2014/main" id="{A533A70C-9A68-01C8-7E9C-A9F27944443E}"/>
              </a:ext>
            </a:extLst>
          </p:cNvPr>
          <p:cNvSpPr txBox="1">
            <a:spLocks/>
          </p:cNvSpPr>
          <p:nvPr/>
        </p:nvSpPr>
        <p:spPr>
          <a:xfrm>
            <a:off x="4936469" y="998700"/>
            <a:ext cx="2969761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ru-RU" altLang="zh-CN" dirty="0">
                <a:latin typeface="Candara" panose="020E0502030303020204" pitchFamily="34" charset="0"/>
              </a:rPr>
              <a:t>Основные операции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38" name="Google Shape;1484;p48">
            <a:extLst>
              <a:ext uri="{FF2B5EF4-FFF2-40B4-BE49-F238E27FC236}">
                <a16:creationId xmlns:a16="http://schemas.microsoft.com/office/drawing/2014/main" id="{240CF8FE-DF6A-0B4A-5F2A-17118FC49C9F}"/>
              </a:ext>
            </a:extLst>
          </p:cNvPr>
          <p:cNvSpPr/>
          <p:nvPr/>
        </p:nvSpPr>
        <p:spPr>
          <a:xfrm>
            <a:off x="4754742" y="1078314"/>
            <a:ext cx="346575" cy="345225"/>
          </a:xfrm>
          <a:custGeom>
            <a:avLst/>
            <a:gdLst/>
            <a:ahLst/>
            <a:cxnLst/>
            <a:rect l="l" t="t" r="r" b="b"/>
            <a:pathLst>
              <a:path w="13863" h="13809" extrusionOk="0">
                <a:moveTo>
                  <a:pt x="4582" y="795"/>
                </a:moveTo>
                <a:cubicBezTo>
                  <a:pt x="4804" y="795"/>
                  <a:pt x="4992" y="983"/>
                  <a:pt x="4992" y="1205"/>
                </a:cubicBezTo>
                <a:cubicBezTo>
                  <a:pt x="4992" y="1426"/>
                  <a:pt x="4804" y="1614"/>
                  <a:pt x="4582" y="1614"/>
                </a:cubicBezTo>
                <a:cubicBezTo>
                  <a:pt x="4360" y="1614"/>
                  <a:pt x="4184" y="1426"/>
                  <a:pt x="4184" y="1205"/>
                </a:cubicBezTo>
                <a:cubicBezTo>
                  <a:pt x="4184" y="983"/>
                  <a:pt x="4360" y="795"/>
                  <a:pt x="4582" y="795"/>
                </a:cubicBezTo>
                <a:close/>
                <a:moveTo>
                  <a:pt x="9303" y="795"/>
                </a:moveTo>
                <a:cubicBezTo>
                  <a:pt x="9525" y="795"/>
                  <a:pt x="9702" y="983"/>
                  <a:pt x="9702" y="1205"/>
                </a:cubicBezTo>
                <a:cubicBezTo>
                  <a:pt x="9702" y="1426"/>
                  <a:pt x="9525" y="1614"/>
                  <a:pt x="9303" y="1614"/>
                </a:cubicBezTo>
                <a:cubicBezTo>
                  <a:pt x="9071" y="1614"/>
                  <a:pt x="8894" y="1426"/>
                  <a:pt x="8894" y="1205"/>
                </a:cubicBezTo>
                <a:cubicBezTo>
                  <a:pt x="8894" y="983"/>
                  <a:pt x="9071" y="795"/>
                  <a:pt x="9303" y="795"/>
                </a:cubicBezTo>
                <a:close/>
                <a:moveTo>
                  <a:pt x="8159" y="1614"/>
                </a:moveTo>
                <a:cubicBezTo>
                  <a:pt x="8229" y="1813"/>
                  <a:pt x="8333" y="1987"/>
                  <a:pt x="8487" y="2116"/>
                </a:cubicBezTo>
                <a:lnTo>
                  <a:pt x="7328" y="4922"/>
                </a:lnTo>
                <a:cubicBezTo>
                  <a:pt x="7199" y="4899"/>
                  <a:pt x="7070" y="4888"/>
                  <a:pt x="6944" y="4888"/>
                </a:cubicBezTo>
                <a:cubicBezTo>
                  <a:pt x="6815" y="4888"/>
                  <a:pt x="6686" y="4899"/>
                  <a:pt x="6557" y="4922"/>
                </a:cubicBezTo>
                <a:lnTo>
                  <a:pt x="5401" y="2116"/>
                </a:lnTo>
                <a:cubicBezTo>
                  <a:pt x="5541" y="1987"/>
                  <a:pt x="5656" y="1813"/>
                  <a:pt x="5727" y="1614"/>
                </a:cubicBezTo>
                <a:close/>
                <a:moveTo>
                  <a:pt x="1249" y="4128"/>
                </a:moveTo>
                <a:cubicBezTo>
                  <a:pt x="1474" y="4128"/>
                  <a:pt x="1659" y="4313"/>
                  <a:pt x="1659" y="4537"/>
                </a:cubicBezTo>
                <a:cubicBezTo>
                  <a:pt x="1659" y="4759"/>
                  <a:pt x="1474" y="4944"/>
                  <a:pt x="1249" y="4944"/>
                </a:cubicBezTo>
                <a:cubicBezTo>
                  <a:pt x="1028" y="4944"/>
                  <a:pt x="854" y="4759"/>
                  <a:pt x="854" y="4537"/>
                </a:cubicBezTo>
                <a:cubicBezTo>
                  <a:pt x="854" y="4313"/>
                  <a:pt x="1028" y="4128"/>
                  <a:pt x="1249" y="4128"/>
                </a:cubicBezTo>
                <a:close/>
                <a:moveTo>
                  <a:pt x="12636" y="4128"/>
                </a:moveTo>
                <a:cubicBezTo>
                  <a:pt x="12858" y="4128"/>
                  <a:pt x="13032" y="4313"/>
                  <a:pt x="13032" y="4537"/>
                </a:cubicBezTo>
                <a:cubicBezTo>
                  <a:pt x="13032" y="4759"/>
                  <a:pt x="12858" y="4944"/>
                  <a:pt x="12636" y="4944"/>
                </a:cubicBezTo>
                <a:cubicBezTo>
                  <a:pt x="12414" y="4944"/>
                  <a:pt x="12227" y="4759"/>
                  <a:pt x="12227" y="4537"/>
                </a:cubicBezTo>
                <a:cubicBezTo>
                  <a:pt x="12227" y="4313"/>
                  <a:pt x="12414" y="4128"/>
                  <a:pt x="12636" y="4128"/>
                </a:cubicBezTo>
                <a:close/>
                <a:moveTo>
                  <a:pt x="4069" y="2304"/>
                </a:moveTo>
                <a:cubicBezTo>
                  <a:pt x="4220" y="2375"/>
                  <a:pt x="4394" y="2419"/>
                  <a:pt x="4582" y="2419"/>
                </a:cubicBezTo>
                <a:lnTo>
                  <a:pt x="4652" y="2419"/>
                </a:lnTo>
                <a:lnTo>
                  <a:pt x="5808" y="5214"/>
                </a:lnTo>
                <a:cubicBezTo>
                  <a:pt x="5598" y="5365"/>
                  <a:pt x="5412" y="5553"/>
                  <a:pt x="5272" y="5763"/>
                </a:cubicBezTo>
                <a:lnTo>
                  <a:pt x="2467" y="4608"/>
                </a:lnTo>
                <a:lnTo>
                  <a:pt x="2467" y="4537"/>
                </a:lnTo>
                <a:cubicBezTo>
                  <a:pt x="2467" y="4349"/>
                  <a:pt x="2419" y="4173"/>
                  <a:pt x="2349" y="4010"/>
                </a:cubicBezTo>
                <a:lnTo>
                  <a:pt x="4069" y="2304"/>
                </a:lnTo>
                <a:close/>
                <a:moveTo>
                  <a:pt x="9820" y="2304"/>
                </a:moveTo>
                <a:lnTo>
                  <a:pt x="11536" y="4010"/>
                </a:lnTo>
                <a:cubicBezTo>
                  <a:pt x="11455" y="4173"/>
                  <a:pt x="11419" y="4349"/>
                  <a:pt x="11419" y="4537"/>
                </a:cubicBezTo>
                <a:lnTo>
                  <a:pt x="11419" y="4608"/>
                </a:lnTo>
                <a:lnTo>
                  <a:pt x="8613" y="5763"/>
                </a:lnTo>
                <a:cubicBezTo>
                  <a:pt x="8473" y="5553"/>
                  <a:pt x="8288" y="5365"/>
                  <a:pt x="8077" y="5214"/>
                </a:cubicBezTo>
                <a:lnTo>
                  <a:pt x="9233" y="2419"/>
                </a:lnTo>
                <a:lnTo>
                  <a:pt x="9303" y="2419"/>
                </a:lnTo>
                <a:cubicBezTo>
                  <a:pt x="9491" y="2419"/>
                  <a:pt x="9665" y="2375"/>
                  <a:pt x="9820" y="2304"/>
                </a:cubicBezTo>
                <a:close/>
                <a:moveTo>
                  <a:pt x="6944" y="5682"/>
                </a:moveTo>
                <a:cubicBezTo>
                  <a:pt x="7609" y="5682"/>
                  <a:pt x="8159" y="6221"/>
                  <a:pt x="8159" y="6897"/>
                </a:cubicBezTo>
                <a:cubicBezTo>
                  <a:pt x="8159" y="7564"/>
                  <a:pt x="7609" y="8100"/>
                  <a:pt x="6944" y="8100"/>
                </a:cubicBezTo>
                <a:cubicBezTo>
                  <a:pt x="6276" y="8100"/>
                  <a:pt x="5727" y="7564"/>
                  <a:pt x="5727" y="6897"/>
                </a:cubicBezTo>
                <a:cubicBezTo>
                  <a:pt x="5727" y="6221"/>
                  <a:pt x="6276" y="5682"/>
                  <a:pt x="6944" y="5682"/>
                </a:cubicBezTo>
                <a:close/>
                <a:moveTo>
                  <a:pt x="2139" y="5343"/>
                </a:moveTo>
                <a:lnTo>
                  <a:pt x="4944" y="6512"/>
                </a:lnTo>
                <a:cubicBezTo>
                  <a:pt x="4921" y="6627"/>
                  <a:pt x="4910" y="6756"/>
                  <a:pt x="4910" y="6897"/>
                </a:cubicBezTo>
                <a:cubicBezTo>
                  <a:pt x="4910" y="7026"/>
                  <a:pt x="4921" y="7155"/>
                  <a:pt x="4944" y="7284"/>
                </a:cubicBezTo>
                <a:lnTo>
                  <a:pt x="2139" y="8440"/>
                </a:lnTo>
                <a:cubicBezTo>
                  <a:pt x="2010" y="8288"/>
                  <a:pt x="1836" y="8170"/>
                  <a:pt x="1648" y="8100"/>
                </a:cubicBezTo>
                <a:lnTo>
                  <a:pt x="1648" y="5682"/>
                </a:lnTo>
                <a:cubicBezTo>
                  <a:pt x="1836" y="5612"/>
                  <a:pt x="2010" y="5494"/>
                  <a:pt x="2139" y="5343"/>
                </a:cubicBezTo>
                <a:close/>
                <a:moveTo>
                  <a:pt x="11713" y="5343"/>
                </a:moveTo>
                <a:cubicBezTo>
                  <a:pt x="11853" y="5494"/>
                  <a:pt x="12016" y="5612"/>
                  <a:pt x="12215" y="5682"/>
                </a:cubicBezTo>
                <a:lnTo>
                  <a:pt x="12215" y="8100"/>
                </a:lnTo>
                <a:cubicBezTo>
                  <a:pt x="12016" y="8170"/>
                  <a:pt x="11853" y="8288"/>
                  <a:pt x="11713" y="8440"/>
                </a:cubicBezTo>
                <a:lnTo>
                  <a:pt x="8919" y="7284"/>
                </a:lnTo>
                <a:cubicBezTo>
                  <a:pt x="8942" y="7155"/>
                  <a:pt x="8953" y="7026"/>
                  <a:pt x="8953" y="6897"/>
                </a:cubicBezTo>
                <a:cubicBezTo>
                  <a:pt x="8953" y="6756"/>
                  <a:pt x="8942" y="6627"/>
                  <a:pt x="8919" y="6512"/>
                </a:cubicBezTo>
                <a:lnTo>
                  <a:pt x="11713" y="5343"/>
                </a:lnTo>
                <a:close/>
                <a:moveTo>
                  <a:pt x="1249" y="8849"/>
                </a:moveTo>
                <a:cubicBezTo>
                  <a:pt x="1474" y="8849"/>
                  <a:pt x="1659" y="9026"/>
                  <a:pt x="1659" y="9248"/>
                </a:cubicBezTo>
                <a:cubicBezTo>
                  <a:pt x="1659" y="9469"/>
                  <a:pt x="1474" y="9657"/>
                  <a:pt x="1249" y="9657"/>
                </a:cubicBezTo>
                <a:cubicBezTo>
                  <a:pt x="1028" y="9657"/>
                  <a:pt x="854" y="9469"/>
                  <a:pt x="854" y="9248"/>
                </a:cubicBezTo>
                <a:cubicBezTo>
                  <a:pt x="854" y="9026"/>
                  <a:pt x="1028" y="8849"/>
                  <a:pt x="1249" y="8849"/>
                </a:cubicBezTo>
                <a:close/>
                <a:moveTo>
                  <a:pt x="12636" y="8849"/>
                </a:moveTo>
                <a:cubicBezTo>
                  <a:pt x="12858" y="8849"/>
                  <a:pt x="13032" y="9026"/>
                  <a:pt x="13032" y="9248"/>
                </a:cubicBezTo>
                <a:cubicBezTo>
                  <a:pt x="13032" y="9469"/>
                  <a:pt x="12858" y="9657"/>
                  <a:pt x="12636" y="9657"/>
                </a:cubicBezTo>
                <a:cubicBezTo>
                  <a:pt x="12414" y="9657"/>
                  <a:pt x="12227" y="9469"/>
                  <a:pt x="12227" y="9248"/>
                </a:cubicBezTo>
                <a:cubicBezTo>
                  <a:pt x="12227" y="9026"/>
                  <a:pt x="12414" y="8849"/>
                  <a:pt x="12636" y="8849"/>
                </a:cubicBezTo>
                <a:close/>
                <a:moveTo>
                  <a:pt x="5272" y="8019"/>
                </a:moveTo>
                <a:cubicBezTo>
                  <a:pt x="5412" y="8240"/>
                  <a:pt x="5598" y="8428"/>
                  <a:pt x="5808" y="8569"/>
                </a:cubicBezTo>
                <a:lnTo>
                  <a:pt x="4652" y="11374"/>
                </a:lnTo>
                <a:lnTo>
                  <a:pt x="4582" y="11374"/>
                </a:lnTo>
                <a:cubicBezTo>
                  <a:pt x="4394" y="11374"/>
                  <a:pt x="4220" y="11410"/>
                  <a:pt x="4069" y="11492"/>
                </a:cubicBezTo>
                <a:lnTo>
                  <a:pt x="2349" y="9772"/>
                </a:lnTo>
                <a:cubicBezTo>
                  <a:pt x="2419" y="9609"/>
                  <a:pt x="2467" y="9433"/>
                  <a:pt x="2467" y="9248"/>
                </a:cubicBezTo>
                <a:lnTo>
                  <a:pt x="2467" y="9189"/>
                </a:lnTo>
                <a:lnTo>
                  <a:pt x="5272" y="8019"/>
                </a:lnTo>
                <a:close/>
                <a:moveTo>
                  <a:pt x="8613" y="8019"/>
                </a:moveTo>
                <a:lnTo>
                  <a:pt x="11419" y="9189"/>
                </a:lnTo>
                <a:lnTo>
                  <a:pt x="11419" y="9248"/>
                </a:lnTo>
                <a:cubicBezTo>
                  <a:pt x="11419" y="9433"/>
                  <a:pt x="11455" y="9609"/>
                  <a:pt x="11536" y="9772"/>
                </a:cubicBezTo>
                <a:lnTo>
                  <a:pt x="9820" y="11492"/>
                </a:lnTo>
                <a:cubicBezTo>
                  <a:pt x="9665" y="11410"/>
                  <a:pt x="9491" y="11374"/>
                  <a:pt x="9303" y="11374"/>
                </a:cubicBezTo>
                <a:lnTo>
                  <a:pt x="9233" y="11374"/>
                </a:lnTo>
                <a:lnTo>
                  <a:pt x="8077" y="8569"/>
                </a:lnTo>
                <a:cubicBezTo>
                  <a:pt x="8288" y="8428"/>
                  <a:pt x="8473" y="8240"/>
                  <a:pt x="8613" y="8019"/>
                </a:cubicBezTo>
                <a:close/>
                <a:moveTo>
                  <a:pt x="7328" y="8886"/>
                </a:moveTo>
                <a:lnTo>
                  <a:pt x="8487" y="11691"/>
                </a:lnTo>
                <a:cubicBezTo>
                  <a:pt x="8333" y="11831"/>
                  <a:pt x="8229" y="11994"/>
                  <a:pt x="8159" y="12193"/>
                </a:cubicBezTo>
                <a:lnTo>
                  <a:pt x="5727" y="12193"/>
                </a:lnTo>
                <a:cubicBezTo>
                  <a:pt x="5656" y="11994"/>
                  <a:pt x="5541" y="11831"/>
                  <a:pt x="5401" y="11691"/>
                </a:cubicBezTo>
                <a:lnTo>
                  <a:pt x="6557" y="8886"/>
                </a:lnTo>
                <a:cubicBezTo>
                  <a:pt x="6686" y="8908"/>
                  <a:pt x="6815" y="8931"/>
                  <a:pt x="6944" y="8931"/>
                </a:cubicBezTo>
                <a:cubicBezTo>
                  <a:pt x="7070" y="8931"/>
                  <a:pt x="7199" y="8908"/>
                  <a:pt x="7328" y="8886"/>
                </a:cubicBezTo>
                <a:close/>
                <a:moveTo>
                  <a:pt x="4582" y="12182"/>
                </a:moveTo>
                <a:cubicBezTo>
                  <a:pt x="4804" y="12182"/>
                  <a:pt x="4992" y="12356"/>
                  <a:pt x="4992" y="12577"/>
                </a:cubicBezTo>
                <a:cubicBezTo>
                  <a:pt x="4992" y="12799"/>
                  <a:pt x="4804" y="12987"/>
                  <a:pt x="4582" y="12987"/>
                </a:cubicBezTo>
                <a:cubicBezTo>
                  <a:pt x="4360" y="12987"/>
                  <a:pt x="4184" y="12799"/>
                  <a:pt x="4184" y="12577"/>
                </a:cubicBezTo>
                <a:cubicBezTo>
                  <a:pt x="4184" y="12356"/>
                  <a:pt x="4360" y="12182"/>
                  <a:pt x="4582" y="12182"/>
                </a:cubicBezTo>
                <a:close/>
                <a:moveTo>
                  <a:pt x="9303" y="12182"/>
                </a:moveTo>
                <a:cubicBezTo>
                  <a:pt x="9525" y="12182"/>
                  <a:pt x="9702" y="12356"/>
                  <a:pt x="9702" y="12577"/>
                </a:cubicBezTo>
                <a:cubicBezTo>
                  <a:pt x="9702" y="12799"/>
                  <a:pt x="9525" y="12987"/>
                  <a:pt x="9303" y="12987"/>
                </a:cubicBezTo>
                <a:cubicBezTo>
                  <a:pt x="9071" y="12987"/>
                  <a:pt x="8894" y="12799"/>
                  <a:pt x="8894" y="12577"/>
                </a:cubicBezTo>
                <a:cubicBezTo>
                  <a:pt x="8894" y="12356"/>
                  <a:pt x="9071" y="12182"/>
                  <a:pt x="9303" y="12182"/>
                </a:cubicBezTo>
                <a:close/>
                <a:moveTo>
                  <a:pt x="4554" y="0"/>
                </a:moveTo>
                <a:cubicBezTo>
                  <a:pt x="4536" y="0"/>
                  <a:pt x="4518" y="1"/>
                  <a:pt x="4501" y="1"/>
                </a:cubicBezTo>
                <a:cubicBezTo>
                  <a:pt x="3892" y="35"/>
                  <a:pt x="3390" y="540"/>
                  <a:pt x="3367" y="1157"/>
                </a:cubicBezTo>
                <a:cubicBezTo>
                  <a:pt x="3353" y="1367"/>
                  <a:pt x="3390" y="1567"/>
                  <a:pt x="3482" y="1743"/>
                </a:cubicBezTo>
                <a:lnTo>
                  <a:pt x="1765" y="3449"/>
                </a:lnTo>
                <a:cubicBezTo>
                  <a:pt x="1606" y="3376"/>
                  <a:pt x="1428" y="3330"/>
                  <a:pt x="1240" y="3330"/>
                </a:cubicBezTo>
                <a:cubicBezTo>
                  <a:pt x="1220" y="3330"/>
                  <a:pt x="1200" y="3330"/>
                  <a:pt x="1179" y="3331"/>
                </a:cubicBezTo>
                <a:cubicBezTo>
                  <a:pt x="562" y="3368"/>
                  <a:pt x="57" y="3859"/>
                  <a:pt x="35" y="4479"/>
                </a:cubicBezTo>
                <a:cubicBezTo>
                  <a:pt x="1" y="5040"/>
                  <a:pt x="352" y="5519"/>
                  <a:pt x="843" y="5693"/>
                </a:cubicBezTo>
                <a:lnTo>
                  <a:pt x="843" y="8114"/>
                </a:lnTo>
                <a:cubicBezTo>
                  <a:pt x="352" y="8288"/>
                  <a:pt x="1" y="8768"/>
                  <a:pt x="35" y="9329"/>
                </a:cubicBezTo>
                <a:cubicBezTo>
                  <a:pt x="57" y="9949"/>
                  <a:pt x="562" y="10440"/>
                  <a:pt x="1179" y="10473"/>
                </a:cubicBezTo>
                <a:cubicBezTo>
                  <a:pt x="1201" y="10475"/>
                  <a:pt x="1222" y="10475"/>
                  <a:pt x="1243" y="10475"/>
                </a:cubicBezTo>
                <a:cubicBezTo>
                  <a:pt x="1430" y="10475"/>
                  <a:pt x="1607" y="10432"/>
                  <a:pt x="1765" y="10358"/>
                </a:cubicBezTo>
                <a:lnTo>
                  <a:pt x="3482" y="12075"/>
                </a:lnTo>
                <a:cubicBezTo>
                  <a:pt x="3390" y="12238"/>
                  <a:pt x="3353" y="12437"/>
                  <a:pt x="3367" y="12648"/>
                </a:cubicBezTo>
                <a:cubicBezTo>
                  <a:pt x="3390" y="13268"/>
                  <a:pt x="3892" y="13770"/>
                  <a:pt x="4501" y="13806"/>
                </a:cubicBezTo>
                <a:cubicBezTo>
                  <a:pt x="4526" y="13808"/>
                  <a:pt x="4550" y="13808"/>
                  <a:pt x="4575" y="13808"/>
                </a:cubicBezTo>
                <a:cubicBezTo>
                  <a:pt x="5104" y="13808"/>
                  <a:pt x="5549" y="13467"/>
                  <a:pt x="5715" y="12998"/>
                </a:cubicBezTo>
                <a:lnTo>
                  <a:pt x="8148" y="12998"/>
                </a:lnTo>
                <a:cubicBezTo>
                  <a:pt x="8303" y="13467"/>
                  <a:pt x="8758" y="13808"/>
                  <a:pt x="9278" y="13808"/>
                </a:cubicBezTo>
                <a:cubicBezTo>
                  <a:pt x="9302" y="13808"/>
                  <a:pt x="9327" y="13808"/>
                  <a:pt x="9351" y="13806"/>
                </a:cubicBezTo>
                <a:cubicBezTo>
                  <a:pt x="9971" y="13770"/>
                  <a:pt x="10473" y="13268"/>
                  <a:pt x="10496" y="12648"/>
                </a:cubicBezTo>
                <a:cubicBezTo>
                  <a:pt x="10507" y="12437"/>
                  <a:pt x="10462" y="12238"/>
                  <a:pt x="10381" y="12075"/>
                </a:cubicBezTo>
                <a:lnTo>
                  <a:pt x="12097" y="10358"/>
                </a:lnTo>
                <a:cubicBezTo>
                  <a:pt x="12249" y="10429"/>
                  <a:pt x="12437" y="10473"/>
                  <a:pt x="12625" y="10473"/>
                </a:cubicBezTo>
                <a:cubicBezTo>
                  <a:pt x="13290" y="10473"/>
                  <a:pt x="13828" y="9924"/>
                  <a:pt x="13828" y="9259"/>
                </a:cubicBezTo>
                <a:cubicBezTo>
                  <a:pt x="13828" y="8731"/>
                  <a:pt x="13489" y="8288"/>
                  <a:pt x="13020" y="8114"/>
                </a:cubicBezTo>
                <a:lnTo>
                  <a:pt x="13020" y="5693"/>
                </a:lnTo>
                <a:cubicBezTo>
                  <a:pt x="13511" y="5519"/>
                  <a:pt x="13862" y="5040"/>
                  <a:pt x="13828" y="4479"/>
                </a:cubicBezTo>
                <a:cubicBezTo>
                  <a:pt x="13792" y="3859"/>
                  <a:pt x="13290" y="3368"/>
                  <a:pt x="12681" y="3331"/>
                </a:cubicBezTo>
                <a:cubicBezTo>
                  <a:pt x="12661" y="3330"/>
                  <a:pt x="12640" y="3330"/>
                  <a:pt x="12620" y="3330"/>
                </a:cubicBezTo>
                <a:cubicBezTo>
                  <a:pt x="12433" y="3330"/>
                  <a:pt x="12257" y="3376"/>
                  <a:pt x="12097" y="3449"/>
                </a:cubicBezTo>
                <a:lnTo>
                  <a:pt x="10381" y="1743"/>
                </a:lnTo>
                <a:cubicBezTo>
                  <a:pt x="10462" y="1567"/>
                  <a:pt x="10507" y="1367"/>
                  <a:pt x="10496" y="1157"/>
                </a:cubicBezTo>
                <a:cubicBezTo>
                  <a:pt x="10473" y="540"/>
                  <a:pt x="9971" y="35"/>
                  <a:pt x="9351" y="1"/>
                </a:cubicBezTo>
                <a:cubicBezTo>
                  <a:pt x="9334" y="1"/>
                  <a:pt x="9316" y="0"/>
                  <a:pt x="9299" y="0"/>
                </a:cubicBezTo>
                <a:cubicBezTo>
                  <a:pt x="8771" y="0"/>
                  <a:pt x="8316" y="331"/>
                  <a:pt x="8148" y="806"/>
                </a:cubicBezTo>
                <a:lnTo>
                  <a:pt x="5715" y="806"/>
                </a:lnTo>
                <a:cubicBezTo>
                  <a:pt x="5547" y="331"/>
                  <a:pt x="5092" y="0"/>
                  <a:pt x="455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9451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BBE0C-605A-6E42-6C81-BCB5602C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Прямоугольник 34">
            <a:extLst>
              <a:ext uri="{FF2B5EF4-FFF2-40B4-BE49-F238E27FC236}">
                <a16:creationId xmlns:a16="http://schemas.microsoft.com/office/drawing/2014/main" id="{CBFFC7EF-E25C-F4C7-1A4F-AF1B4FB19EF7}"/>
              </a:ext>
            </a:extLst>
          </p:cNvPr>
          <p:cNvSpPr/>
          <p:nvPr/>
        </p:nvSpPr>
        <p:spPr>
          <a:xfrm>
            <a:off x="4524162" y="1855082"/>
            <a:ext cx="4161096" cy="673330"/>
          </a:xfrm>
          <a:prstGeom prst="rect">
            <a:avLst/>
          </a:prstGeom>
          <a:solidFill>
            <a:schemeClr val="tx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Candara" panose="020E0502030303020204" pitchFamily="34" charset="0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DD3996-31C4-D53A-40D1-4C97AB9AC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258" y="437768"/>
            <a:ext cx="7704000" cy="572700"/>
          </a:xfrm>
        </p:spPr>
        <p:txBody>
          <a:bodyPr/>
          <a:lstStyle/>
          <a:p>
            <a:r>
              <a:rPr lang="en-US" altLang="zh-CN" b="1" dirty="0">
                <a:latin typeface="Candara" panose="020E0502030303020204" pitchFamily="34" charset="0"/>
              </a:rPr>
              <a:t>SHAP (</a:t>
            </a:r>
            <a:r>
              <a:rPr lang="en-US" altLang="zh-CN" b="1" dirty="0" err="1">
                <a:latin typeface="Candara" panose="020E0502030303020204" pitchFamily="34" charset="0"/>
              </a:rPr>
              <a:t>SHapley</a:t>
            </a:r>
            <a:r>
              <a:rPr lang="en-US" altLang="zh-CN" b="1" dirty="0">
                <a:latin typeface="Candara" panose="020E0502030303020204" pitchFamily="34" charset="0"/>
              </a:rPr>
              <a:t> Additive </a:t>
            </a:r>
            <a:r>
              <a:rPr lang="en-US" altLang="zh-CN" b="1" dirty="0" err="1">
                <a:latin typeface="Candara" panose="020E0502030303020204" pitchFamily="34" charset="0"/>
              </a:rPr>
              <a:t>exPlanations</a:t>
            </a:r>
            <a:r>
              <a:rPr lang="en-US" altLang="zh-CN" b="1" dirty="0">
                <a:latin typeface="Candara" panose="020E0502030303020204" pitchFamily="34" charset="0"/>
              </a:rPr>
              <a:t>)</a:t>
            </a:r>
            <a:endParaRPr lang="zh-CN" altLang="en-US" b="1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6A57673-1640-203D-753A-50FA2D5923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829" y="1810256"/>
            <a:ext cx="2864695" cy="957250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Теория игр Шепли для распределения "вклада" между признаками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Справедливое распределение влияния на </a:t>
            </a:r>
            <a:r>
              <a:rPr lang="ru-RU" altLang="zh-CN" dirty="0" err="1">
                <a:latin typeface="Candara" panose="020E0502030303020204" pitchFamily="34" charset="0"/>
              </a:rPr>
              <a:t>prediction</a:t>
            </a:r>
            <a:br>
              <a:rPr lang="ru-RU" altLang="zh-CN" dirty="0">
                <a:latin typeface="Candara" panose="020E0502030303020204" pitchFamily="34" charset="0"/>
              </a:rPr>
            </a:b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C0B1D129-F2B4-4E33-358C-A49882364790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1450553" y="3309082"/>
            <a:ext cx="2781748" cy="988142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Теоретически обоснованный метод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Локальная и глобальная интерпретируемость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Работает с любыми моделями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DD9D77E6-D8AD-ED67-C7DE-6E5970008BB1}"/>
              </a:ext>
            </a:extLst>
          </p:cNvPr>
          <p:cNvSpPr>
            <a:spLocks noGrp="1"/>
          </p:cNvSpPr>
          <p:nvPr>
            <p:ph type="subTitle" idx="3"/>
          </p:nvPr>
        </p:nvSpPr>
        <p:spPr>
          <a:xfrm>
            <a:off x="4800213" y="3370093"/>
            <a:ext cx="4343787" cy="689889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Force </a:t>
            </a:r>
            <a:r>
              <a:rPr lang="ru-RU" altLang="zh-CN" dirty="0" err="1">
                <a:latin typeface="Candara" panose="020E0502030303020204" pitchFamily="34" charset="0"/>
              </a:rPr>
              <a:t>plot</a:t>
            </a:r>
            <a:r>
              <a:rPr lang="ru-RU" altLang="zh-CN" dirty="0">
                <a:latin typeface="Candara" panose="020E0502030303020204" pitchFamily="34" charset="0"/>
              </a:rPr>
              <a:t> - вклад в конкретное предсказание</a:t>
            </a:r>
          </a:p>
          <a:p>
            <a:r>
              <a:rPr lang="ru-RU" altLang="zh-CN" dirty="0" err="1">
                <a:latin typeface="Candara" panose="020E0502030303020204" pitchFamily="34" charset="0"/>
              </a:rPr>
              <a:t>Summary</a:t>
            </a:r>
            <a:r>
              <a:rPr lang="ru-RU" altLang="zh-CN" dirty="0">
                <a:latin typeface="Candara" panose="020E0502030303020204" pitchFamily="34" charset="0"/>
              </a:rPr>
              <a:t> </a:t>
            </a:r>
            <a:r>
              <a:rPr lang="ru-RU" altLang="zh-CN" dirty="0" err="1">
                <a:latin typeface="Candara" panose="020E0502030303020204" pitchFamily="34" charset="0"/>
              </a:rPr>
              <a:t>plot</a:t>
            </a:r>
            <a:r>
              <a:rPr lang="ru-RU" altLang="zh-CN" dirty="0">
                <a:latin typeface="Candara" panose="020E0502030303020204" pitchFamily="34" charset="0"/>
              </a:rPr>
              <a:t> - глобальная важность признаков</a:t>
            </a:r>
          </a:p>
          <a:p>
            <a:r>
              <a:rPr lang="ru-RU" altLang="zh-CN" dirty="0" err="1">
                <a:latin typeface="Candara" panose="020E0502030303020204" pitchFamily="34" charset="0"/>
              </a:rPr>
              <a:t>Dependence</a:t>
            </a:r>
            <a:r>
              <a:rPr lang="ru-RU" altLang="zh-CN" dirty="0">
                <a:latin typeface="Candara" panose="020E0502030303020204" pitchFamily="34" charset="0"/>
              </a:rPr>
              <a:t> </a:t>
            </a:r>
            <a:r>
              <a:rPr lang="ru-RU" altLang="zh-CN" dirty="0" err="1">
                <a:latin typeface="Candara" panose="020E0502030303020204" pitchFamily="34" charset="0"/>
              </a:rPr>
              <a:t>plot</a:t>
            </a:r>
            <a:r>
              <a:rPr lang="ru-RU" altLang="zh-CN" dirty="0">
                <a:latin typeface="Candara" panose="020E0502030303020204" pitchFamily="34" charset="0"/>
              </a:rPr>
              <a:t> - зависимость предсказания от признака</a:t>
            </a:r>
            <a:endParaRPr lang="zh-CN" altLang="en-US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09C08C8A-7BA2-8EEF-3FA2-BA86C287285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268752" y="1343770"/>
            <a:ext cx="2136311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Принцип работы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3AEB36B0-F440-737F-1F33-7DC6B584253C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1268752" y="2912408"/>
            <a:ext cx="2260200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Преимущества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8" name="Подзаголовок 7">
            <a:extLst>
              <a:ext uri="{FF2B5EF4-FFF2-40B4-BE49-F238E27FC236}">
                <a16:creationId xmlns:a16="http://schemas.microsoft.com/office/drawing/2014/main" id="{724258DA-6CEA-ADA9-7FD7-2CF414A1BB63}"/>
              </a:ext>
            </a:extLst>
          </p:cNvPr>
          <p:cNvSpPr>
            <a:spLocks noGrp="1"/>
          </p:cNvSpPr>
          <p:nvPr>
            <p:ph type="subTitle" idx="6"/>
          </p:nvPr>
        </p:nvSpPr>
        <p:spPr>
          <a:xfrm>
            <a:off x="4754742" y="2985448"/>
            <a:ext cx="2069656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Типы объяснений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grpSp>
        <p:nvGrpSpPr>
          <p:cNvPr id="9" name="Google Shape;1233;p47">
            <a:extLst>
              <a:ext uri="{FF2B5EF4-FFF2-40B4-BE49-F238E27FC236}">
                <a16:creationId xmlns:a16="http://schemas.microsoft.com/office/drawing/2014/main" id="{85DB3F1B-C165-A41F-3E3D-FFCB9381ED35}"/>
              </a:ext>
            </a:extLst>
          </p:cNvPr>
          <p:cNvGrpSpPr/>
          <p:nvPr/>
        </p:nvGrpSpPr>
        <p:grpSpPr>
          <a:xfrm>
            <a:off x="4414253" y="1963069"/>
            <a:ext cx="6577836" cy="2799873"/>
            <a:chOff x="2320585" y="-1326942"/>
            <a:chExt cx="5859225" cy="2360405"/>
          </a:xfrm>
        </p:grpSpPr>
        <p:sp>
          <p:nvSpPr>
            <p:cNvPr id="10" name="Google Shape;1234;p47">
              <a:extLst>
                <a:ext uri="{FF2B5EF4-FFF2-40B4-BE49-F238E27FC236}">
                  <a16:creationId xmlns:a16="http://schemas.microsoft.com/office/drawing/2014/main" id="{62E063FC-5C48-2D40-2FB0-C8014361CDC9}"/>
                </a:ext>
              </a:extLst>
            </p:cNvPr>
            <p:cNvSpPr/>
            <p:nvPr/>
          </p:nvSpPr>
          <p:spPr>
            <a:xfrm>
              <a:off x="2320585" y="-104237"/>
              <a:ext cx="5859225" cy="1137700"/>
            </a:xfrm>
            <a:custGeom>
              <a:avLst/>
              <a:gdLst/>
              <a:ahLst/>
              <a:cxnLst/>
              <a:rect l="l" t="t" r="r" b="b"/>
              <a:pathLst>
                <a:path w="234369" h="45508" extrusionOk="0">
                  <a:moveTo>
                    <a:pt x="0" y="1639"/>
                  </a:moveTo>
                  <a:lnTo>
                    <a:pt x="15636" y="28722"/>
                  </a:lnTo>
                  <a:lnTo>
                    <a:pt x="79093" y="28722"/>
                  </a:lnTo>
                  <a:lnTo>
                    <a:pt x="95879" y="45508"/>
                  </a:lnTo>
                  <a:lnTo>
                    <a:pt x="205255" y="45508"/>
                  </a:lnTo>
                  <a:lnTo>
                    <a:pt x="231529" y="0"/>
                  </a:lnTo>
                  <a:lnTo>
                    <a:pt x="234369" y="164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dirty="0"/>
            </a:p>
          </p:txBody>
        </p:sp>
        <p:grpSp>
          <p:nvGrpSpPr>
            <p:cNvPr id="11" name="Google Shape;1235;p47">
              <a:extLst>
                <a:ext uri="{FF2B5EF4-FFF2-40B4-BE49-F238E27FC236}">
                  <a16:creationId xmlns:a16="http://schemas.microsoft.com/office/drawing/2014/main" id="{B9A8A2B8-F283-33FF-D6CB-DA5EED87F4E9}"/>
                </a:ext>
              </a:extLst>
            </p:cNvPr>
            <p:cNvGrpSpPr/>
            <p:nvPr/>
          </p:nvGrpSpPr>
          <p:grpSpPr>
            <a:xfrm rot="-5400000">
              <a:off x="7216713" y="-925832"/>
              <a:ext cx="1076536" cy="274315"/>
              <a:chOff x="7137512" y="6308643"/>
              <a:chExt cx="3816146" cy="972402"/>
            </a:xfrm>
          </p:grpSpPr>
          <p:sp>
            <p:nvSpPr>
              <p:cNvPr id="12" name="Google Shape;1236;p47">
                <a:extLst>
                  <a:ext uri="{FF2B5EF4-FFF2-40B4-BE49-F238E27FC236}">
                    <a16:creationId xmlns:a16="http://schemas.microsoft.com/office/drawing/2014/main" id="{C92FBF56-5240-D2FA-926F-7B9F450F4AC3}"/>
                  </a:ext>
                </a:extLst>
              </p:cNvPr>
              <p:cNvSpPr/>
              <p:nvPr/>
            </p:nvSpPr>
            <p:spPr>
              <a:xfrm rot="10800000">
                <a:off x="7137512" y="6308643"/>
                <a:ext cx="1231991" cy="703353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237;p47">
                <a:extLst>
                  <a:ext uri="{FF2B5EF4-FFF2-40B4-BE49-F238E27FC236}">
                    <a16:creationId xmlns:a16="http://schemas.microsoft.com/office/drawing/2014/main" id="{0E8E37C2-78E5-7B55-5DCB-24E4EB054323}"/>
                  </a:ext>
                </a:extLst>
              </p:cNvPr>
              <p:cNvSpPr/>
              <p:nvPr/>
            </p:nvSpPr>
            <p:spPr>
              <a:xfrm rot="10800000">
                <a:off x="10326151" y="6660319"/>
                <a:ext cx="627507" cy="6207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" name="Google Shape;1282;p48">
            <a:extLst>
              <a:ext uri="{FF2B5EF4-FFF2-40B4-BE49-F238E27FC236}">
                <a16:creationId xmlns:a16="http://schemas.microsoft.com/office/drawing/2014/main" id="{F43D723B-AFA4-2438-B967-85FF4094DB34}"/>
              </a:ext>
            </a:extLst>
          </p:cNvPr>
          <p:cNvGrpSpPr/>
          <p:nvPr/>
        </p:nvGrpSpPr>
        <p:grpSpPr>
          <a:xfrm>
            <a:off x="1102954" y="3021452"/>
            <a:ext cx="346275" cy="345150"/>
            <a:chOff x="5521113" y="3797375"/>
            <a:chExt cx="346275" cy="345150"/>
          </a:xfrm>
        </p:grpSpPr>
        <p:sp>
          <p:nvSpPr>
            <p:cNvPr id="23" name="Google Shape;1283;p48">
              <a:extLst>
                <a:ext uri="{FF2B5EF4-FFF2-40B4-BE49-F238E27FC236}">
                  <a16:creationId xmlns:a16="http://schemas.microsoft.com/office/drawing/2014/main" id="{01CA59AF-F690-BE9C-1089-ED16A736FE7D}"/>
                </a:ext>
              </a:extLst>
            </p:cNvPr>
            <p:cNvSpPr/>
            <p:nvPr/>
          </p:nvSpPr>
          <p:spPr>
            <a:xfrm>
              <a:off x="5576313" y="3797375"/>
              <a:ext cx="235900" cy="345150"/>
            </a:xfrm>
            <a:custGeom>
              <a:avLst/>
              <a:gdLst/>
              <a:ahLst/>
              <a:cxnLst/>
              <a:rect l="l" t="t" r="r" b="b"/>
              <a:pathLst>
                <a:path w="9436" h="13806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4" name="Google Shape;1284;p48">
              <a:extLst>
                <a:ext uri="{FF2B5EF4-FFF2-40B4-BE49-F238E27FC236}">
                  <a16:creationId xmlns:a16="http://schemas.microsoft.com/office/drawing/2014/main" id="{90A5088A-D1A9-ED10-6305-CD550C52D6B7}"/>
                </a:ext>
              </a:extLst>
            </p:cNvPr>
            <p:cNvSpPr/>
            <p:nvPr/>
          </p:nvSpPr>
          <p:spPr>
            <a:xfrm>
              <a:off x="5825913" y="3905250"/>
              <a:ext cx="41475" cy="20150"/>
            </a:xfrm>
            <a:custGeom>
              <a:avLst/>
              <a:gdLst/>
              <a:ahLst/>
              <a:cxnLst/>
              <a:rect l="l" t="t" r="r" b="b"/>
              <a:pathLst>
                <a:path w="1659" h="806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5" name="Google Shape;1285;p48">
              <a:extLst>
                <a:ext uri="{FF2B5EF4-FFF2-40B4-BE49-F238E27FC236}">
                  <a16:creationId xmlns:a16="http://schemas.microsoft.com/office/drawing/2014/main" id="{09347639-8C51-480C-0006-FDC64C36FFCE}"/>
                </a:ext>
              </a:extLst>
            </p:cNvPr>
            <p:cNvSpPr/>
            <p:nvPr/>
          </p:nvSpPr>
          <p:spPr>
            <a:xfrm>
              <a:off x="5818288" y="383777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6" name="Google Shape;1286;p48">
              <a:extLst>
                <a:ext uri="{FF2B5EF4-FFF2-40B4-BE49-F238E27FC236}">
                  <a16:creationId xmlns:a16="http://schemas.microsoft.com/office/drawing/2014/main" id="{E7EEB679-77F4-4AEA-1A39-4363221400CF}"/>
                </a:ext>
              </a:extLst>
            </p:cNvPr>
            <p:cNvSpPr/>
            <p:nvPr/>
          </p:nvSpPr>
          <p:spPr>
            <a:xfrm>
              <a:off x="5818288" y="3962475"/>
              <a:ext cx="40700" cy="30425"/>
            </a:xfrm>
            <a:custGeom>
              <a:avLst/>
              <a:gdLst/>
              <a:ahLst/>
              <a:cxnLst/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7" name="Google Shape;1287;p48">
              <a:extLst>
                <a:ext uri="{FF2B5EF4-FFF2-40B4-BE49-F238E27FC236}">
                  <a16:creationId xmlns:a16="http://schemas.microsoft.com/office/drawing/2014/main" id="{D210D81B-FD5B-F293-D370-2B040C1CDEFC}"/>
                </a:ext>
              </a:extLst>
            </p:cNvPr>
            <p:cNvSpPr/>
            <p:nvPr/>
          </p:nvSpPr>
          <p:spPr>
            <a:xfrm>
              <a:off x="5521113" y="3905250"/>
              <a:ext cx="41825" cy="20150"/>
            </a:xfrm>
            <a:custGeom>
              <a:avLst/>
              <a:gdLst/>
              <a:ahLst/>
              <a:cxnLst/>
              <a:rect l="l" t="t" r="r" b="b"/>
              <a:pathLst>
                <a:path w="1673" h="806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8" name="Google Shape;1288;p48">
              <a:extLst>
                <a:ext uri="{FF2B5EF4-FFF2-40B4-BE49-F238E27FC236}">
                  <a16:creationId xmlns:a16="http://schemas.microsoft.com/office/drawing/2014/main" id="{904FE85B-0A64-428B-6E10-7F408F44D290}"/>
                </a:ext>
              </a:extLst>
            </p:cNvPr>
            <p:cNvSpPr/>
            <p:nvPr/>
          </p:nvSpPr>
          <p:spPr>
            <a:xfrm>
              <a:off x="5529888" y="3837775"/>
              <a:ext cx="40350" cy="30375"/>
            </a:xfrm>
            <a:custGeom>
              <a:avLst/>
              <a:gdLst/>
              <a:ahLst/>
              <a:cxnLst/>
              <a:rect l="l" t="t" r="r" b="b"/>
              <a:pathLst>
                <a:path w="1614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9" name="Google Shape;1289;p48">
              <a:extLst>
                <a:ext uri="{FF2B5EF4-FFF2-40B4-BE49-F238E27FC236}">
                  <a16:creationId xmlns:a16="http://schemas.microsoft.com/office/drawing/2014/main" id="{51250E74-4DE5-C8C4-96D6-6E9E31A9AD5A}"/>
                </a:ext>
              </a:extLst>
            </p:cNvPr>
            <p:cNvSpPr/>
            <p:nvPr/>
          </p:nvSpPr>
          <p:spPr>
            <a:xfrm>
              <a:off x="5529888" y="3962475"/>
              <a:ext cx="40350" cy="30425"/>
            </a:xfrm>
            <a:custGeom>
              <a:avLst/>
              <a:gdLst/>
              <a:ahLst/>
              <a:cxnLst/>
              <a:rect l="l" t="t" r="r" b="b"/>
              <a:pathLst>
                <a:path w="1614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30" name="Google Shape;1399;p48">
            <a:extLst>
              <a:ext uri="{FF2B5EF4-FFF2-40B4-BE49-F238E27FC236}">
                <a16:creationId xmlns:a16="http://schemas.microsoft.com/office/drawing/2014/main" id="{4E66260F-5EBE-B816-AE86-A9DC42E35E6C}"/>
              </a:ext>
            </a:extLst>
          </p:cNvPr>
          <p:cNvSpPr/>
          <p:nvPr/>
        </p:nvSpPr>
        <p:spPr>
          <a:xfrm>
            <a:off x="1096215" y="1412191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AC74FE-FF2F-2717-353C-D265BE062EB6}"/>
              </a:ext>
            </a:extLst>
          </p:cNvPr>
          <p:cNvSpPr txBox="1"/>
          <p:nvPr/>
        </p:nvSpPr>
        <p:spPr>
          <a:xfrm>
            <a:off x="4596028" y="2044728"/>
            <a:ext cx="41610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SHAP_value</a:t>
            </a:r>
            <a:r>
              <a:rPr lang="en-US" altLang="zh-CN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(</a:t>
            </a:r>
            <a:r>
              <a:rPr lang="en-US" altLang="zh-CN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i</a:t>
            </a:r>
            <a:r>
              <a:rPr lang="en-US" altLang="zh-CN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) = Σ [f(S ∪ {</a:t>
            </a:r>
            <a:r>
              <a:rPr lang="en-US" altLang="zh-CN" b="1" dirty="0" err="1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i</a:t>
            </a:r>
            <a:r>
              <a:rPr lang="en-US" altLang="zh-CN" b="1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}) - f(S)] * |S|!(M-|S|-1)!/M!</a:t>
            </a:r>
          </a:p>
        </p:txBody>
      </p:sp>
      <p:sp>
        <p:nvSpPr>
          <p:cNvPr id="36" name="Подзаголовок 5">
            <a:extLst>
              <a:ext uri="{FF2B5EF4-FFF2-40B4-BE49-F238E27FC236}">
                <a16:creationId xmlns:a16="http://schemas.microsoft.com/office/drawing/2014/main" id="{2F0A4C15-7FF2-1A64-475D-0FC7A1C9E202}"/>
              </a:ext>
            </a:extLst>
          </p:cNvPr>
          <p:cNvSpPr txBox="1">
            <a:spLocks/>
          </p:cNvSpPr>
          <p:nvPr/>
        </p:nvSpPr>
        <p:spPr>
          <a:xfrm>
            <a:off x="4990437" y="1333672"/>
            <a:ext cx="2969761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ru-RU" altLang="zh-CN" dirty="0">
                <a:latin typeface="Candara" panose="020E0502030303020204" pitchFamily="34" charset="0"/>
              </a:rPr>
              <a:t>Математическая основа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38" name="Google Shape;1484;p48">
            <a:extLst>
              <a:ext uri="{FF2B5EF4-FFF2-40B4-BE49-F238E27FC236}">
                <a16:creationId xmlns:a16="http://schemas.microsoft.com/office/drawing/2014/main" id="{70F206C5-CBEB-A18A-B02E-EF314A99C4F8}"/>
              </a:ext>
            </a:extLst>
          </p:cNvPr>
          <p:cNvSpPr/>
          <p:nvPr/>
        </p:nvSpPr>
        <p:spPr>
          <a:xfrm>
            <a:off x="4817150" y="1401210"/>
            <a:ext cx="346575" cy="345225"/>
          </a:xfrm>
          <a:custGeom>
            <a:avLst/>
            <a:gdLst/>
            <a:ahLst/>
            <a:cxnLst/>
            <a:rect l="l" t="t" r="r" b="b"/>
            <a:pathLst>
              <a:path w="13863" h="13809" extrusionOk="0">
                <a:moveTo>
                  <a:pt x="4582" y="795"/>
                </a:moveTo>
                <a:cubicBezTo>
                  <a:pt x="4804" y="795"/>
                  <a:pt x="4992" y="983"/>
                  <a:pt x="4992" y="1205"/>
                </a:cubicBezTo>
                <a:cubicBezTo>
                  <a:pt x="4992" y="1426"/>
                  <a:pt x="4804" y="1614"/>
                  <a:pt x="4582" y="1614"/>
                </a:cubicBezTo>
                <a:cubicBezTo>
                  <a:pt x="4360" y="1614"/>
                  <a:pt x="4184" y="1426"/>
                  <a:pt x="4184" y="1205"/>
                </a:cubicBezTo>
                <a:cubicBezTo>
                  <a:pt x="4184" y="983"/>
                  <a:pt x="4360" y="795"/>
                  <a:pt x="4582" y="795"/>
                </a:cubicBezTo>
                <a:close/>
                <a:moveTo>
                  <a:pt x="9303" y="795"/>
                </a:moveTo>
                <a:cubicBezTo>
                  <a:pt x="9525" y="795"/>
                  <a:pt x="9702" y="983"/>
                  <a:pt x="9702" y="1205"/>
                </a:cubicBezTo>
                <a:cubicBezTo>
                  <a:pt x="9702" y="1426"/>
                  <a:pt x="9525" y="1614"/>
                  <a:pt x="9303" y="1614"/>
                </a:cubicBezTo>
                <a:cubicBezTo>
                  <a:pt x="9071" y="1614"/>
                  <a:pt x="8894" y="1426"/>
                  <a:pt x="8894" y="1205"/>
                </a:cubicBezTo>
                <a:cubicBezTo>
                  <a:pt x="8894" y="983"/>
                  <a:pt x="9071" y="795"/>
                  <a:pt x="9303" y="795"/>
                </a:cubicBezTo>
                <a:close/>
                <a:moveTo>
                  <a:pt x="8159" y="1614"/>
                </a:moveTo>
                <a:cubicBezTo>
                  <a:pt x="8229" y="1813"/>
                  <a:pt x="8333" y="1987"/>
                  <a:pt x="8487" y="2116"/>
                </a:cubicBezTo>
                <a:lnTo>
                  <a:pt x="7328" y="4922"/>
                </a:lnTo>
                <a:cubicBezTo>
                  <a:pt x="7199" y="4899"/>
                  <a:pt x="7070" y="4888"/>
                  <a:pt x="6944" y="4888"/>
                </a:cubicBezTo>
                <a:cubicBezTo>
                  <a:pt x="6815" y="4888"/>
                  <a:pt x="6686" y="4899"/>
                  <a:pt x="6557" y="4922"/>
                </a:cubicBezTo>
                <a:lnTo>
                  <a:pt x="5401" y="2116"/>
                </a:lnTo>
                <a:cubicBezTo>
                  <a:pt x="5541" y="1987"/>
                  <a:pt x="5656" y="1813"/>
                  <a:pt x="5727" y="1614"/>
                </a:cubicBezTo>
                <a:close/>
                <a:moveTo>
                  <a:pt x="1249" y="4128"/>
                </a:moveTo>
                <a:cubicBezTo>
                  <a:pt x="1474" y="4128"/>
                  <a:pt x="1659" y="4313"/>
                  <a:pt x="1659" y="4537"/>
                </a:cubicBezTo>
                <a:cubicBezTo>
                  <a:pt x="1659" y="4759"/>
                  <a:pt x="1474" y="4944"/>
                  <a:pt x="1249" y="4944"/>
                </a:cubicBezTo>
                <a:cubicBezTo>
                  <a:pt x="1028" y="4944"/>
                  <a:pt x="854" y="4759"/>
                  <a:pt x="854" y="4537"/>
                </a:cubicBezTo>
                <a:cubicBezTo>
                  <a:pt x="854" y="4313"/>
                  <a:pt x="1028" y="4128"/>
                  <a:pt x="1249" y="4128"/>
                </a:cubicBezTo>
                <a:close/>
                <a:moveTo>
                  <a:pt x="12636" y="4128"/>
                </a:moveTo>
                <a:cubicBezTo>
                  <a:pt x="12858" y="4128"/>
                  <a:pt x="13032" y="4313"/>
                  <a:pt x="13032" y="4537"/>
                </a:cubicBezTo>
                <a:cubicBezTo>
                  <a:pt x="13032" y="4759"/>
                  <a:pt x="12858" y="4944"/>
                  <a:pt x="12636" y="4944"/>
                </a:cubicBezTo>
                <a:cubicBezTo>
                  <a:pt x="12414" y="4944"/>
                  <a:pt x="12227" y="4759"/>
                  <a:pt x="12227" y="4537"/>
                </a:cubicBezTo>
                <a:cubicBezTo>
                  <a:pt x="12227" y="4313"/>
                  <a:pt x="12414" y="4128"/>
                  <a:pt x="12636" y="4128"/>
                </a:cubicBezTo>
                <a:close/>
                <a:moveTo>
                  <a:pt x="4069" y="2304"/>
                </a:moveTo>
                <a:cubicBezTo>
                  <a:pt x="4220" y="2375"/>
                  <a:pt x="4394" y="2419"/>
                  <a:pt x="4582" y="2419"/>
                </a:cubicBezTo>
                <a:lnTo>
                  <a:pt x="4652" y="2419"/>
                </a:lnTo>
                <a:lnTo>
                  <a:pt x="5808" y="5214"/>
                </a:lnTo>
                <a:cubicBezTo>
                  <a:pt x="5598" y="5365"/>
                  <a:pt x="5412" y="5553"/>
                  <a:pt x="5272" y="5763"/>
                </a:cubicBezTo>
                <a:lnTo>
                  <a:pt x="2467" y="4608"/>
                </a:lnTo>
                <a:lnTo>
                  <a:pt x="2467" y="4537"/>
                </a:lnTo>
                <a:cubicBezTo>
                  <a:pt x="2467" y="4349"/>
                  <a:pt x="2419" y="4173"/>
                  <a:pt x="2349" y="4010"/>
                </a:cubicBezTo>
                <a:lnTo>
                  <a:pt x="4069" y="2304"/>
                </a:lnTo>
                <a:close/>
                <a:moveTo>
                  <a:pt x="9820" y="2304"/>
                </a:moveTo>
                <a:lnTo>
                  <a:pt x="11536" y="4010"/>
                </a:lnTo>
                <a:cubicBezTo>
                  <a:pt x="11455" y="4173"/>
                  <a:pt x="11419" y="4349"/>
                  <a:pt x="11419" y="4537"/>
                </a:cubicBezTo>
                <a:lnTo>
                  <a:pt x="11419" y="4608"/>
                </a:lnTo>
                <a:lnTo>
                  <a:pt x="8613" y="5763"/>
                </a:lnTo>
                <a:cubicBezTo>
                  <a:pt x="8473" y="5553"/>
                  <a:pt x="8288" y="5365"/>
                  <a:pt x="8077" y="5214"/>
                </a:cubicBezTo>
                <a:lnTo>
                  <a:pt x="9233" y="2419"/>
                </a:lnTo>
                <a:lnTo>
                  <a:pt x="9303" y="2419"/>
                </a:lnTo>
                <a:cubicBezTo>
                  <a:pt x="9491" y="2419"/>
                  <a:pt x="9665" y="2375"/>
                  <a:pt x="9820" y="2304"/>
                </a:cubicBezTo>
                <a:close/>
                <a:moveTo>
                  <a:pt x="6944" y="5682"/>
                </a:moveTo>
                <a:cubicBezTo>
                  <a:pt x="7609" y="5682"/>
                  <a:pt x="8159" y="6221"/>
                  <a:pt x="8159" y="6897"/>
                </a:cubicBezTo>
                <a:cubicBezTo>
                  <a:pt x="8159" y="7564"/>
                  <a:pt x="7609" y="8100"/>
                  <a:pt x="6944" y="8100"/>
                </a:cubicBezTo>
                <a:cubicBezTo>
                  <a:pt x="6276" y="8100"/>
                  <a:pt x="5727" y="7564"/>
                  <a:pt x="5727" y="6897"/>
                </a:cubicBezTo>
                <a:cubicBezTo>
                  <a:pt x="5727" y="6221"/>
                  <a:pt x="6276" y="5682"/>
                  <a:pt x="6944" y="5682"/>
                </a:cubicBezTo>
                <a:close/>
                <a:moveTo>
                  <a:pt x="2139" y="5343"/>
                </a:moveTo>
                <a:lnTo>
                  <a:pt x="4944" y="6512"/>
                </a:lnTo>
                <a:cubicBezTo>
                  <a:pt x="4921" y="6627"/>
                  <a:pt x="4910" y="6756"/>
                  <a:pt x="4910" y="6897"/>
                </a:cubicBezTo>
                <a:cubicBezTo>
                  <a:pt x="4910" y="7026"/>
                  <a:pt x="4921" y="7155"/>
                  <a:pt x="4944" y="7284"/>
                </a:cubicBezTo>
                <a:lnTo>
                  <a:pt x="2139" y="8440"/>
                </a:lnTo>
                <a:cubicBezTo>
                  <a:pt x="2010" y="8288"/>
                  <a:pt x="1836" y="8170"/>
                  <a:pt x="1648" y="8100"/>
                </a:cubicBezTo>
                <a:lnTo>
                  <a:pt x="1648" y="5682"/>
                </a:lnTo>
                <a:cubicBezTo>
                  <a:pt x="1836" y="5612"/>
                  <a:pt x="2010" y="5494"/>
                  <a:pt x="2139" y="5343"/>
                </a:cubicBezTo>
                <a:close/>
                <a:moveTo>
                  <a:pt x="11713" y="5343"/>
                </a:moveTo>
                <a:cubicBezTo>
                  <a:pt x="11853" y="5494"/>
                  <a:pt x="12016" y="5612"/>
                  <a:pt x="12215" y="5682"/>
                </a:cubicBezTo>
                <a:lnTo>
                  <a:pt x="12215" y="8100"/>
                </a:lnTo>
                <a:cubicBezTo>
                  <a:pt x="12016" y="8170"/>
                  <a:pt x="11853" y="8288"/>
                  <a:pt x="11713" y="8440"/>
                </a:cubicBezTo>
                <a:lnTo>
                  <a:pt x="8919" y="7284"/>
                </a:lnTo>
                <a:cubicBezTo>
                  <a:pt x="8942" y="7155"/>
                  <a:pt x="8953" y="7026"/>
                  <a:pt x="8953" y="6897"/>
                </a:cubicBezTo>
                <a:cubicBezTo>
                  <a:pt x="8953" y="6756"/>
                  <a:pt x="8942" y="6627"/>
                  <a:pt x="8919" y="6512"/>
                </a:cubicBezTo>
                <a:lnTo>
                  <a:pt x="11713" y="5343"/>
                </a:lnTo>
                <a:close/>
                <a:moveTo>
                  <a:pt x="1249" y="8849"/>
                </a:moveTo>
                <a:cubicBezTo>
                  <a:pt x="1474" y="8849"/>
                  <a:pt x="1659" y="9026"/>
                  <a:pt x="1659" y="9248"/>
                </a:cubicBezTo>
                <a:cubicBezTo>
                  <a:pt x="1659" y="9469"/>
                  <a:pt x="1474" y="9657"/>
                  <a:pt x="1249" y="9657"/>
                </a:cubicBezTo>
                <a:cubicBezTo>
                  <a:pt x="1028" y="9657"/>
                  <a:pt x="854" y="9469"/>
                  <a:pt x="854" y="9248"/>
                </a:cubicBezTo>
                <a:cubicBezTo>
                  <a:pt x="854" y="9026"/>
                  <a:pt x="1028" y="8849"/>
                  <a:pt x="1249" y="8849"/>
                </a:cubicBezTo>
                <a:close/>
                <a:moveTo>
                  <a:pt x="12636" y="8849"/>
                </a:moveTo>
                <a:cubicBezTo>
                  <a:pt x="12858" y="8849"/>
                  <a:pt x="13032" y="9026"/>
                  <a:pt x="13032" y="9248"/>
                </a:cubicBezTo>
                <a:cubicBezTo>
                  <a:pt x="13032" y="9469"/>
                  <a:pt x="12858" y="9657"/>
                  <a:pt x="12636" y="9657"/>
                </a:cubicBezTo>
                <a:cubicBezTo>
                  <a:pt x="12414" y="9657"/>
                  <a:pt x="12227" y="9469"/>
                  <a:pt x="12227" y="9248"/>
                </a:cubicBezTo>
                <a:cubicBezTo>
                  <a:pt x="12227" y="9026"/>
                  <a:pt x="12414" y="8849"/>
                  <a:pt x="12636" y="8849"/>
                </a:cubicBezTo>
                <a:close/>
                <a:moveTo>
                  <a:pt x="5272" y="8019"/>
                </a:moveTo>
                <a:cubicBezTo>
                  <a:pt x="5412" y="8240"/>
                  <a:pt x="5598" y="8428"/>
                  <a:pt x="5808" y="8569"/>
                </a:cubicBezTo>
                <a:lnTo>
                  <a:pt x="4652" y="11374"/>
                </a:lnTo>
                <a:lnTo>
                  <a:pt x="4582" y="11374"/>
                </a:lnTo>
                <a:cubicBezTo>
                  <a:pt x="4394" y="11374"/>
                  <a:pt x="4220" y="11410"/>
                  <a:pt x="4069" y="11492"/>
                </a:cubicBezTo>
                <a:lnTo>
                  <a:pt x="2349" y="9772"/>
                </a:lnTo>
                <a:cubicBezTo>
                  <a:pt x="2419" y="9609"/>
                  <a:pt x="2467" y="9433"/>
                  <a:pt x="2467" y="9248"/>
                </a:cubicBezTo>
                <a:lnTo>
                  <a:pt x="2467" y="9189"/>
                </a:lnTo>
                <a:lnTo>
                  <a:pt x="5272" y="8019"/>
                </a:lnTo>
                <a:close/>
                <a:moveTo>
                  <a:pt x="8613" y="8019"/>
                </a:moveTo>
                <a:lnTo>
                  <a:pt x="11419" y="9189"/>
                </a:lnTo>
                <a:lnTo>
                  <a:pt x="11419" y="9248"/>
                </a:lnTo>
                <a:cubicBezTo>
                  <a:pt x="11419" y="9433"/>
                  <a:pt x="11455" y="9609"/>
                  <a:pt x="11536" y="9772"/>
                </a:cubicBezTo>
                <a:lnTo>
                  <a:pt x="9820" y="11492"/>
                </a:lnTo>
                <a:cubicBezTo>
                  <a:pt x="9665" y="11410"/>
                  <a:pt x="9491" y="11374"/>
                  <a:pt x="9303" y="11374"/>
                </a:cubicBezTo>
                <a:lnTo>
                  <a:pt x="9233" y="11374"/>
                </a:lnTo>
                <a:lnTo>
                  <a:pt x="8077" y="8569"/>
                </a:lnTo>
                <a:cubicBezTo>
                  <a:pt x="8288" y="8428"/>
                  <a:pt x="8473" y="8240"/>
                  <a:pt x="8613" y="8019"/>
                </a:cubicBezTo>
                <a:close/>
                <a:moveTo>
                  <a:pt x="7328" y="8886"/>
                </a:moveTo>
                <a:lnTo>
                  <a:pt x="8487" y="11691"/>
                </a:lnTo>
                <a:cubicBezTo>
                  <a:pt x="8333" y="11831"/>
                  <a:pt x="8229" y="11994"/>
                  <a:pt x="8159" y="12193"/>
                </a:cubicBezTo>
                <a:lnTo>
                  <a:pt x="5727" y="12193"/>
                </a:lnTo>
                <a:cubicBezTo>
                  <a:pt x="5656" y="11994"/>
                  <a:pt x="5541" y="11831"/>
                  <a:pt x="5401" y="11691"/>
                </a:cubicBezTo>
                <a:lnTo>
                  <a:pt x="6557" y="8886"/>
                </a:lnTo>
                <a:cubicBezTo>
                  <a:pt x="6686" y="8908"/>
                  <a:pt x="6815" y="8931"/>
                  <a:pt x="6944" y="8931"/>
                </a:cubicBezTo>
                <a:cubicBezTo>
                  <a:pt x="7070" y="8931"/>
                  <a:pt x="7199" y="8908"/>
                  <a:pt x="7328" y="8886"/>
                </a:cubicBezTo>
                <a:close/>
                <a:moveTo>
                  <a:pt x="4582" y="12182"/>
                </a:moveTo>
                <a:cubicBezTo>
                  <a:pt x="4804" y="12182"/>
                  <a:pt x="4992" y="12356"/>
                  <a:pt x="4992" y="12577"/>
                </a:cubicBezTo>
                <a:cubicBezTo>
                  <a:pt x="4992" y="12799"/>
                  <a:pt x="4804" y="12987"/>
                  <a:pt x="4582" y="12987"/>
                </a:cubicBezTo>
                <a:cubicBezTo>
                  <a:pt x="4360" y="12987"/>
                  <a:pt x="4184" y="12799"/>
                  <a:pt x="4184" y="12577"/>
                </a:cubicBezTo>
                <a:cubicBezTo>
                  <a:pt x="4184" y="12356"/>
                  <a:pt x="4360" y="12182"/>
                  <a:pt x="4582" y="12182"/>
                </a:cubicBezTo>
                <a:close/>
                <a:moveTo>
                  <a:pt x="9303" y="12182"/>
                </a:moveTo>
                <a:cubicBezTo>
                  <a:pt x="9525" y="12182"/>
                  <a:pt x="9702" y="12356"/>
                  <a:pt x="9702" y="12577"/>
                </a:cubicBezTo>
                <a:cubicBezTo>
                  <a:pt x="9702" y="12799"/>
                  <a:pt x="9525" y="12987"/>
                  <a:pt x="9303" y="12987"/>
                </a:cubicBezTo>
                <a:cubicBezTo>
                  <a:pt x="9071" y="12987"/>
                  <a:pt x="8894" y="12799"/>
                  <a:pt x="8894" y="12577"/>
                </a:cubicBezTo>
                <a:cubicBezTo>
                  <a:pt x="8894" y="12356"/>
                  <a:pt x="9071" y="12182"/>
                  <a:pt x="9303" y="12182"/>
                </a:cubicBezTo>
                <a:close/>
                <a:moveTo>
                  <a:pt x="4554" y="0"/>
                </a:moveTo>
                <a:cubicBezTo>
                  <a:pt x="4536" y="0"/>
                  <a:pt x="4518" y="1"/>
                  <a:pt x="4501" y="1"/>
                </a:cubicBezTo>
                <a:cubicBezTo>
                  <a:pt x="3892" y="35"/>
                  <a:pt x="3390" y="540"/>
                  <a:pt x="3367" y="1157"/>
                </a:cubicBezTo>
                <a:cubicBezTo>
                  <a:pt x="3353" y="1367"/>
                  <a:pt x="3390" y="1567"/>
                  <a:pt x="3482" y="1743"/>
                </a:cubicBezTo>
                <a:lnTo>
                  <a:pt x="1765" y="3449"/>
                </a:lnTo>
                <a:cubicBezTo>
                  <a:pt x="1606" y="3376"/>
                  <a:pt x="1428" y="3330"/>
                  <a:pt x="1240" y="3330"/>
                </a:cubicBezTo>
                <a:cubicBezTo>
                  <a:pt x="1220" y="3330"/>
                  <a:pt x="1200" y="3330"/>
                  <a:pt x="1179" y="3331"/>
                </a:cubicBezTo>
                <a:cubicBezTo>
                  <a:pt x="562" y="3368"/>
                  <a:pt x="57" y="3859"/>
                  <a:pt x="35" y="4479"/>
                </a:cubicBezTo>
                <a:cubicBezTo>
                  <a:pt x="1" y="5040"/>
                  <a:pt x="352" y="5519"/>
                  <a:pt x="843" y="5693"/>
                </a:cubicBezTo>
                <a:lnTo>
                  <a:pt x="843" y="8114"/>
                </a:lnTo>
                <a:cubicBezTo>
                  <a:pt x="352" y="8288"/>
                  <a:pt x="1" y="8768"/>
                  <a:pt x="35" y="9329"/>
                </a:cubicBezTo>
                <a:cubicBezTo>
                  <a:pt x="57" y="9949"/>
                  <a:pt x="562" y="10440"/>
                  <a:pt x="1179" y="10473"/>
                </a:cubicBezTo>
                <a:cubicBezTo>
                  <a:pt x="1201" y="10475"/>
                  <a:pt x="1222" y="10475"/>
                  <a:pt x="1243" y="10475"/>
                </a:cubicBezTo>
                <a:cubicBezTo>
                  <a:pt x="1430" y="10475"/>
                  <a:pt x="1607" y="10432"/>
                  <a:pt x="1765" y="10358"/>
                </a:cubicBezTo>
                <a:lnTo>
                  <a:pt x="3482" y="12075"/>
                </a:lnTo>
                <a:cubicBezTo>
                  <a:pt x="3390" y="12238"/>
                  <a:pt x="3353" y="12437"/>
                  <a:pt x="3367" y="12648"/>
                </a:cubicBezTo>
                <a:cubicBezTo>
                  <a:pt x="3390" y="13268"/>
                  <a:pt x="3892" y="13770"/>
                  <a:pt x="4501" y="13806"/>
                </a:cubicBezTo>
                <a:cubicBezTo>
                  <a:pt x="4526" y="13808"/>
                  <a:pt x="4550" y="13808"/>
                  <a:pt x="4575" y="13808"/>
                </a:cubicBezTo>
                <a:cubicBezTo>
                  <a:pt x="5104" y="13808"/>
                  <a:pt x="5549" y="13467"/>
                  <a:pt x="5715" y="12998"/>
                </a:cubicBezTo>
                <a:lnTo>
                  <a:pt x="8148" y="12998"/>
                </a:lnTo>
                <a:cubicBezTo>
                  <a:pt x="8303" y="13467"/>
                  <a:pt x="8758" y="13808"/>
                  <a:pt x="9278" y="13808"/>
                </a:cubicBezTo>
                <a:cubicBezTo>
                  <a:pt x="9302" y="13808"/>
                  <a:pt x="9327" y="13808"/>
                  <a:pt x="9351" y="13806"/>
                </a:cubicBezTo>
                <a:cubicBezTo>
                  <a:pt x="9971" y="13770"/>
                  <a:pt x="10473" y="13268"/>
                  <a:pt x="10496" y="12648"/>
                </a:cubicBezTo>
                <a:cubicBezTo>
                  <a:pt x="10507" y="12437"/>
                  <a:pt x="10462" y="12238"/>
                  <a:pt x="10381" y="12075"/>
                </a:cubicBezTo>
                <a:lnTo>
                  <a:pt x="12097" y="10358"/>
                </a:lnTo>
                <a:cubicBezTo>
                  <a:pt x="12249" y="10429"/>
                  <a:pt x="12437" y="10473"/>
                  <a:pt x="12625" y="10473"/>
                </a:cubicBezTo>
                <a:cubicBezTo>
                  <a:pt x="13290" y="10473"/>
                  <a:pt x="13828" y="9924"/>
                  <a:pt x="13828" y="9259"/>
                </a:cubicBezTo>
                <a:cubicBezTo>
                  <a:pt x="13828" y="8731"/>
                  <a:pt x="13489" y="8288"/>
                  <a:pt x="13020" y="8114"/>
                </a:cubicBezTo>
                <a:lnTo>
                  <a:pt x="13020" y="5693"/>
                </a:lnTo>
                <a:cubicBezTo>
                  <a:pt x="13511" y="5519"/>
                  <a:pt x="13862" y="5040"/>
                  <a:pt x="13828" y="4479"/>
                </a:cubicBezTo>
                <a:cubicBezTo>
                  <a:pt x="13792" y="3859"/>
                  <a:pt x="13290" y="3368"/>
                  <a:pt x="12681" y="3331"/>
                </a:cubicBezTo>
                <a:cubicBezTo>
                  <a:pt x="12661" y="3330"/>
                  <a:pt x="12640" y="3330"/>
                  <a:pt x="12620" y="3330"/>
                </a:cubicBezTo>
                <a:cubicBezTo>
                  <a:pt x="12433" y="3330"/>
                  <a:pt x="12257" y="3376"/>
                  <a:pt x="12097" y="3449"/>
                </a:cubicBezTo>
                <a:lnTo>
                  <a:pt x="10381" y="1743"/>
                </a:lnTo>
                <a:cubicBezTo>
                  <a:pt x="10462" y="1567"/>
                  <a:pt x="10507" y="1367"/>
                  <a:pt x="10496" y="1157"/>
                </a:cubicBezTo>
                <a:cubicBezTo>
                  <a:pt x="10473" y="540"/>
                  <a:pt x="9971" y="35"/>
                  <a:pt x="9351" y="1"/>
                </a:cubicBezTo>
                <a:cubicBezTo>
                  <a:pt x="9334" y="1"/>
                  <a:pt x="9316" y="0"/>
                  <a:pt x="9299" y="0"/>
                </a:cubicBezTo>
                <a:cubicBezTo>
                  <a:pt x="8771" y="0"/>
                  <a:pt x="8316" y="331"/>
                  <a:pt x="8148" y="806"/>
                </a:cubicBezTo>
                <a:lnTo>
                  <a:pt x="5715" y="806"/>
                </a:lnTo>
                <a:cubicBezTo>
                  <a:pt x="5547" y="331"/>
                  <a:pt x="5092" y="0"/>
                  <a:pt x="455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sp>
        <p:nvSpPr>
          <p:cNvPr id="15" name="Google Shape;1283;p48">
            <a:extLst>
              <a:ext uri="{FF2B5EF4-FFF2-40B4-BE49-F238E27FC236}">
                <a16:creationId xmlns:a16="http://schemas.microsoft.com/office/drawing/2014/main" id="{61E08234-3637-BF64-48A0-546FB90BD55F}"/>
              </a:ext>
            </a:extLst>
          </p:cNvPr>
          <p:cNvSpPr/>
          <p:nvPr/>
        </p:nvSpPr>
        <p:spPr>
          <a:xfrm>
            <a:off x="4699200" y="3092227"/>
            <a:ext cx="235900" cy="345150"/>
          </a:xfrm>
          <a:custGeom>
            <a:avLst/>
            <a:gdLst/>
            <a:ahLst/>
            <a:cxnLst/>
            <a:rect l="l" t="t" r="r" b="b"/>
            <a:pathLst>
              <a:path w="9436" h="13806" extrusionOk="0">
                <a:moveTo>
                  <a:pt x="6607" y="3507"/>
                </a:moveTo>
                <a:cubicBezTo>
                  <a:pt x="6829" y="3507"/>
                  <a:pt x="7014" y="3684"/>
                  <a:pt x="7014" y="3906"/>
                </a:cubicBezTo>
                <a:cubicBezTo>
                  <a:pt x="7014" y="4127"/>
                  <a:pt x="6829" y="4315"/>
                  <a:pt x="6607" y="4315"/>
                </a:cubicBezTo>
                <a:cubicBezTo>
                  <a:pt x="6383" y="4315"/>
                  <a:pt x="6198" y="4127"/>
                  <a:pt x="6198" y="3906"/>
                </a:cubicBezTo>
                <a:cubicBezTo>
                  <a:pt x="6198" y="3684"/>
                  <a:pt x="6383" y="3507"/>
                  <a:pt x="6607" y="3507"/>
                </a:cubicBezTo>
                <a:close/>
                <a:moveTo>
                  <a:pt x="2831" y="4315"/>
                </a:moveTo>
                <a:cubicBezTo>
                  <a:pt x="3053" y="4315"/>
                  <a:pt x="3241" y="4489"/>
                  <a:pt x="3241" y="4714"/>
                </a:cubicBezTo>
                <a:cubicBezTo>
                  <a:pt x="3241" y="4935"/>
                  <a:pt x="3053" y="5121"/>
                  <a:pt x="2831" y="5121"/>
                </a:cubicBezTo>
                <a:cubicBezTo>
                  <a:pt x="2610" y="5121"/>
                  <a:pt x="2433" y="4935"/>
                  <a:pt x="2433" y="4714"/>
                </a:cubicBezTo>
                <a:cubicBezTo>
                  <a:pt x="2433" y="4489"/>
                  <a:pt x="2610" y="4315"/>
                  <a:pt x="2831" y="4315"/>
                </a:cubicBezTo>
                <a:close/>
                <a:moveTo>
                  <a:pt x="4725" y="809"/>
                </a:moveTo>
                <a:cubicBezTo>
                  <a:pt x="6874" y="809"/>
                  <a:pt x="8627" y="2562"/>
                  <a:pt x="8627" y="4725"/>
                </a:cubicBezTo>
                <a:cubicBezTo>
                  <a:pt x="8627" y="5836"/>
                  <a:pt x="8150" y="6910"/>
                  <a:pt x="7309" y="7645"/>
                </a:cubicBezTo>
                <a:cubicBezTo>
                  <a:pt x="6711" y="8184"/>
                  <a:pt x="6327" y="8922"/>
                  <a:pt x="6231" y="9716"/>
                </a:cubicBezTo>
                <a:lnTo>
                  <a:pt x="5120" y="9716"/>
                </a:lnTo>
                <a:lnTo>
                  <a:pt x="5120" y="7623"/>
                </a:lnTo>
                <a:lnTo>
                  <a:pt x="6840" y="6397"/>
                </a:lnTo>
                <a:cubicBezTo>
                  <a:pt x="6944" y="6327"/>
                  <a:pt x="7014" y="6198"/>
                  <a:pt x="7014" y="6069"/>
                </a:cubicBezTo>
                <a:lnTo>
                  <a:pt x="7014" y="5050"/>
                </a:lnTo>
                <a:cubicBezTo>
                  <a:pt x="7505" y="4876"/>
                  <a:pt x="7844" y="4397"/>
                  <a:pt x="7822" y="3836"/>
                </a:cubicBezTo>
                <a:cubicBezTo>
                  <a:pt x="7786" y="3216"/>
                  <a:pt x="7272" y="2725"/>
                  <a:pt x="6652" y="2691"/>
                </a:cubicBezTo>
                <a:cubicBezTo>
                  <a:pt x="6637" y="2691"/>
                  <a:pt x="6622" y="2690"/>
                  <a:pt x="6607" y="2690"/>
                </a:cubicBezTo>
                <a:cubicBezTo>
                  <a:pt x="5937" y="2690"/>
                  <a:pt x="5390" y="3242"/>
                  <a:pt x="5390" y="3906"/>
                </a:cubicBezTo>
                <a:cubicBezTo>
                  <a:pt x="5390" y="4433"/>
                  <a:pt x="5729" y="4888"/>
                  <a:pt x="6198" y="5050"/>
                </a:cubicBezTo>
                <a:lnTo>
                  <a:pt x="6198" y="5858"/>
                </a:lnTo>
                <a:lnTo>
                  <a:pt x="5120" y="6630"/>
                </a:lnTo>
                <a:lnTo>
                  <a:pt x="5120" y="5811"/>
                </a:lnTo>
                <a:cubicBezTo>
                  <a:pt x="5120" y="5600"/>
                  <a:pt x="4969" y="5415"/>
                  <a:pt x="4770" y="5390"/>
                </a:cubicBezTo>
                <a:cubicBezTo>
                  <a:pt x="4757" y="5389"/>
                  <a:pt x="4743" y="5388"/>
                  <a:pt x="4730" y="5388"/>
                </a:cubicBezTo>
                <a:cubicBezTo>
                  <a:pt x="4503" y="5388"/>
                  <a:pt x="4315" y="5569"/>
                  <a:pt x="4315" y="5799"/>
                </a:cubicBezTo>
                <a:lnTo>
                  <a:pt x="4315" y="7612"/>
                </a:lnTo>
                <a:lnTo>
                  <a:pt x="3241" y="6689"/>
                </a:lnTo>
                <a:lnTo>
                  <a:pt x="3241" y="5858"/>
                </a:lnTo>
                <a:cubicBezTo>
                  <a:pt x="3732" y="5682"/>
                  <a:pt x="4068" y="5205"/>
                  <a:pt x="4046" y="4644"/>
                </a:cubicBezTo>
                <a:cubicBezTo>
                  <a:pt x="4012" y="4024"/>
                  <a:pt x="3496" y="3533"/>
                  <a:pt x="2876" y="3507"/>
                </a:cubicBezTo>
                <a:cubicBezTo>
                  <a:pt x="2857" y="3507"/>
                  <a:pt x="2837" y="3506"/>
                  <a:pt x="2817" y="3506"/>
                </a:cubicBezTo>
                <a:cubicBezTo>
                  <a:pt x="2156" y="3506"/>
                  <a:pt x="1614" y="4054"/>
                  <a:pt x="1614" y="4714"/>
                </a:cubicBezTo>
                <a:cubicBezTo>
                  <a:pt x="1614" y="5238"/>
                  <a:pt x="1953" y="5696"/>
                  <a:pt x="2433" y="5858"/>
                </a:cubicBezTo>
                <a:lnTo>
                  <a:pt x="2433" y="6874"/>
                </a:lnTo>
                <a:cubicBezTo>
                  <a:pt x="2433" y="6992"/>
                  <a:pt x="2481" y="7109"/>
                  <a:pt x="2573" y="7191"/>
                </a:cubicBezTo>
                <a:lnTo>
                  <a:pt x="4315" y="8686"/>
                </a:lnTo>
                <a:lnTo>
                  <a:pt x="4315" y="9716"/>
                </a:lnTo>
                <a:lnTo>
                  <a:pt x="3216" y="9716"/>
                </a:lnTo>
                <a:cubicBezTo>
                  <a:pt x="3112" y="8922"/>
                  <a:pt x="2725" y="8184"/>
                  <a:pt x="2130" y="7645"/>
                </a:cubicBezTo>
                <a:cubicBezTo>
                  <a:pt x="1288" y="6910"/>
                  <a:pt x="809" y="5836"/>
                  <a:pt x="809" y="4725"/>
                </a:cubicBezTo>
                <a:cubicBezTo>
                  <a:pt x="809" y="2562"/>
                  <a:pt x="2562" y="809"/>
                  <a:pt x="4725" y="809"/>
                </a:cubicBezTo>
                <a:close/>
                <a:moveTo>
                  <a:pt x="6198" y="10521"/>
                </a:moveTo>
                <a:lnTo>
                  <a:pt x="6198" y="11247"/>
                </a:lnTo>
                <a:cubicBezTo>
                  <a:pt x="6198" y="11317"/>
                  <a:pt x="6139" y="11388"/>
                  <a:pt x="6069" y="11388"/>
                </a:cubicBezTo>
                <a:lnTo>
                  <a:pt x="3367" y="11388"/>
                </a:lnTo>
                <a:cubicBezTo>
                  <a:pt x="3297" y="11388"/>
                  <a:pt x="3241" y="11317"/>
                  <a:pt x="3241" y="11247"/>
                </a:cubicBezTo>
                <a:lnTo>
                  <a:pt x="3241" y="10521"/>
                </a:lnTo>
                <a:close/>
                <a:moveTo>
                  <a:pt x="5659" y="12193"/>
                </a:moveTo>
                <a:lnTo>
                  <a:pt x="5659" y="12591"/>
                </a:lnTo>
                <a:cubicBezTo>
                  <a:pt x="5659" y="12813"/>
                  <a:pt x="5485" y="13001"/>
                  <a:pt x="5261" y="13001"/>
                </a:cubicBezTo>
                <a:lnTo>
                  <a:pt x="4175" y="13001"/>
                </a:lnTo>
                <a:cubicBezTo>
                  <a:pt x="3953" y="13001"/>
                  <a:pt x="3777" y="12813"/>
                  <a:pt x="3777" y="12591"/>
                </a:cubicBezTo>
                <a:lnTo>
                  <a:pt x="3777" y="12193"/>
                </a:lnTo>
                <a:close/>
                <a:moveTo>
                  <a:pt x="4725" y="1"/>
                </a:moveTo>
                <a:cubicBezTo>
                  <a:pt x="2119" y="1"/>
                  <a:pt x="1" y="2119"/>
                  <a:pt x="1" y="4714"/>
                </a:cubicBezTo>
                <a:cubicBezTo>
                  <a:pt x="1" y="6069"/>
                  <a:pt x="587" y="7354"/>
                  <a:pt x="1591" y="8243"/>
                </a:cubicBezTo>
                <a:cubicBezTo>
                  <a:pt x="2119" y="8723"/>
                  <a:pt x="2433" y="9399"/>
                  <a:pt x="2433" y="10114"/>
                </a:cubicBezTo>
                <a:lnTo>
                  <a:pt x="2433" y="11247"/>
                </a:lnTo>
                <a:cubicBezTo>
                  <a:pt x="2433" y="11620"/>
                  <a:pt x="2643" y="11949"/>
                  <a:pt x="2972" y="12100"/>
                </a:cubicBezTo>
                <a:lnTo>
                  <a:pt x="2972" y="12591"/>
                </a:lnTo>
                <a:cubicBezTo>
                  <a:pt x="2972" y="13270"/>
                  <a:pt x="3507" y="13806"/>
                  <a:pt x="4175" y="13806"/>
                </a:cubicBezTo>
                <a:lnTo>
                  <a:pt x="5261" y="13806"/>
                </a:lnTo>
                <a:cubicBezTo>
                  <a:pt x="5928" y="13806"/>
                  <a:pt x="6478" y="13270"/>
                  <a:pt x="6478" y="12591"/>
                </a:cubicBezTo>
                <a:lnTo>
                  <a:pt x="6478" y="12100"/>
                </a:lnTo>
                <a:cubicBezTo>
                  <a:pt x="6792" y="11949"/>
                  <a:pt x="7014" y="11620"/>
                  <a:pt x="7014" y="11247"/>
                </a:cubicBezTo>
                <a:lnTo>
                  <a:pt x="7014" y="10114"/>
                </a:lnTo>
                <a:cubicBezTo>
                  <a:pt x="7014" y="9399"/>
                  <a:pt x="7320" y="8723"/>
                  <a:pt x="7844" y="8243"/>
                </a:cubicBezTo>
                <a:cubicBezTo>
                  <a:pt x="8863" y="7354"/>
                  <a:pt x="9435" y="6069"/>
                  <a:pt x="9435" y="4714"/>
                </a:cubicBezTo>
                <a:cubicBezTo>
                  <a:pt x="9435" y="2119"/>
                  <a:pt x="7320" y="1"/>
                  <a:pt x="4725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18061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BCB655D5-AA3A-CCEA-FC2C-F0B99CB55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4810153"/>
              </p:ext>
            </p:extLst>
          </p:nvPr>
        </p:nvGraphicFramePr>
        <p:xfrm>
          <a:off x="712787" y="1152525"/>
          <a:ext cx="6936241" cy="2853418"/>
        </p:xfrm>
        <a:graphic>
          <a:graphicData uri="http://schemas.openxmlformats.org/drawingml/2006/table">
            <a:tbl>
              <a:tblPr>
                <a:noFill/>
                <a:tableStyleId>{6A06BA4E-587D-4A86-B820-0AFEB9F96411}</a:tableStyleId>
              </a:tblPr>
              <a:tblGrid>
                <a:gridCol w="1268413">
                  <a:extLst>
                    <a:ext uri="{9D8B030D-6E8A-4147-A177-3AD203B41FA5}">
                      <a16:colId xmlns:a16="http://schemas.microsoft.com/office/drawing/2014/main" val="4281379332"/>
                    </a:ext>
                  </a:extLst>
                </a:gridCol>
                <a:gridCol w="1059543">
                  <a:extLst>
                    <a:ext uri="{9D8B030D-6E8A-4147-A177-3AD203B41FA5}">
                      <a16:colId xmlns:a16="http://schemas.microsoft.com/office/drawing/2014/main" val="423118139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421601042"/>
                    </a:ext>
                  </a:extLst>
                </a:gridCol>
                <a:gridCol w="1407886">
                  <a:extLst>
                    <a:ext uri="{9D8B030D-6E8A-4147-A177-3AD203B41FA5}">
                      <a16:colId xmlns:a16="http://schemas.microsoft.com/office/drawing/2014/main" val="3204728011"/>
                    </a:ext>
                  </a:extLst>
                </a:gridCol>
                <a:gridCol w="2024742">
                  <a:extLst>
                    <a:ext uri="{9D8B030D-6E8A-4147-A177-3AD203B41FA5}">
                      <a16:colId xmlns:a16="http://schemas.microsoft.com/office/drawing/2014/main" val="2204517680"/>
                    </a:ext>
                  </a:extLst>
                </a:gridCol>
              </a:tblGrid>
              <a:tr h="72146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Метод</a:t>
                      </a:r>
                      <a:endParaRPr sz="1200" b="1" dirty="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Точность</a:t>
                      </a:r>
                      <a:endParaRPr sz="1200" b="1" dirty="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Время</a:t>
                      </a:r>
                      <a:endParaRPr sz="1200" b="1" dirty="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Лучшая модель</a:t>
                      </a:r>
                      <a:endParaRPr sz="1200" b="1" dirty="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b="1" dirty="0">
                          <a:solidFill>
                            <a:schemeClr val="dk1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Ключевые параметры</a:t>
                      </a:r>
                      <a:endParaRPr sz="1200" b="1" dirty="0">
                        <a:solidFill>
                          <a:schemeClr val="dk1"/>
                        </a:solidFill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>
                        <a:alpha val="75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6730749"/>
                  </a:ext>
                </a:extLst>
              </a:tr>
              <a:tr h="53298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G</a:t>
                      </a:r>
                      <a:r>
                        <a:rPr lang="en-US" sz="1000" dirty="0" err="1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ridSearch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0,7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770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~</a:t>
                      </a:r>
                      <a:r>
                        <a:rPr lang="en-GB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20min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CatBoost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D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epth=6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Ir=0.05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8514753"/>
                  </a:ext>
                </a:extLst>
              </a:tr>
              <a:tr h="53298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RandomSearch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0,7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772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~15min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altLang="zh-C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CatBoost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S</a:t>
                      </a: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ubsample=0.9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5805008"/>
                  </a:ext>
                </a:extLst>
              </a:tr>
              <a:tr h="53298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Optuna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0,7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764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~10min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altLang="zh-C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CatBoost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Iterations=660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914290"/>
                  </a:ext>
                </a:extLst>
              </a:tr>
              <a:tr h="532988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Tpot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0,7</a:t>
                      </a:r>
                      <a:r>
                        <a:rPr lang="ru-RU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752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~1h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MLPClassifier + preprocessing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dirty="0">
                          <a:solidFill>
                            <a:schemeClr val="dk1"/>
                          </a:solidFill>
                          <a:latin typeface="Hanken Grotesk"/>
                          <a:ea typeface="Hanken Grotesk"/>
                          <a:cs typeface="Hanken Grotesk"/>
                          <a:sym typeface="Hanken Grotesk"/>
                        </a:rPr>
                        <a:t>Auto-pipline</a:t>
                      </a:r>
                      <a:endParaRPr sz="1000" dirty="0">
                        <a:solidFill>
                          <a:schemeClr val="dk1"/>
                        </a:solidFill>
                        <a:latin typeface="Hanken Grotesk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dk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9654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09D5E58-719B-1A88-4C59-0B7BA2D1DF15}"/>
              </a:ext>
            </a:extLst>
          </p:cNvPr>
          <p:cNvSpPr txBox="1"/>
          <p:nvPr/>
        </p:nvSpPr>
        <p:spPr>
          <a:xfrm>
            <a:off x="918028" y="548878"/>
            <a:ext cx="5725886" cy="40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ru-RU" altLang="zh-CN" sz="2600" b="1" dirty="0">
                <a:solidFill>
                  <a:srgbClr val="F9FAFB"/>
                </a:solidFill>
                <a:effectLst/>
                <a:latin typeface="Candara" panose="020E0502030303020204" pitchFamily="34" charset="0"/>
              </a:rPr>
              <a:t>Сравнение методов</a:t>
            </a:r>
          </a:p>
        </p:txBody>
      </p:sp>
    </p:spTree>
    <p:extLst>
      <p:ext uri="{BB962C8B-B14F-4D97-AF65-F5344CB8AC3E}">
        <p14:creationId xmlns:p14="http://schemas.microsoft.com/office/powerpoint/2010/main" val="716003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>
          <a:extLst>
            <a:ext uri="{FF2B5EF4-FFF2-40B4-BE49-F238E27FC236}">
              <a16:creationId xmlns:a16="http://schemas.microsoft.com/office/drawing/2014/main" id="{3012ECB3-4AFE-EB3B-68C3-A5CD119D4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>
            <a:extLst>
              <a:ext uri="{FF2B5EF4-FFF2-40B4-BE49-F238E27FC236}">
                <a16:creationId xmlns:a16="http://schemas.microsoft.com/office/drawing/2014/main" id="{16AB4B96-EE0C-51A2-0A53-6BDE6937C9F2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595896" y="1788078"/>
            <a:ext cx="4585829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latin typeface="Candara" panose="020E0502030303020204" pitchFamily="34" charset="0"/>
              </a:rPr>
              <a:t>RFE</a:t>
            </a:r>
            <a:r>
              <a:rPr lang="en-GB" dirty="0">
                <a:latin typeface="Candara" panose="020E0502030303020204" pitchFamily="34" charset="0"/>
              </a:rPr>
              <a:t>, </a:t>
            </a:r>
            <a:r>
              <a:rPr lang="en-GB" b="1" dirty="0" err="1">
                <a:latin typeface="Candara" panose="020E0502030303020204" pitchFamily="34" charset="0"/>
              </a:rPr>
              <a:t>ExtrsTreesClassifier</a:t>
            </a:r>
            <a:r>
              <a:rPr lang="en-GB" dirty="0">
                <a:latin typeface="Candara" panose="020E0502030303020204" pitchFamily="34" charset="0"/>
              </a:rPr>
              <a:t> – </a:t>
            </a:r>
            <a:r>
              <a:rPr lang="ru-RU" dirty="0">
                <a:latin typeface="Candara" panose="020E0502030303020204" pitchFamily="34" charset="0"/>
              </a:rPr>
              <a:t>отбор признаков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09" name="Google Shape;709;p30">
            <a:extLst>
              <a:ext uri="{FF2B5EF4-FFF2-40B4-BE49-F238E27FC236}">
                <a16:creationId xmlns:a16="http://schemas.microsoft.com/office/drawing/2014/main" id="{7AEE014E-E7C0-ADDD-E1F1-4FF26AF908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3610" y="3930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latin typeface="Candara" panose="020E0502030303020204" pitchFamily="34" charset="0"/>
              </a:rPr>
              <a:t>Анализ</a:t>
            </a:r>
            <a:r>
              <a:rPr lang="en-GB" sz="3200" dirty="0">
                <a:latin typeface="Candara" panose="020E0502030303020204" pitchFamily="34" charset="0"/>
              </a:rPr>
              <a:t> TPOT</a:t>
            </a:r>
            <a:endParaRPr sz="3200" dirty="0">
              <a:latin typeface="Candara" panose="020E0502030303020204" pitchFamily="34" charset="0"/>
            </a:endParaRPr>
          </a:p>
        </p:txBody>
      </p:sp>
      <p:sp>
        <p:nvSpPr>
          <p:cNvPr id="710" name="Google Shape;710;p30">
            <a:extLst>
              <a:ext uri="{FF2B5EF4-FFF2-40B4-BE49-F238E27FC236}">
                <a16:creationId xmlns:a16="http://schemas.microsoft.com/office/drawing/2014/main" id="{63966F1D-9075-AC4A-D452-E514FA0F123F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83610" y="1220379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01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1" name="Google Shape;711;p30">
            <a:extLst>
              <a:ext uri="{FF2B5EF4-FFF2-40B4-BE49-F238E27FC236}">
                <a16:creationId xmlns:a16="http://schemas.microsoft.com/office/drawing/2014/main" id="{66352855-6F5D-EF07-FD38-D2D011B74626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83610" y="2958024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04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2" name="Google Shape;712;p30">
            <a:extLst>
              <a:ext uri="{FF2B5EF4-FFF2-40B4-BE49-F238E27FC236}">
                <a16:creationId xmlns:a16="http://schemas.microsoft.com/office/drawing/2014/main" id="{8AD5F94F-46FB-3203-AADB-4F00DFC1E0DD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83610" y="1776259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andara" panose="020E0502030303020204" pitchFamily="34" charset="0"/>
              </a:rPr>
              <a:t>02</a:t>
            </a:r>
            <a:endParaRPr>
              <a:latin typeface="Candara" panose="020E0502030303020204" pitchFamily="34" charset="0"/>
            </a:endParaRPr>
          </a:p>
        </p:txBody>
      </p:sp>
      <p:sp>
        <p:nvSpPr>
          <p:cNvPr id="714" name="Google Shape;714;p30">
            <a:extLst>
              <a:ext uri="{FF2B5EF4-FFF2-40B4-BE49-F238E27FC236}">
                <a16:creationId xmlns:a16="http://schemas.microsoft.com/office/drawing/2014/main" id="{8F6AF57B-3FC2-31AC-8AF1-B0AD6DD5D947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83610" y="2353977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03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6" name="Google Shape;716;p30">
            <a:extLst>
              <a:ext uri="{FF2B5EF4-FFF2-40B4-BE49-F238E27FC236}">
                <a16:creationId xmlns:a16="http://schemas.microsoft.com/office/drawing/2014/main" id="{58FB5D2D-4BD4-0582-902D-A177582464F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95896" y="1220379"/>
            <a:ext cx="3675343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>
                <a:latin typeface="Candara" panose="020E0502030303020204" pitchFamily="34" charset="0"/>
              </a:rPr>
              <a:t>MaxAbsScaler</a:t>
            </a:r>
            <a:r>
              <a:rPr lang="en-GB" dirty="0">
                <a:latin typeface="Candara" panose="020E0502030303020204" pitchFamily="34" charset="0"/>
              </a:rPr>
              <a:t> - </a:t>
            </a:r>
            <a:r>
              <a:rPr lang="ru-RU" dirty="0">
                <a:latin typeface="Candara" panose="020E0502030303020204" pitchFamily="34" charset="0"/>
              </a:rPr>
              <a:t>масштабирование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7" name="Google Shape;717;p30">
            <a:extLst>
              <a:ext uri="{FF2B5EF4-FFF2-40B4-BE49-F238E27FC236}">
                <a16:creationId xmlns:a16="http://schemas.microsoft.com/office/drawing/2014/main" id="{5C8CD869-C869-3A83-17F1-9CEA4DA8BC4F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595895" y="2355777"/>
            <a:ext cx="5290679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 err="1">
                <a:latin typeface="Candara" panose="020E0502030303020204" pitchFamily="34" charset="0"/>
              </a:rPr>
              <a:t>FeatureUnion</a:t>
            </a:r>
            <a:r>
              <a:rPr lang="en-GB" dirty="0">
                <a:latin typeface="Candara" panose="020E0502030303020204" pitchFamily="34" charset="0"/>
              </a:rPr>
              <a:t> – </a:t>
            </a:r>
            <a:r>
              <a:rPr lang="ru-RU" dirty="0">
                <a:latin typeface="Candara" panose="020E0502030303020204" pitchFamily="34" charset="0"/>
              </a:rPr>
              <a:t>комбинация преобразований</a:t>
            </a:r>
            <a:endParaRPr dirty="0">
              <a:latin typeface="Candara" panose="020E0502030303020204" pitchFamily="34" charset="0"/>
            </a:endParaRPr>
          </a:p>
        </p:txBody>
      </p:sp>
      <p:grpSp>
        <p:nvGrpSpPr>
          <p:cNvPr id="721" name="Google Shape;721;p30">
            <a:extLst>
              <a:ext uri="{FF2B5EF4-FFF2-40B4-BE49-F238E27FC236}">
                <a16:creationId xmlns:a16="http://schemas.microsoft.com/office/drawing/2014/main" id="{83728D1A-4F71-BB60-1B08-3A04F79A728D}"/>
              </a:ext>
            </a:extLst>
          </p:cNvPr>
          <p:cNvGrpSpPr/>
          <p:nvPr/>
        </p:nvGrpSpPr>
        <p:grpSpPr>
          <a:xfrm>
            <a:off x="7000692" y="679363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>
              <a:extLst>
                <a:ext uri="{FF2B5EF4-FFF2-40B4-BE49-F238E27FC236}">
                  <a16:creationId xmlns:a16="http://schemas.microsoft.com/office/drawing/2014/main" id="{76A4B9E0-A471-6693-9F88-AAD1FA3ACAA2}"/>
                </a:ext>
              </a:extLst>
            </p:cNvPr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>
                <a:extLst>
                  <a:ext uri="{FF2B5EF4-FFF2-40B4-BE49-F238E27FC236}">
                    <a16:creationId xmlns:a16="http://schemas.microsoft.com/office/drawing/2014/main" id="{7A351D83-E2C2-8FE1-1536-CDB45698B88F}"/>
                  </a:ext>
                </a:extLst>
              </p:cNvPr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ndara" panose="020E0502030303020204" pitchFamily="34" charset="0"/>
                </a:endParaRPr>
              </a:p>
            </p:txBody>
          </p:sp>
          <p:sp>
            <p:nvSpPr>
              <p:cNvPr id="724" name="Google Shape;724;p30">
                <a:extLst>
                  <a:ext uri="{FF2B5EF4-FFF2-40B4-BE49-F238E27FC236}">
                    <a16:creationId xmlns:a16="http://schemas.microsoft.com/office/drawing/2014/main" id="{4256E351-90AD-3534-33A2-BBAC0B76656F}"/>
                  </a:ext>
                </a:extLst>
              </p:cNvPr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725" name="Google Shape;725;p30">
              <a:extLst>
                <a:ext uri="{FF2B5EF4-FFF2-40B4-BE49-F238E27FC236}">
                  <a16:creationId xmlns:a16="http://schemas.microsoft.com/office/drawing/2014/main" id="{30FAD28C-5E56-8834-1C8C-EC5B4E197D13}"/>
                </a:ext>
              </a:extLst>
            </p:cNvPr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latin typeface="Candara" panose="020E0502030303020204" pitchFamily="34" charset="0"/>
              </a:endParaRPr>
            </a:p>
          </p:txBody>
        </p:sp>
      </p:grpSp>
      <p:sp>
        <p:nvSpPr>
          <p:cNvPr id="12" name="Google Shape;717;p30">
            <a:extLst>
              <a:ext uri="{FF2B5EF4-FFF2-40B4-BE49-F238E27FC236}">
                <a16:creationId xmlns:a16="http://schemas.microsoft.com/office/drawing/2014/main" id="{124D8B85-B13C-5304-453D-7EA554021058}"/>
              </a:ext>
            </a:extLst>
          </p:cNvPr>
          <p:cNvSpPr txBox="1">
            <a:spLocks/>
          </p:cNvSpPr>
          <p:nvPr/>
        </p:nvSpPr>
        <p:spPr>
          <a:xfrm>
            <a:off x="1595896" y="2923476"/>
            <a:ext cx="4023774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r>
              <a:rPr lang="en-GB" b="1" dirty="0" err="1">
                <a:latin typeface="Candara" panose="020E0502030303020204" pitchFamily="34" charset="0"/>
              </a:rPr>
              <a:t>XGBClassifier</a:t>
            </a:r>
            <a:r>
              <a:rPr lang="en-GB" dirty="0">
                <a:latin typeface="Candara" panose="020E0502030303020204" pitchFamily="34" charset="0"/>
              </a:rPr>
              <a:t> – </a:t>
            </a:r>
            <a:r>
              <a:rPr lang="ru-RU" dirty="0">
                <a:latin typeface="Candara" panose="020E0502030303020204" pitchFamily="34" charset="0"/>
              </a:rPr>
              <a:t>финальная модель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13" name="Google Shape;741;p32">
            <a:extLst>
              <a:ext uri="{FF2B5EF4-FFF2-40B4-BE49-F238E27FC236}">
                <a16:creationId xmlns:a16="http://schemas.microsoft.com/office/drawing/2014/main" id="{16C34851-3F08-59B5-B8CB-8879FCB3BA61}"/>
              </a:ext>
            </a:extLst>
          </p:cNvPr>
          <p:cNvSpPr/>
          <p:nvPr/>
        </p:nvSpPr>
        <p:spPr>
          <a:xfrm rot="-5400000">
            <a:off x="1479902" y="3699275"/>
            <a:ext cx="209104" cy="206089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ndara" panose="020E0502030303020204" pitchFamily="34" charset="0"/>
            </a:endParaRPr>
          </a:p>
        </p:txBody>
      </p:sp>
      <p:sp>
        <p:nvSpPr>
          <p:cNvPr id="14" name="Google Shape;720;p30">
            <a:extLst>
              <a:ext uri="{FF2B5EF4-FFF2-40B4-BE49-F238E27FC236}">
                <a16:creationId xmlns:a16="http://schemas.microsoft.com/office/drawing/2014/main" id="{BB161F7B-ED7D-2B77-4D06-CE5366CC543C}"/>
              </a:ext>
            </a:extLst>
          </p:cNvPr>
          <p:cNvSpPr txBox="1">
            <a:spLocks/>
          </p:cNvSpPr>
          <p:nvPr/>
        </p:nvSpPr>
        <p:spPr>
          <a:xfrm>
            <a:off x="1687497" y="3775366"/>
            <a:ext cx="4879703" cy="1156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r>
              <a:rPr lang="ru-RU" dirty="0">
                <a:latin typeface="Candara" panose="020E0502030303020204" pitchFamily="34" charset="0"/>
              </a:rPr>
              <a:t>Автоматический подбор </a:t>
            </a:r>
            <a:r>
              <a:rPr lang="ru-RU" dirty="0" err="1">
                <a:latin typeface="Candara" panose="020E0502030303020204" pitchFamily="34" charset="0"/>
              </a:rPr>
              <a:t>preprocessing</a:t>
            </a:r>
            <a:r>
              <a:rPr lang="ru-RU" dirty="0">
                <a:latin typeface="Candara" panose="020E0502030303020204" pitchFamily="34" charset="0"/>
              </a:rPr>
              <a:t> </a:t>
            </a:r>
            <a:r>
              <a:rPr lang="ru-RU" dirty="0" err="1">
                <a:latin typeface="Candara" panose="020E0502030303020204" pitchFamily="34" charset="0"/>
              </a:rPr>
              <a:t>steps</a:t>
            </a:r>
            <a:endParaRPr lang="ru-RU" dirty="0">
              <a:latin typeface="Candara" panose="020E0502030303020204" pitchFamily="34" charset="0"/>
            </a:endParaRPr>
          </a:p>
          <a:p>
            <a:pPr marL="0" indent="0"/>
            <a:r>
              <a:rPr lang="ru-RU" dirty="0">
                <a:latin typeface="Candara" panose="020E0502030303020204" pitchFamily="34" charset="0"/>
              </a:rPr>
              <a:t>Комбинация нескольких алгоритмов</a:t>
            </a:r>
          </a:p>
          <a:p>
            <a:pPr marL="0" indent="0"/>
            <a:r>
              <a:rPr lang="ru-RU" dirty="0">
                <a:latin typeface="Candara" panose="020E0502030303020204" pitchFamily="34" charset="0"/>
              </a:rPr>
              <a:t>Готовый код для использования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1821F2C-96FB-294D-102A-5BEDACC9805D}"/>
              </a:ext>
            </a:extLst>
          </p:cNvPr>
          <p:cNvSpPr txBox="1"/>
          <p:nvPr/>
        </p:nvSpPr>
        <p:spPr>
          <a:xfrm>
            <a:off x="1687498" y="3617654"/>
            <a:ext cx="1519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800" dirty="0">
                <a:solidFill>
                  <a:srgbClr val="FFFFFF"/>
                </a:solidFill>
                <a:latin typeface="Candara" panose="020E0502030303020204" pitchFamily="34" charset="0"/>
              </a:rPr>
              <a:t>Особенности</a:t>
            </a:r>
          </a:p>
        </p:txBody>
      </p:sp>
    </p:spTree>
    <p:extLst>
      <p:ext uri="{BB962C8B-B14F-4D97-AF65-F5344CB8AC3E}">
        <p14:creationId xmlns:p14="http://schemas.microsoft.com/office/powerpoint/2010/main" val="15175415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058A2-F854-ADD4-CCAE-71D47D5DC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B07CD6-E11C-7AA8-2A4D-95DA16E0A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258" y="437768"/>
            <a:ext cx="7704000" cy="572700"/>
          </a:xfrm>
        </p:spPr>
        <p:txBody>
          <a:bodyPr/>
          <a:lstStyle/>
          <a:p>
            <a:r>
              <a:rPr lang="ru-RU" altLang="zh-CN" b="1" dirty="0">
                <a:latin typeface="Candara" panose="020E0502030303020204" pitchFamily="34" charset="0"/>
              </a:rPr>
              <a:t>Интерпретация моделей (</a:t>
            </a:r>
            <a:r>
              <a:rPr lang="en-US" altLang="zh-CN" b="1" dirty="0">
                <a:latin typeface="Candara" panose="020E0502030303020204" pitchFamily="34" charset="0"/>
              </a:rPr>
              <a:t>LIME)</a:t>
            </a:r>
            <a:endParaRPr lang="zh-CN" altLang="en-US" b="1" dirty="0">
              <a:latin typeface="Candara" panose="020E0502030303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C27A11-E638-E3BF-B273-769C536F19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38708" y="1442897"/>
            <a:ext cx="4036405" cy="957250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- Наблюдение #</a:t>
            </a:r>
            <a:r>
              <a:rPr lang="en-GB" altLang="zh-CN" dirty="0">
                <a:latin typeface="Candara" panose="020E0502030303020204" pitchFamily="34" charset="0"/>
              </a:rPr>
              <a:t>7</a:t>
            </a:r>
            <a:r>
              <a:rPr lang="ru-RU" altLang="zh-CN" dirty="0">
                <a:latin typeface="Candara" panose="020E0502030303020204" pitchFamily="34" charset="0"/>
              </a:rPr>
              <a:t>: модель уверенно предсказывает "</a:t>
            </a:r>
            <a:r>
              <a:rPr lang="ru-RU" altLang="zh-CN" dirty="0" err="1">
                <a:latin typeface="Candara" panose="020E0502030303020204" pitchFamily="34" charset="0"/>
              </a:rPr>
              <a:t>Cardio</a:t>
            </a:r>
            <a:r>
              <a:rPr lang="ru-RU" altLang="zh-CN" dirty="0">
                <a:latin typeface="Candara" panose="020E0502030303020204" pitchFamily="34" charset="0"/>
              </a:rPr>
              <a:t>" (</a:t>
            </a:r>
            <a:r>
              <a:rPr lang="en-GB" altLang="zh-CN" dirty="0">
                <a:latin typeface="Candara" panose="020E0502030303020204" pitchFamily="34" charset="0"/>
              </a:rPr>
              <a:t>85</a:t>
            </a:r>
            <a:r>
              <a:rPr lang="ru-RU" altLang="zh-CN" dirty="0">
                <a:latin typeface="Candara" panose="020E0502030303020204" pitchFamily="34" charset="0"/>
              </a:rPr>
              <a:t>%)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- Ключевые факторы:</a:t>
            </a:r>
            <a:r>
              <a:rPr lang="en-GB" altLang="zh-CN" dirty="0">
                <a:latin typeface="Candara" panose="020E0502030303020204" pitchFamily="34" charset="0"/>
              </a:rPr>
              <a:t> </a:t>
            </a:r>
            <a:r>
              <a:rPr lang="ru-RU" altLang="zh-CN" dirty="0">
                <a:latin typeface="Candara" panose="020E0502030303020204" pitchFamily="34" charset="0"/>
              </a:rPr>
              <a:t>холестерин, артериальное давление, возраст пациента</a:t>
            </a: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00F9DD12-DD68-DE6C-251E-4786CEB4C571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5693660" y="1483361"/>
            <a:ext cx="2781748" cy="988142"/>
          </a:xfrm>
        </p:spPr>
        <p:txBody>
          <a:bodyPr/>
          <a:lstStyle/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- Веса признаков для конкретного предсказания</a:t>
            </a:r>
          </a:p>
          <a:p>
            <a:pPr marL="0" indent="0"/>
            <a:r>
              <a:rPr lang="ru-RU" altLang="zh-CN" dirty="0">
                <a:latin typeface="Candara" panose="020E0502030303020204" pitchFamily="34" charset="0"/>
              </a:rPr>
              <a:t>- Факторы "за" и "против" класса</a:t>
            </a:r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981F812A-D037-2769-7C4C-D0D7FC102FEF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41658" y="1017775"/>
            <a:ext cx="2136311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Пример анализа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F429558F-6155-DF64-975F-727C904BCD45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693660" y="1026757"/>
            <a:ext cx="1775587" cy="480300"/>
          </a:xfrm>
        </p:spPr>
        <p:txBody>
          <a:bodyPr/>
          <a:lstStyle/>
          <a:p>
            <a:r>
              <a:rPr lang="ru-RU" altLang="zh-CN" dirty="0">
                <a:latin typeface="Candara" panose="020E0502030303020204" pitchFamily="34" charset="0"/>
              </a:rPr>
              <a:t>Визуализация</a:t>
            </a:r>
            <a:endParaRPr lang="zh-CN" altLang="en-US" dirty="0">
              <a:latin typeface="Candara" panose="020E0502030303020204" pitchFamily="34" charset="0"/>
            </a:endParaRPr>
          </a:p>
        </p:txBody>
      </p:sp>
      <p:grpSp>
        <p:nvGrpSpPr>
          <p:cNvPr id="22" name="Google Shape;1282;p48">
            <a:extLst>
              <a:ext uri="{FF2B5EF4-FFF2-40B4-BE49-F238E27FC236}">
                <a16:creationId xmlns:a16="http://schemas.microsoft.com/office/drawing/2014/main" id="{85E54726-9040-7529-4B45-C872F72182A8}"/>
              </a:ext>
            </a:extLst>
          </p:cNvPr>
          <p:cNvGrpSpPr/>
          <p:nvPr/>
        </p:nvGrpSpPr>
        <p:grpSpPr>
          <a:xfrm>
            <a:off x="5472078" y="1142200"/>
            <a:ext cx="346275" cy="345150"/>
            <a:chOff x="5521113" y="3797375"/>
            <a:chExt cx="346275" cy="345150"/>
          </a:xfrm>
        </p:grpSpPr>
        <p:sp>
          <p:nvSpPr>
            <p:cNvPr id="23" name="Google Shape;1283;p48">
              <a:extLst>
                <a:ext uri="{FF2B5EF4-FFF2-40B4-BE49-F238E27FC236}">
                  <a16:creationId xmlns:a16="http://schemas.microsoft.com/office/drawing/2014/main" id="{0FBFFD49-B1D0-9865-C4EC-87E7BD9F1BB9}"/>
                </a:ext>
              </a:extLst>
            </p:cNvPr>
            <p:cNvSpPr/>
            <p:nvPr/>
          </p:nvSpPr>
          <p:spPr>
            <a:xfrm>
              <a:off x="5576313" y="3797375"/>
              <a:ext cx="235900" cy="345150"/>
            </a:xfrm>
            <a:custGeom>
              <a:avLst/>
              <a:gdLst/>
              <a:ahLst/>
              <a:cxnLst/>
              <a:rect l="l" t="t" r="r" b="b"/>
              <a:pathLst>
                <a:path w="9436" h="13806" extrusionOk="0">
                  <a:moveTo>
                    <a:pt x="6607" y="3507"/>
                  </a:moveTo>
                  <a:cubicBezTo>
                    <a:pt x="6829" y="3507"/>
                    <a:pt x="7014" y="3684"/>
                    <a:pt x="7014" y="3906"/>
                  </a:cubicBezTo>
                  <a:cubicBezTo>
                    <a:pt x="7014" y="4127"/>
                    <a:pt x="6829" y="4315"/>
                    <a:pt x="6607" y="4315"/>
                  </a:cubicBezTo>
                  <a:cubicBezTo>
                    <a:pt x="6383" y="4315"/>
                    <a:pt x="6198" y="4127"/>
                    <a:pt x="6198" y="3906"/>
                  </a:cubicBezTo>
                  <a:cubicBezTo>
                    <a:pt x="6198" y="3684"/>
                    <a:pt x="6383" y="3507"/>
                    <a:pt x="6607" y="3507"/>
                  </a:cubicBezTo>
                  <a:close/>
                  <a:moveTo>
                    <a:pt x="2831" y="4315"/>
                  </a:moveTo>
                  <a:cubicBezTo>
                    <a:pt x="3053" y="4315"/>
                    <a:pt x="3241" y="4489"/>
                    <a:pt x="3241" y="4714"/>
                  </a:cubicBezTo>
                  <a:cubicBezTo>
                    <a:pt x="3241" y="4935"/>
                    <a:pt x="3053" y="5121"/>
                    <a:pt x="2831" y="5121"/>
                  </a:cubicBezTo>
                  <a:cubicBezTo>
                    <a:pt x="2610" y="5121"/>
                    <a:pt x="2433" y="4935"/>
                    <a:pt x="2433" y="4714"/>
                  </a:cubicBezTo>
                  <a:cubicBezTo>
                    <a:pt x="2433" y="4489"/>
                    <a:pt x="2610" y="4315"/>
                    <a:pt x="2831" y="4315"/>
                  </a:cubicBezTo>
                  <a:close/>
                  <a:moveTo>
                    <a:pt x="4725" y="809"/>
                  </a:moveTo>
                  <a:cubicBezTo>
                    <a:pt x="6874" y="809"/>
                    <a:pt x="8627" y="2562"/>
                    <a:pt x="8627" y="4725"/>
                  </a:cubicBezTo>
                  <a:cubicBezTo>
                    <a:pt x="8627" y="5836"/>
                    <a:pt x="8150" y="6910"/>
                    <a:pt x="7309" y="7645"/>
                  </a:cubicBezTo>
                  <a:cubicBezTo>
                    <a:pt x="6711" y="8184"/>
                    <a:pt x="6327" y="8922"/>
                    <a:pt x="6231" y="9716"/>
                  </a:cubicBezTo>
                  <a:lnTo>
                    <a:pt x="5120" y="9716"/>
                  </a:lnTo>
                  <a:lnTo>
                    <a:pt x="5120" y="7623"/>
                  </a:lnTo>
                  <a:lnTo>
                    <a:pt x="6840" y="6397"/>
                  </a:lnTo>
                  <a:cubicBezTo>
                    <a:pt x="6944" y="6327"/>
                    <a:pt x="7014" y="6198"/>
                    <a:pt x="7014" y="6069"/>
                  </a:cubicBezTo>
                  <a:lnTo>
                    <a:pt x="7014" y="5050"/>
                  </a:lnTo>
                  <a:cubicBezTo>
                    <a:pt x="7505" y="4876"/>
                    <a:pt x="7844" y="4397"/>
                    <a:pt x="7822" y="3836"/>
                  </a:cubicBezTo>
                  <a:cubicBezTo>
                    <a:pt x="7786" y="3216"/>
                    <a:pt x="7272" y="2725"/>
                    <a:pt x="6652" y="2691"/>
                  </a:cubicBezTo>
                  <a:cubicBezTo>
                    <a:pt x="6637" y="2691"/>
                    <a:pt x="6622" y="2690"/>
                    <a:pt x="6607" y="2690"/>
                  </a:cubicBezTo>
                  <a:cubicBezTo>
                    <a:pt x="5937" y="2690"/>
                    <a:pt x="5390" y="3242"/>
                    <a:pt x="5390" y="3906"/>
                  </a:cubicBezTo>
                  <a:cubicBezTo>
                    <a:pt x="5390" y="4433"/>
                    <a:pt x="5729" y="4888"/>
                    <a:pt x="6198" y="5050"/>
                  </a:cubicBezTo>
                  <a:lnTo>
                    <a:pt x="6198" y="5858"/>
                  </a:lnTo>
                  <a:lnTo>
                    <a:pt x="5120" y="6630"/>
                  </a:lnTo>
                  <a:lnTo>
                    <a:pt x="5120" y="5811"/>
                  </a:lnTo>
                  <a:cubicBezTo>
                    <a:pt x="5120" y="5600"/>
                    <a:pt x="4969" y="5415"/>
                    <a:pt x="4770" y="5390"/>
                  </a:cubicBezTo>
                  <a:cubicBezTo>
                    <a:pt x="4757" y="5389"/>
                    <a:pt x="4743" y="5388"/>
                    <a:pt x="4730" y="5388"/>
                  </a:cubicBezTo>
                  <a:cubicBezTo>
                    <a:pt x="4503" y="5388"/>
                    <a:pt x="4315" y="5569"/>
                    <a:pt x="4315" y="5799"/>
                  </a:cubicBezTo>
                  <a:lnTo>
                    <a:pt x="4315" y="7612"/>
                  </a:lnTo>
                  <a:lnTo>
                    <a:pt x="3241" y="6689"/>
                  </a:lnTo>
                  <a:lnTo>
                    <a:pt x="3241" y="5858"/>
                  </a:lnTo>
                  <a:cubicBezTo>
                    <a:pt x="3732" y="5682"/>
                    <a:pt x="4068" y="5205"/>
                    <a:pt x="4046" y="4644"/>
                  </a:cubicBezTo>
                  <a:cubicBezTo>
                    <a:pt x="4012" y="4024"/>
                    <a:pt x="3496" y="3533"/>
                    <a:pt x="2876" y="3507"/>
                  </a:cubicBezTo>
                  <a:cubicBezTo>
                    <a:pt x="2857" y="3507"/>
                    <a:pt x="2837" y="3506"/>
                    <a:pt x="2817" y="3506"/>
                  </a:cubicBezTo>
                  <a:cubicBezTo>
                    <a:pt x="2156" y="3506"/>
                    <a:pt x="1614" y="4054"/>
                    <a:pt x="1614" y="4714"/>
                  </a:cubicBezTo>
                  <a:cubicBezTo>
                    <a:pt x="1614" y="5238"/>
                    <a:pt x="1953" y="5696"/>
                    <a:pt x="2433" y="5858"/>
                  </a:cubicBezTo>
                  <a:lnTo>
                    <a:pt x="2433" y="6874"/>
                  </a:lnTo>
                  <a:cubicBezTo>
                    <a:pt x="2433" y="6992"/>
                    <a:pt x="2481" y="7109"/>
                    <a:pt x="2573" y="7191"/>
                  </a:cubicBezTo>
                  <a:lnTo>
                    <a:pt x="4315" y="8686"/>
                  </a:lnTo>
                  <a:lnTo>
                    <a:pt x="4315" y="9716"/>
                  </a:lnTo>
                  <a:lnTo>
                    <a:pt x="3216" y="9716"/>
                  </a:lnTo>
                  <a:cubicBezTo>
                    <a:pt x="3112" y="8922"/>
                    <a:pt x="2725" y="8184"/>
                    <a:pt x="2130" y="7645"/>
                  </a:cubicBezTo>
                  <a:cubicBezTo>
                    <a:pt x="1288" y="6910"/>
                    <a:pt x="809" y="5836"/>
                    <a:pt x="809" y="4725"/>
                  </a:cubicBezTo>
                  <a:cubicBezTo>
                    <a:pt x="809" y="2562"/>
                    <a:pt x="2562" y="809"/>
                    <a:pt x="4725" y="809"/>
                  </a:cubicBezTo>
                  <a:close/>
                  <a:moveTo>
                    <a:pt x="6198" y="10521"/>
                  </a:moveTo>
                  <a:lnTo>
                    <a:pt x="6198" y="11247"/>
                  </a:lnTo>
                  <a:cubicBezTo>
                    <a:pt x="6198" y="11317"/>
                    <a:pt x="6139" y="11388"/>
                    <a:pt x="6069" y="11388"/>
                  </a:cubicBezTo>
                  <a:lnTo>
                    <a:pt x="3367" y="11388"/>
                  </a:lnTo>
                  <a:cubicBezTo>
                    <a:pt x="3297" y="11388"/>
                    <a:pt x="3241" y="11317"/>
                    <a:pt x="3241" y="11247"/>
                  </a:cubicBezTo>
                  <a:lnTo>
                    <a:pt x="3241" y="10521"/>
                  </a:lnTo>
                  <a:close/>
                  <a:moveTo>
                    <a:pt x="5659" y="12193"/>
                  </a:moveTo>
                  <a:lnTo>
                    <a:pt x="5659" y="12591"/>
                  </a:lnTo>
                  <a:cubicBezTo>
                    <a:pt x="5659" y="12813"/>
                    <a:pt x="5485" y="13001"/>
                    <a:pt x="5261" y="13001"/>
                  </a:cubicBezTo>
                  <a:lnTo>
                    <a:pt x="4175" y="13001"/>
                  </a:lnTo>
                  <a:cubicBezTo>
                    <a:pt x="3953" y="13001"/>
                    <a:pt x="3777" y="12813"/>
                    <a:pt x="3777" y="12591"/>
                  </a:cubicBezTo>
                  <a:lnTo>
                    <a:pt x="3777" y="12193"/>
                  </a:lnTo>
                  <a:close/>
                  <a:moveTo>
                    <a:pt x="4725" y="1"/>
                  </a:moveTo>
                  <a:cubicBezTo>
                    <a:pt x="2119" y="1"/>
                    <a:pt x="1" y="2119"/>
                    <a:pt x="1" y="4714"/>
                  </a:cubicBezTo>
                  <a:cubicBezTo>
                    <a:pt x="1" y="6069"/>
                    <a:pt x="587" y="7354"/>
                    <a:pt x="1591" y="8243"/>
                  </a:cubicBezTo>
                  <a:cubicBezTo>
                    <a:pt x="2119" y="8723"/>
                    <a:pt x="2433" y="9399"/>
                    <a:pt x="2433" y="10114"/>
                  </a:cubicBezTo>
                  <a:lnTo>
                    <a:pt x="2433" y="11247"/>
                  </a:lnTo>
                  <a:cubicBezTo>
                    <a:pt x="2433" y="11620"/>
                    <a:pt x="2643" y="11949"/>
                    <a:pt x="2972" y="12100"/>
                  </a:cubicBezTo>
                  <a:lnTo>
                    <a:pt x="2972" y="12591"/>
                  </a:lnTo>
                  <a:cubicBezTo>
                    <a:pt x="2972" y="13270"/>
                    <a:pt x="3507" y="13806"/>
                    <a:pt x="4175" y="13806"/>
                  </a:cubicBezTo>
                  <a:lnTo>
                    <a:pt x="5261" y="13806"/>
                  </a:lnTo>
                  <a:cubicBezTo>
                    <a:pt x="5928" y="13806"/>
                    <a:pt x="6478" y="13270"/>
                    <a:pt x="6478" y="12591"/>
                  </a:cubicBezTo>
                  <a:lnTo>
                    <a:pt x="6478" y="12100"/>
                  </a:lnTo>
                  <a:cubicBezTo>
                    <a:pt x="6792" y="11949"/>
                    <a:pt x="7014" y="11620"/>
                    <a:pt x="7014" y="11247"/>
                  </a:cubicBezTo>
                  <a:lnTo>
                    <a:pt x="7014" y="10114"/>
                  </a:lnTo>
                  <a:cubicBezTo>
                    <a:pt x="7014" y="9399"/>
                    <a:pt x="7320" y="8723"/>
                    <a:pt x="7844" y="8243"/>
                  </a:cubicBezTo>
                  <a:cubicBezTo>
                    <a:pt x="8863" y="7354"/>
                    <a:pt x="9435" y="6069"/>
                    <a:pt x="9435" y="4714"/>
                  </a:cubicBezTo>
                  <a:cubicBezTo>
                    <a:pt x="9435" y="2119"/>
                    <a:pt x="7320" y="1"/>
                    <a:pt x="472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4" name="Google Shape;1284;p48">
              <a:extLst>
                <a:ext uri="{FF2B5EF4-FFF2-40B4-BE49-F238E27FC236}">
                  <a16:creationId xmlns:a16="http://schemas.microsoft.com/office/drawing/2014/main" id="{C8692CB2-0B4F-159C-77F0-3A08AF4B2E21}"/>
                </a:ext>
              </a:extLst>
            </p:cNvPr>
            <p:cNvSpPr/>
            <p:nvPr/>
          </p:nvSpPr>
          <p:spPr>
            <a:xfrm>
              <a:off x="5825913" y="3905250"/>
              <a:ext cx="41475" cy="20150"/>
            </a:xfrm>
            <a:custGeom>
              <a:avLst/>
              <a:gdLst/>
              <a:ahLst/>
              <a:cxnLst/>
              <a:rect l="l" t="t" r="r" b="b"/>
              <a:pathLst>
                <a:path w="1659" h="806" extrusionOk="0">
                  <a:moveTo>
                    <a:pt x="433" y="0"/>
                  </a:moveTo>
                  <a:cubicBezTo>
                    <a:pt x="223" y="0"/>
                    <a:pt x="46" y="152"/>
                    <a:pt x="23" y="362"/>
                  </a:cubicBezTo>
                  <a:cubicBezTo>
                    <a:pt x="1" y="609"/>
                    <a:pt x="186" y="806"/>
                    <a:pt x="422" y="806"/>
                  </a:cubicBezTo>
                  <a:lnTo>
                    <a:pt x="1227" y="806"/>
                  </a:lnTo>
                  <a:cubicBezTo>
                    <a:pt x="1426" y="806"/>
                    <a:pt x="1614" y="654"/>
                    <a:pt x="1636" y="455"/>
                  </a:cubicBezTo>
                  <a:cubicBezTo>
                    <a:pt x="1659" y="211"/>
                    <a:pt x="1474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5" name="Google Shape;1285;p48">
              <a:extLst>
                <a:ext uri="{FF2B5EF4-FFF2-40B4-BE49-F238E27FC236}">
                  <a16:creationId xmlns:a16="http://schemas.microsoft.com/office/drawing/2014/main" id="{C09BC4DE-BF0F-AA2E-622B-255160E5846C}"/>
                </a:ext>
              </a:extLst>
            </p:cNvPr>
            <p:cNvSpPr/>
            <p:nvPr/>
          </p:nvSpPr>
          <p:spPr>
            <a:xfrm>
              <a:off x="5818288" y="3837775"/>
              <a:ext cx="40700" cy="30375"/>
            </a:xfrm>
            <a:custGeom>
              <a:avLst/>
              <a:gdLst/>
              <a:ahLst/>
              <a:cxnLst/>
              <a:rect l="l" t="t" r="r" b="b"/>
              <a:pathLst>
                <a:path w="1628" h="1215" extrusionOk="0">
                  <a:moveTo>
                    <a:pt x="1161" y="1"/>
                  </a:moveTo>
                  <a:cubicBezTo>
                    <a:pt x="1092" y="1"/>
                    <a:pt x="1022" y="19"/>
                    <a:pt x="960" y="57"/>
                  </a:cubicBezTo>
                  <a:lnTo>
                    <a:pt x="258" y="455"/>
                  </a:lnTo>
                  <a:cubicBezTo>
                    <a:pt x="59" y="573"/>
                    <a:pt x="0" y="817"/>
                    <a:pt x="107" y="1016"/>
                  </a:cubicBezTo>
                  <a:cubicBezTo>
                    <a:pt x="185" y="1141"/>
                    <a:pt x="320" y="1214"/>
                    <a:pt x="459" y="1214"/>
                  </a:cubicBezTo>
                  <a:cubicBezTo>
                    <a:pt x="530" y="1214"/>
                    <a:pt x="601" y="1196"/>
                    <a:pt x="668" y="1156"/>
                  </a:cubicBezTo>
                  <a:lnTo>
                    <a:pt x="1358" y="758"/>
                  </a:lnTo>
                  <a:cubicBezTo>
                    <a:pt x="1557" y="643"/>
                    <a:pt x="1627" y="396"/>
                    <a:pt x="1509" y="197"/>
                  </a:cubicBezTo>
                  <a:cubicBezTo>
                    <a:pt x="1438" y="73"/>
                    <a:pt x="1300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6" name="Google Shape;1286;p48">
              <a:extLst>
                <a:ext uri="{FF2B5EF4-FFF2-40B4-BE49-F238E27FC236}">
                  <a16:creationId xmlns:a16="http://schemas.microsoft.com/office/drawing/2014/main" id="{164D254E-BA00-3157-E4E0-97C513D201B3}"/>
                </a:ext>
              </a:extLst>
            </p:cNvPr>
            <p:cNvSpPr/>
            <p:nvPr/>
          </p:nvSpPr>
          <p:spPr>
            <a:xfrm>
              <a:off x="5818288" y="3962475"/>
              <a:ext cx="40700" cy="30425"/>
            </a:xfrm>
            <a:custGeom>
              <a:avLst/>
              <a:gdLst/>
              <a:ahLst/>
              <a:cxnLst/>
              <a:rect l="l" t="t" r="r" b="b"/>
              <a:pathLst>
                <a:path w="1628" h="1217" extrusionOk="0">
                  <a:moveTo>
                    <a:pt x="471" y="0"/>
                  </a:moveTo>
                  <a:cubicBezTo>
                    <a:pt x="327" y="0"/>
                    <a:pt x="187" y="73"/>
                    <a:pt x="107" y="200"/>
                  </a:cubicBezTo>
                  <a:cubicBezTo>
                    <a:pt x="0" y="399"/>
                    <a:pt x="59" y="646"/>
                    <a:pt x="258" y="750"/>
                  </a:cubicBezTo>
                  <a:lnTo>
                    <a:pt x="960" y="1159"/>
                  </a:lnTo>
                  <a:cubicBezTo>
                    <a:pt x="1022" y="1198"/>
                    <a:pt x="1091" y="1216"/>
                    <a:pt x="1160" y="1216"/>
                  </a:cubicBezTo>
                  <a:cubicBezTo>
                    <a:pt x="1300" y="1216"/>
                    <a:pt x="1438" y="1141"/>
                    <a:pt x="1509" y="1008"/>
                  </a:cubicBezTo>
                  <a:cubicBezTo>
                    <a:pt x="1627" y="820"/>
                    <a:pt x="1557" y="576"/>
                    <a:pt x="1358" y="458"/>
                  </a:cubicBezTo>
                  <a:lnTo>
                    <a:pt x="668" y="48"/>
                  </a:lnTo>
                  <a:cubicBezTo>
                    <a:pt x="605" y="16"/>
                    <a:pt x="538" y="0"/>
                    <a:pt x="47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7" name="Google Shape;1287;p48">
              <a:extLst>
                <a:ext uri="{FF2B5EF4-FFF2-40B4-BE49-F238E27FC236}">
                  <a16:creationId xmlns:a16="http://schemas.microsoft.com/office/drawing/2014/main" id="{E8C8121D-DBF0-E6FD-3383-609BF74E11D8}"/>
                </a:ext>
              </a:extLst>
            </p:cNvPr>
            <p:cNvSpPr/>
            <p:nvPr/>
          </p:nvSpPr>
          <p:spPr>
            <a:xfrm>
              <a:off x="5521113" y="3905250"/>
              <a:ext cx="41825" cy="20150"/>
            </a:xfrm>
            <a:custGeom>
              <a:avLst/>
              <a:gdLst/>
              <a:ahLst/>
              <a:cxnLst/>
              <a:rect l="l" t="t" r="r" b="b"/>
              <a:pathLst>
                <a:path w="1673" h="806" extrusionOk="0">
                  <a:moveTo>
                    <a:pt x="444" y="0"/>
                  </a:moveTo>
                  <a:cubicBezTo>
                    <a:pt x="234" y="0"/>
                    <a:pt x="49" y="152"/>
                    <a:pt x="23" y="362"/>
                  </a:cubicBezTo>
                  <a:cubicBezTo>
                    <a:pt x="1" y="609"/>
                    <a:pt x="189" y="806"/>
                    <a:pt x="433" y="806"/>
                  </a:cubicBezTo>
                  <a:lnTo>
                    <a:pt x="1241" y="806"/>
                  </a:lnTo>
                  <a:cubicBezTo>
                    <a:pt x="1474" y="806"/>
                    <a:pt x="1673" y="609"/>
                    <a:pt x="1636" y="362"/>
                  </a:cubicBezTo>
                  <a:cubicBezTo>
                    <a:pt x="1614" y="152"/>
                    <a:pt x="1437" y="0"/>
                    <a:pt x="12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8" name="Google Shape;1288;p48">
              <a:extLst>
                <a:ext uri="{FF2B5EF4-FFF2-40B4-BE49-F238E27FC236}">
                  <a16:creationId xmlns:a16="http://schemas.microsoft.com/office/drawing/2014/main" id="{5BD23EC9-9903-1D47-0257-9C54114A5FD5}"/>
                </a:ext>
              </a:extLst>
            </p:cNvPr>
            <p:cNvSpPr/>
            <p:nvPr/>
          </p:nvSpPr>
          <p:spPr>
            <a:xfrm>
              <a:off x="5529888" y="3837775"/>
              <a:ext cx="40350" cy="30375"/>
            </a:xfrm>
            <a:custGeom>
              <a:avLst/>
              <a:gdLst/>
              <a:ahLst/>
              <a:cxnLst/>
              <a:rect l="l" t="t" r="r" b="b"/>
              <a:pathLst>
                <a:path w="1614" h="1215" extrusionOk="0">
                  <a:moveTo>
                    <a:pt x="457" y="1"/>
                  </a:moveTo>
                  <a:cubicBezTo>
                    <a:pt x="320" y="1"/>
                    <a:pt x="183" y="73"/>
                    <a:pt x="104" y="197"/>
                  </a:cubicBezTo>
                  <a:cubicBezTo>
                    <a:pt x="1" y="396"/>
                    <a:pt x="60" y="643"/>
                    <a:pt x="259" y="758"/>
                  </a:cubicBezTo>
                  <a:lnTo>
                    <a:pt x="960" y="1156"/>
                  </a:lnTo>
                  <a:cubicBezTo>
                    <a:pt x="1022" y="1196"/>
                    <a:pt x="1091" y="1214"/>
                    <a:pt x="1159" y="1214"/>
                  </a:cubicBezTo>
                  <a:cubicBezTo>
                    <a:pt x="1296" y="1214"/>
                    <a:pt x="1431" y="1141"/>
                    <a:pt x="1507" y="1016"/>
                  </a:cubicBezTo>
                  <a:cubicBezTo>
                    <a:pt x="1614" y="817"/>
                    <a:pt x="1555" y="573"/>
                    <a:pt x="1356" y="455"/>
                  </a:cubicBezTo>
                  <a:lnTo>
                    <a:pt x="654" y="57"/>
                  </a:lnTo>
                  <a:cubicBezTo>
                    <a:pt x="593" y="19"/>
                    <a:pt x="525" y="1"/>
                    <a:pt x="45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  <p:sp>
          <p:nvSpPr>
            <p:cNvPr id="29" name="Google Shape;1289;p48">
              <a:extLst>
                <a:ext uri="{FF2B5EF4-FFF2-40B4-BE49-F238E27FC236}">
                  <a16:creationId xmlns:a16="http://schemas.microsoft.com/office/drawing/2014/main" id="{67A6FA21-7E39-7C05-62E2-15430A60EFFA}"/>
                </a:ext>
              </a:extLst>
            </p:cNvPr>
            <p:cNvSpPr/>
            <p:nvPr/>
          </p:nvSpPr>
          <p:spPr>
            <a:xfrm>
              <a:off x="5529888" y="3962475"/>
              <a:ext cx="40350" cy="30425"/>
            </a:xfrm>
            <a:custGeom>
              <a:avLst/>
              <a:gdLst/>
              <a:ahLst/>
              <a:cxnLst/>
              <a:rect l="l" t="t" r="r" b="b"/>
              <a:pathLst>
                <a:path w="1614" h="1217" extrusionOk="0">
                  <a:moveTo>
                    <a:pt x="1147" y="0"/>
                  </a:moveTo>
                  <a:cubicBezTo>
                    <a:pt x="1083" y="0"/>
                    <a:pt x="1018" y="16"/>
                    <a:pt x="960" y="48"/>
                  </a:cubicBezTo>
                  <a:lnTo>
                    <a:pt x="259" y="458"/>
                  </a:lnTo>
                  <a:cubicBezTo>
                    <a:pt x="60" y="576"/>
                    <a:pt x="1" y="820"/>
                    <a:pt x="104" y="1008"/>
                  </a:cubicBezTo>
                  <a:cubicBezTo>
                    <a:pt x="183" y="1141"/>
                    <a:pt x="320" y="1216"/>
                    <a:pt x="457" y="1216"/>
                  </a:cubicBezTo>
                  <a:cubicBezTo>
                    <a:pt x="525" y="1216"/>
                    <a:pt x="593" y="1198"/>
                    <a:pt x="654" y="1159"/>
                  </a:cubicBezTo>
                  <a:lnTo>
                    <a:pt x="1356" y="750"/>
                  </a:lnTo>
                  <a:cubicBezTo>
                    <a:pt x="1555" y="646"/>
                    <a:pt x="1614" y="399"/>
                    <a:pt x="1507" y="200"/>
                  </a:cubicBezTo>
                  <a:cubicBezTo>
                    <a:pt x="1428" y="73"/>
                    <a:pt x="1288" y="0"/>
                    <a:pt x="114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Candara" panose="020E0502030303020204" pitchFamily="34" charset="0"/>
              </a:endParaRPr>
            </a:p>
          </p:txBody>
        </p:sp>
      </p:grpSp>
      <p:sp>
        <p:nvSpPr>
          <p:cNvPr id="30" name="Google Shape;1399;p48">
            <a:extLst>
              <a:ext uri="{FF2B5EF4-FFF2-40B4-BE49-F238E27FC236}">
                <a16:creationId xmlns:a16="http://schemas.microsoft.com/office/drawing/2014/main" id="{F627BD43-4A3D-410B-26BA-980014C0D6C1}"/>
              </a:ext>
            </a:extLst>
          </p:cNvPr>
          <p:cNvSpPr/>
          <p:nvPr/>
        </p:nvSpPr>
        <p:spPr>
          <a:xfrm>
            <a:off x="1096214" y="1098097"/>
            <a:ext cx="345075" cy="344800"/>
          </a:xfrm>
          <a:custGeom>
            <a:avLst/>
            <a:gdLst/>
            <a:ahLst/>
            <a:cxnLst/>
            <a:rect l="l" t="t" r="r" b="b"/>
            <a:pathLst>
              <a:path w="13803" h="13792" extrusionOk="0">
                <a:moveTo>
                  <a:pt x="11337" y="1344"/>
                </a:moveTo>
                <a:lnTo>
                  <a:pt x="11454" y="1998"/>
                </a:lnTo>
                <a:cubicBezTo>
                  <a:pt x="11488" y="2163"/>
                  <a:pt x="11617" y="2290"/>
                  <a:pt x="11783" y="2326"/>
                </a:cubicBezTo>
                <a:lnTo>
                  <a:pt x="12425" y="2444"/>
                </a:lnTo>
                <a:lnTo>
                  <a:pt x="11314" y="3566"/>
                </a:lnTo>
                <a:lnTo>
                  <a:pt x="10391" y="3389"/>
                </a:lnTo>
                <a:lnTo>
                  <a:pt x="10214" y="2466"/>
                </a:lnTo>
                <a:lnTo>
                  <a:pt x="11337" y="1344"/>
                </a:lnTo>
                <a:close/>
                <a:moveTo>
                  <a:pt x="6896" y="5670"/>
                </a:moveTo>
                <a:cubicBezTo>
                  <a:pt x="7084" y="5670"/>
                  <a:pt x="7258" y="5715"/>
                  <a:pt x="7420" y="5785"/>
                </a:cubicBezTo>
                <a:lnTo>
                  <a:pt x="6615" y="6593"/>
                </a:lnTo>
                <a:cubicBezTo>
                  <a:pt x="6452" y="6756"/>
                  <a:pt x="6452" y="7014"/>
                  <a:pt x="6615" y="7165"/>
                </a:cubicBezTo>
                <a:cubicBezTo>
                  <a:pt x="6691" y="7247"/>
                  <a:pt x="6793" y="7287"/>
                  <a:pt x="6896" y="7287"/>
                </a:cubicBezTo>
                <a:cubicBezTo>
                  <a:pt x="6998" y="7287"/>
                  <a:pt x="7100" y="7247"/>
                  <a:pt x="7176" y="7165"/>
                </a:cubicBezTo>
                <a:lnTo>
                  <a:pt x="7995" y="6357"/>
                </a:lnTo>
                <a:cubicBezTo>
                  <a:pt x="8066" y="6523"/>
                  <a:pt x="8110" y="6697"/>
                  <a:pt x="8110" y="6885"/>
                </a:cubicBezTo>
                <a:cubicBezTo>
                  <a:pt x="8110" y="7550"/>
                  <a:pt x="7561" y="8099"/>
                  <a:pt x="6896" y="8099"/>
                </a:cubicBezTo>
                <a:cubicBezTo>
                  <a:pt x="6228" y="8099"/>
                  <a:pt x="5681" y="7550"/>
                  <a:pt x="5681" y="6885"/>
                </a:cubicBezTo>
                <a:cubicBezTo>
                  <a:pt x="5681" y="6217"/>
                  <a:pt x="6228" y="5670"/>
                  <a:pt x="6896" y="5670"/>
                </a:cubicBezTo>
                <a:close/>
                <a:moveTo>
                  <a:pt x="6896" y="3788"/>
                </a:moveTo>
                <a:cubicBezTo>
                  <a:pt x="7608" y="3788"/>
                  <a:pt x="8262" y="4021"/>
                  <a:pt x="8778" y="4430"/>
                </a:cubicBezTo>
                <a:lnTo>
                  <a:pt x="8007" y="5202"/>
                </a:lnTo>
                <a:cubicBezTo>
                  <a:pt x="7690" y="4980"/>
                  <a:pt x="7305" y="4862"/>
                  <a:pt x="6896" y="4862"/>
                </a:cubicBezTo>
                <a:cubicBezTo>
                  <a:pt x="5785" y="4862"/>
                  <a:pt x="4873" y="5763"/>
                  <a:pt x="4873" y="6885"/>
                </a:cubicBezTo>
                <a:cubicBezTo>
                  <a:pt x="4873" y="7996"/>
                  <a:pt x="5785" y="8907"/>
                  <a:pt x="6896" y="8907"/>
                </a:cubicBezTo>
                <a:cubicBezTo>
                  <a:pt x="8007" y="8907"/>
                  <a:pt x="8918" y="7996"/>
                  <a:pt x="8918" y="6885"/>
                </a:cubicBezTo>
                <a:cubicBezTo>
                  <a:pt x="8918" y="6475"/>
                  <a:pt x="8789" y="6091"/>
                  <a:pt x="8579" y="5774"/>
                </a:cubicBezTo>
                <a:lnTo>
                  <a:pt x="9350" y="4991"/>
                </a:lnTo>
                <a:cubicBezTo>
                  <a:pt x="9760" y="5516"/>
                  <a:pt x="9993" y="6172"/>
                  <a:pt x="9993" y="6885"/>
                </a:cubicBezTo>
                <a:cubicBezTo>
                  <a:pt x="9993" y="8590"/>
                  <a:pt x="8601" y="9982"/>
                  <a:pt x="6896" y="9982"/>
                </a:cubicBezTo>
                <a:cubicBezTo>
                  <a:pt x="5190" y="9982"/>
                  <a:pt x="3799" y="8590"/>
                  <a:pt x="3799" y="6885"/>
                </a:cubicBezTo>
                <a:cubicBezTo>
                  <a:pt x="3799" y="5179"/>
                  <a:pt x="5190" y="3788"/>
                  <a:pt x="6896" y="3788"/>
                </a:cubicBezTo>
                <a:close/>
                <a:moveTo>
                  <a:pt x="7608" y="806"/>
                </a:moveTo>
                <a:lnTo>
                  <a:pt x="7678" y="1673"/>
                </a:lnTo>
                <a:cubicBezTo>
                  <a:pt x="7690" y="1846"/>
                  <a:pt x="7819" y="1987"/>
                  <a:pt x="7995" y="2034"/>
                </a:cubicBezTo>
                <a:cubicBezTo>
                  <a:pt x="8498" y="2138"/>
                  <a:pt x="8977" y="2326"/>
                  <a:pt x="9420" y="2595"/>
                </a:cubicBezTo>
                <a:lnTo>
                  <a:pt x="9608" y="3611"/>
                </a:lnTo>
                <a:lnTo>
                  <a:pt x="9362" y="3858"/>
                </a:lnTo>
                <a:cubicBezTo>
                  <a:pt x="8693" y="3312"/>
                  <a:pt x="7834" y="2989"/>
                  <a:pt x="6895" y="2989"/>
                </a:cubicBezTo>
                <a:cubicBezTo>
                  <a:pt x="6848" y="2989"/>
                  <a:pt x="6802" y="2989"/>
                  <a:pt x="6755" y="2991"/>
                </a:cubicBezTo>
                <a:cubicBezTo>
                  <a:pt x="4699" y="3061"/>
                  <a:pt x="3038" y="4744"/>
                  <a:pt x="2991" y="6803"/>
                </a:cubicBezTo>
                <a:cubicBezTo>
                  <a:pt x="2947" y="9001"/>
                  <a:pt x="4712" y="10802"/>
                  <a:pt x="6884" y="10802"/>
                </a:cubicBezTo>
                <a:cubicBezTo>
                  <a:pt x="6918" y="10802"/>
                  <a:pt x="6953" y="10802"/>
                  <a:pt x="6988" y="10801"/>
                </a:cubicBezTo>
                <a:cubicBezTo>
                  <a:pt x="9047" y="10765"/>
                  <a:pt x="10731" y="9107"/>
                  <a:pt x="10812" y="7047"/>
                </a:cubicBezTo>
                <a:cubicBezTo>
                  <a:pt x="10846" y="6054"/>
                  <a:pt x="10506" y="5143"/>
                  <a:pt x="9934" y="4430"/>
                </a:cubicBezTo>
                <a:lnTo>
                  <a:pt x="10181" y="4183"/>
                </a:lnTo>
                <a:lnTo>
                  <a:pt x="11207" y="4371"/>
                </a:lnTo>
                <a:cubicBezTo>
                  <a:pt x="11466" y="4814"/>
                  <a:pt x="11654" y="5294"/>
                  <a:pt x="11769" y="5810"/>
                </a:cubicBezTo>
                <a:cubicBezTo>
                  <a:pt x="11805" y="5973"/>
                  <a:pt x="11956" y="6102"/>
                  <a:pt x="12133" y="6125"/>
                </a:cubicBezTo>
                <a:lnTo>
                  <a:pt x="12997" y="6195"/>
                </a:lnTo>
                <a:lnTo>
                  <a:pt x="12997" y="7597"/>
                </a:lnTo>
                <a:lnTo>
                  <a:pt x="12133" y="7667"/>
                </a:lnTo>
                <a:cubicBezTo>
                  <a:pt x="11956" y="7690"/>
                  <a:pt x="11805" y="7819"/>
                  <a:pt x="11769" y="7996"/>
                </a:cubicBezTo>
                <a:cubicBezTo>
                  <a:pt x="11642" y="8557"/>
                  <a:pt x="11418" y="9081"/>
                  <a:pt x="11115" y="9561"/>
                </a:cubicBezTo>
                <a:cubicBezTo>
                  <a:pt x="11022" y="9713"/>
                  <a:pt x="11034" y="9912"/>
                  <a:pt x="11151" y="10041"/>
                </a:cubicBezTo>
                <a:lnTo>
                  <a:pt x="11712" y="10706"/>
                </a:lnTo>
                <a:lnTo>
                  <a:pt x="10705" y="11701"/>
                </a:lnTo>
                <a:lnTo>
                  <a:pt x="10052" y="11140"/>
                </a:lnTo>
                <a:cubicBezTo>
                  <a:pt x="9974" y="11075"/>
                  <a:pt x="9881" y="11042"/>
                  <a:pt x="9788" y="11042"/>
                </a:cubicBezTo>
                <a:cubicBezTo>
                  <a:pt x="9713" y="11042"/>
                  <a:pt x="9639" y="11063"/>
                  <a:pt x="9572" y="11104"/>
                </a:cubicBezTo>
                <a:cubicBezTo>
                  <a:pt x="9081" y="11421"/>
                  <a:pt x="8556" y="11643"/>
                  <a:pt x="7995" y="11758"/>
                </a:cubicBezTo>
                <a:cubicBezTo>
                  <a:pt x="7819" y="11805"/>
                  <a:pt x="7690" y="11946"/>
                  <a:pt x="7678" y="12122"/>
                </a:cubicBezTo>
                <a:lnTo>
                  <a:pt x="7608" y="12986"/>
                </a:lnTo>
                <a:lnTo>
                  <a:pt x="6194" y="12986"/>
                </a:lnTo>
                <a:lnTo>
                  <a:pt x="6124" y="12122"/>
                </a:lnTo>
                <a:cubicBezTo>
                  <a:pt x="6113" y="11946"/>
                  <a:pt x="5984" y="11805"/>
                  <a:pt x="5807" y="11758"/>
                </a:cubicBezTo>
                <a:cubicBezTo>
                  <a:pt x="5246" y="11643"/>
                  <a:pt x="4722" y="11421"/>
                  <a:pt x="4231" y="11104"/>
                </a:cubicBezTo>
                <a:cubicBezTo>
                  <a:pt x="4163" y="11063"/>
                  <a:pt x="4089" y="11042"/>
                  <a:pt x="4015" y="11042"/>
                </a:cubicBezTo>
                <a:cubicBezTo>
                  <a:pt x="3922" y="11042"/>
                  <a:pt x="3829" y="11075"/>
                  <a:pt x="3751" y="11140"/>
                </a:cubicBezTo>
                <a:lnTo>
                  <a:pt x="3097" y="11701"/>
                </a:lnTo>
                <a:lnTo>
                  <a:pt x="2090" y="10706"/>
                </a:lnTo>
                <a:lnTo>
                  <a:pt x="2651" y="10041"/>
                </a:lnTo>
                <a:cubicBezTo>
                  <a:pt x="2769" y="9912"/>
                  <a:pt x="2780" y="9713"/>
                  <a:pt x="2688" y="9561"/>
                </a:cubicBezTo>
                <a:cubicBezTo>
                  <a:pt x="2385" y="9081"/>
                  <a:pt x="2160" y="8546"/>
                  <a:pt x="2034" y="7984"/>
                </a:cubicBezTo>
                <a:cubicBezTo>
                  <a:pt x="1998" y="7819"/>
                  <a:pt x="1846" y="7690"/>
                  <a:pt x="1669" y="7667"/>
                </a:cubicBezTo>
                <a:lnTo>
                  <a:pt x="805" y="7597"/>
                </a:lnTo>
                <a:lnTo>
                  <a:pt x="805" y="6195"/>
                </a:lnTo>
                <a:lnTo>
                  <a:pt x="1669" y="6125"/>
                </a:lnTo>
                <a:cubicBezTo>
                  <a:pt x="1846" y="6102"/>
                  <a:pt x="1998" y="5984"/>
                  <a:pt x="2034" y="5810"/>
                </a:cubicBezTo>
                <a:cubicBezTo>
                  <a:pt x="2160" y="5249"/>
                  <a:pt x="2385" y="4711"/>
                  <a:pt x="2688" y="4220"/>
                </a:cubicBezTo>
                <a:cubicBezTo>
                  <a:pt x="2780" y="4079"/>
                  <a:pt x="2769" y="3880"/>
                  <a:pt x="2651" y="3751"/>
                </a:cubicBezTo>
                <a:lnTo>
                  <a:pt x="2090" y="3086"/>
                </a:lnTo>
                <a:lnTo>
                  <a:pt x="3097" y="2093"/>
                </a:lnTo>
                <a:lnTo>
                  <a:pt x="3751" y="2654"/>
                </a:lnTo>
                <a:cubicBezTo>
                  <a:pt x="3829" y="2718"/>
                  <a:pt x="3921" y="2750"/>
                  <a:pt x="4014" y="2750"/>
                </a:cubicBezTo>
                <a:cubicBezTo>
                  <a:pt x="4088" y="2750"/>
                  <a:pt x="4163" y="2729"/>
                  <a:pt x="4231" y="2688"/>
                </a:cubicBezTo>
                <a:cubicBezTo>
                  <a:pt x="4722" y="2374"/>
                  <a:pt x="5246" y="2149"/>
                  <a:pt x="5807" y="2034"/>
                </a:cubicBezTo>
                <a:cubicBezTo>
                  <a:pt x="5984" y="1987"/>
                  <a:pt x="6113" y="1846"/>
                  <a:pt x="6124" y="1673"/>
                </a:cubicBezTo>
                <a:lnTo>
                  <a:pt x="6194" y="806"/>
                </a:lnTo>
                <a:close/>
                <a:moveTo>
                  <a:pt x="5821" y="1"/>
                </a:moveTo>
                <a:cubicBezTo>
                  <a:pt x="5611" y="1"/>
                  <a:pt x="5434" y="152"/>
                  <a:pt x="5423" y="362"/>
                </a:cubicBezTo>
                <a:lnTo>
                  <a:pt x="5342" y="1308"/>
                </a:lnTo>
                <a:cubicBezTo>
                  <a:pt x="4895" y="1437"/>
                  <a:pt x="4463" y="1614"/>
                  <a:pt x="4054" y="1846"/>
                </a:cubicBezTo>
                <a:lnTo>
                  <a:pt x="3330" y="1226"/>
                </a:lnTo>
                <a:cubicBezTo>
                  <a:pt x="3252" y="1165"/>
                  <a:pt x="3158" y="1133"/>
                  <a:pt x="3064" y="1133"/>
                </a:cubicBezTo>
                <a:cubicBezTo>
                  <a:pt x="2961" y="1133"/>
                  <a:pt x="2859" y="1171"/>
                  <a:pt x="2780" y="1252"/>
                </a:cubicBezTo>
                <a:lnTo>
                  <a:pt x="1263" y="2781"/>
                </a:lnTo>
                <a:cubicBezTo>
                  <a:pt x="1108" y="2921"/>
                  <a:pt x="1097" y="3168"/>
                  <a:pt x="1237" y="3330"/>
                </a:cubicBezTo>
                <a:lnTo>
                  <a:pt x="1846" y="4057"/>
                </a:lnTo>
                <a:cubicBezTo>
                  <a:pt x="1624" y="4453"/>
                  <a:pt x="1437" y="4885"/>
                  <a:pt x="1319" y="5342"/>
                </a:cubicBezTo>
                <a:lnTo>
                  <a:pt x="373" y="5412"/>
                </a:lnTo>
                <a:cubicBezTo>
                  <a:pt x="163" y="5434"/>
                  <a:pt x="0" y="5611"/>
                  <a:pt x="0" y="5822"/>
                </a:cubicBezTo>
                <a:lnTo>
                  <a:pt x="0" y="7970"/>
                </a:lnTo>
                <a:cubicBezTo>
                  <a:pt x="0" y="8181"/>
                  <a:pt x="163" y="8358"/>
                  <a:pt x="373" y="8380"/>
                </a:cubicBezTo>
                <a:lnTo>
                  <a:pt x="1319" y="8450"/>
                </a:lnTo>
                <a:cubicBezTo>
                  <a:pt x="1437" y="8907"/>
                  <a:pt x="1624" y="9339"/>
                  <a:pt x="1846" y="9749"/>
                </a:cubicBezTo>
                <a:lnTo>
                  <a:pt x="1237" y="10462"/>
                </a:lnTo>
                <a:cubicBezTo>
                  <a:pt x="1097" y="10624"/>
                  <a:pt x="1108" y="10871"/>
                  <a:pt x="1263" y="11011"/>
                </a:cubicBezTo>
                <a:lnTo>
                  <a:pt x="2780" y="12543"/>
                </a:lnTo>
                <a:cubicBezTo>
                  <a:pt x="2859" y="12622"/>
                  <a:pt x="2961" y="12660"/>
                  <a:pt x="3063" y="12660"/>
                </a:cubicBezTo>
                <a:cubicBezTo>
                  <a:pt x="3157" y="12660"/>
                  <a:pt x="3252" y="12627"/>
                  <a:pt x="3330" y="12566"/>
                </a:cubicBezTo>
                <a:lnTo>
                  <a:pt x="4054" y="11946"/>
                </a:lnTo>
                <a:cubicBezTo>
                  <a:pt x="4463" y="12178"/>
                  <a:pt x="4895" y="12355"/>
                  <a:pt x="5342" y="12484"/>
                </a:cubicBezTo>
                <a:lnTo>
                  <a:pt x="5423" y="13430"/>
                </a:lnTo>
                <a:cubicBezTo>
                  <a:pt x="5434" y="13640"/>
                  <a:pt x="5611" y="13791"/>
                  <a:pt x="5821" y="13791"/>
                </a:cubicBezTo>
                <a:lnTo>
                  <a:pt x="7981" y="13791"/>
                </a:lnTo>
                <a:cubicBezTo>
                  <a:pt x="8192" y="13791"/>
                  <a:pt x="8368" y="13640"/>
                  <a:pt x="8380" y="13430"/>
                </a:cubicBezTo>
                <a:lnTo>
                  <a:pt x="8461" y="12484"/>
                </a:lnTo>
                <a:cubicBezTo>
                  <a:pt x="8907" y="12355"/>
                  <a:pt x="9339" y="12178"/>
                  <a:pt x="9749" y="11946"/>
                </a:cubicBezTo>
                <a:lnTo>
                  <a:pt x="10472" y="12566"/>
                </a:lnTo>
                <a:cubicBezTo>
                  <a:pt x="10551" y="12627"/>
                  <a:pt x="10645" y="12660"/>
                  <a:pt x="10740" y="12660"/>
                </a:cubicBezTo>
                <a:cubicBezTo>
                  <a:pt x="10842" y="12660"/>
                  <a:pt x="10944" y="12622"/>
                  <a:pt x="11022" y="12543"/>
                </a:cubicBezTo>
                <a:lnTo>
                  <a:pt x="12540" y="11011"/>
                </a:lnTo>
                <a:cubicBezTo>
                  <a:pt x="12694" y="10871"/>
                  <a:pt x="12706" y="10624"/>
                  <a:pt x="12565" y="10462"/>
                </a:cubicBezTo>
                <a:lnTo>
                  <a:pt x="11956" y="9749"/>
                </a:lnTo>
                <a:cubicBezTo>
                  <a:pt x="12178" y="9339"/>
                  <a:pt x="12366" y="8907"/>
                  <a:pt x="12484" y="8450"/>
                </a:cubicBezTo>
                <a:lnTo>
                  <a:pt x="13429" y="8380"/>
                </a:lnTo>
                <a:cubicBezTo>
                  <a:pt x="13640" y="8358"/>
                  <a:pt x="13802" y="8181"/>
                  <a:pt x="13802" y="7970"/>
                </a:cubicBezTo>
                <a:lnTo>
                  <a:pt x="13802" y="5822"/>
                </a:lnTo>
                <a:cubicBezTo>
                  <a:pt x="13802" y="5611"/>
                  <a:pt x="13640" y="5434"/>
                  <a:pt x="13429" y="5412"/>
                </a:cubicBezTo>
                <a:lnTo>
                  <a:pt x="12484" y="5342"/>
                </a:lnTo>
                <a:cubicBezTo>
                  <a:pt x="12366" y="4899"/>
                  <a:pt x="12189" y="4478"/>
                  <a:pt x="11968" y="4068"/>
                </a:cubicBezTo>
                <a:lnTo>
                  <a:pt x="13547" y="2489"/>
                </a:lnTo>
                <a:cubicBezTo>
                  <a:pt x="13780" y="2256"/>
                  <a:pt x="13662" y="1858"/>
                  <a:pt x="13337" y="1799"/>
                </a:cubicBezTo>
                <a:lnTo>
                  <a:pt x="12203" y="1588"/>
                </a:lnTo>
                <a:lnTo>
                  <a:pt x="11993" y="455"/>
                </a:lnTo>
                <a:cubicBezTo>
                  <a:pt x="11955" y="252"/>
                  <a:pt x="11774" y="131"/>
                  <a:pt x="11592" y="131"/>
                </a:cubicBezTo>
                <a:cubicBezTo>
                  <a:pt x="11492" y="131"/>
                  <a:pt x="11392" y="166"/>
                  <a:pt x="11314" y="245"/>
                </a:cubicBezTo>
                <a:lnTo>
                  <a:pt x="9723" y="1835"/>
                </a:lnTo>
                <a:cubicBezTo>
                  <a:pt x="9328" y="1614"/>
                  <a:pt x="8907" y="1437"/>
                  <a:pt x="8461" y="1308"/>
                </a:cubicBezTo>
                <a:lnTo>
                  <a:pt x="8380" y="362"/>
                </a:lnTo>
                <a:cubicBezTo>
                  <a:pt x="8368" y="152"/>
                  <a:pt x="8192" y="1"/>
                  <a:pt x="798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Candara" panose="020E0502030303020204" pitchFamily="34" charset="0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A4C0504-F1E6-31F3-12FA-BD040DA00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1933" y="2400147"/>
            <a:ext cx="5962650" cy="186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145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697B7-56BB-2DDC-6B8B-F14F3A18A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B4A73B-A0A2-0CC1-2FD0-6DFDCA5A1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1258" y="437768"/>
            <a:ext cx="7704000" cy="572700"/>
          </a:xfrm>
        </p:spPr>
        <p:txBody>
          <a:bodyPr/>
          <a:lstStyle/>
          <a:p>
            <a:r>
              <a:rPr lang="ru-RU" altLang="zh-CN" b="1" dirty="0">
                <a:latin typeface="Candara" panose="020E0502030303020204" pitchFamily="34" charset="0"/>
              </a:rPr>
              <a:t>Практическое применение </a:t>
            </a:r>
            <a:r>
              <a:rPr lang="en-US" altLang="zh-CN" b="1" dirty="0">
                <a:latin typeface="Candara" panose="020E0502030303020204" pitchFamily="34" charset="0"/>
              </a:rPr>
              <a:t>SHAP</a:t>
            </a:r>
            <a:endParaRPr lang="zh-CN" altLang="en-US" b="1" dirty="0">
              <a:latin typeface="Candara" panose="020E0502030303020204" pitchFamily="34" charset="0"/>
            </a:endParaRPr>
          </a:p>
        </p:txBody>
      </p:sp>
      <p:sp>
        <p:nvSpPr>
          <p:cNvPr id="4" name="Подзаголовок 3">
            <a:extLst>
              <a:ext uri="{FF2B5EF4-FFF2-40B4-BE49-F238E27FC236}">
                <a16:creationId xmlns:a16="http://schemas.microsoft.com/office/drawing/2014/main" id="{FC8AF0FE-F254-B19E-E345-AC3795D6EDFE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853844" y="2826887"/>
            <a:ext cx="3718156" cy="572701"/>
          </a:xfrm>
        </p:spPr>
        <p:txBody>
          <a:bodyPr/>
          <a:lstStyle/>
          <a:p>
            <a:pPr marL="0" indent="0"/>
            <a:r>
              <a:rPr lang="ru-RU" altLang="zh-CN" sz="1100" dirty="0">
                <a:latin typeface="Candara" panose="020E0502030303020204" pitchFamily="34" charset="0"/>
              </a:rPr>
              <a:t>- Почему конкретный пациент отнесен к классу "</a:t>
            </a:r>
            <a:r>
              <a:rPr lang="ru-RU" altLang="zh-CN" sz="1100" dirty="0" err="1">
                <a:latin typeface="Candara" panose="020E0502030303020204" pitchFamily="34" charset="0"/>
              </a:rPr>
              <a:t>Cardio</a:t>
            </a:r>
            <a:r>
              <a:rPr lang="ru-RU" altLang="zh-CN" sz="1100" dirty="0">
                <a:latin typeface="Candara" panose="020E0502030303020204" pitchFamily="34" charset="0"/>
              </a:rPr>
              <a:t>"</a:t>
            </a:r>
          </a:p>
          <a:p>
            <a:pPr marL="0" indent="0"/>
            <a:r>
              <a:rPr lang="ru-RU" altLang="zh-CN" sz="1100" dirty="0">
                <a:latin typeface="Candara" panose="020E0502030303020204" pitchFamily="34" charset="0"/>
              </a:rPr>
              <a:t>- Вклад каждого признака в предсказание</a:t>
            </a:r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553CAF62-1E38-285E-1DD5-AB7E43F9C772}"/>
              </a:ext>
            </a:extLst>
          </p:cNvPr>
          <p:cNvSpPr>
            <a:spLocks noGrp="1"/>
          </p:cNvSpPr>
          <p:nvPr>
            <p:ph type="subTitle" idx="5"/>
          </p:nvPr>
        </p:nvSpPr>
        <p:spPr>
          <a:xfrm>
            <a:off x="590406" y="2690039"/>
            <a:ext cx="2864695" cy="314325"/>
          </a:xfrm>
        </p:spPr>
        <p:txBody>
          <a:bodyPr/>
          <a:lstStyle/>
          <a:p>
            <a:r>
              <a:rPr lang="ru-RU" altLang="zh-CN" sz="1200" dirty="0">
                <a:latin typeface="Candara" panose="020E0502030303020204" pitchFamily="34" charset="0"/>
              </a:rPr>
              <a:t>Локальные объяснения:</a:t>
            </a:r>
            <a:endParaRPr lang="zh-CN" altLang="en-US" sz="1200" dirty="0">
              <a:latin typeface="Candara" panose="020E0502030303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B4213F-4BB4-45E8-05CD-DAD2537CA243}"/>
              </a:ext>
            </a:extLst>
          </p:cNvPr>
          <p:cNvSpPr txBox="1"/>
          <p:nvPr/>
        </p:nvSpPr>
        <p:spPr>
          <a:xfrm>
            <a:off x="2990096" y="3984888"/>
            <a:ext cx="253959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altLang="zh-CN" sz="11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- Как изменение признака влияет на предсказание</a:t>
            </a:r>
          </a:p>
          <a:p>
            <a:r>
              <a:rPr lang="ru-RU" altLang="zh-CN" sz="1100" dirty="0">
                <a:solidFill>
                  <a:schemeClr val="accent2">
                    <a:lumMod val="40000"/>
                    <a:lumOff val="60000"/>
                  </a:schemeClr>
                </a:solidFill>
                <a:latin typeface="Candara" panose="020E0502030303020204" pitchFamily="34" charset="0"/>
              </a:rPr>
              <a:t>- Взаимодействия между признаками</a:t>
            </a:r>
          </a:p>
        </p:txBody>
      </p:sp>
      <p:sp>
        <p:nvSpPr>
          <p:cNvPr id="36" name="Подзаголовок 5">
            <a:extLst>
              <a:ext uri="{FF2B5EF4-FFF2-40B4-BE49-F238E27FC236}">
                <a16:creationId xmlns:a16="http://schemas.microsoft.com/office/drawing/2014/main" id="{5BE7F7CE-44B7-4E89-D92A-2372B824B7C6}"/>
              </a:ext>
            </a:extLst>
          </p:cNvPr>
          <p:cNvSpPr txBox="1">
            <a:spLocks/>
          </p:cNvSpPr>
          <p:nvPr/>
        </p:nvSpPr>
        <p:spPr>
          <a:xfrm>
            <a:off x="2839532" y="3581927"/>
            <a:ext cx="1528580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US" altLang="zh-CN" sz="1200" dirty="0">
                <a:latin typeface="Candara" panose="020E0502030303020204" pitchFamily="34" charset="0"/>
              </a:rPr>
              <a:t>Dependence plots:</a:t>
            </a:r>
            <a:endParaRPr lang="zh-CN" altLang="en-US" sz="1200" dirty="0">
              <a:latin typeface="Candara" panose="020E0502030303020204" pitchFamily="34" charset="0"/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5C5D3ADE-5650-B9C5-4320-1C14E1DE8B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44" y="1158612"/>
            <a:ext cx="2189211" cy="1481138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8CE4AE41-E446-0CEB-462E-6D532CC644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44" y="3518711"/>
            <a:ext cx="2136252" cy="1470686"/>
          </a:xfrm>
          <a:prstGeom prst="rect">
            <a:avLst/>
          </a:prstGeom>
        </p:spPr>
      </p:pic>
      <p:sp>
        <p:nvSpPr>
          <p:cNvPr id="44" name="Подзаголовок 2">
            <a:extLst>
              <a:ext uri="{FF2B5EF4-FFF2-40B4-BE49-F238E27FC236}">
                <a16:creationId xmlns:a16="http://schemas.microsoft.com/office/drawing/2014/main" id="{E164DBF2-7C62-1B75-0704-606EEF42E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2850" y="3519396"/>
            <a:ext cx="3302408" cy="602449"/>
          </a:xfrm>
        </p:spPr>
        <p:txBody>
          <a:bodyPr/>
          <a:lstStyle/>
          <a:p>
            <a:pPr marL="0" indent="0"/>
            <a:r>
              <a:rPr lang="ru-RU" altLang="zh-CN" sz="1100" dirty="0">
                <a:latin typeface="Candara" panose="020E0502030303020204" pitchFamily="34" charset="0"/>
              </a:rPr>
              <a:t>- Важность признаков</a:t>
            </a:r>
          </a:p>
          <a:p>
            <a:pPr marL="0" indent="0"/>
            <a:r>
              <a:rPr lang="ru-RU" altLang="zh-CN" sz="1100" dirty="0">
                <a:latin typeface="Candara" panose="020E0502030303020204" pitchFamily="34" charset="0"/>
              </a:rPr>
              <a:t>- Распределение влияния признаков на модель</a:t>
            </a:r>
          </a:p>
        </p:txBody>
      </p:sp>
      <p:sp>
        <p:nvSpPr>
          <p:cNvPr id="45" name="Подзаголовок 5">
            <a:extLst>
              <a:ext uri="{FF2B5EF4-FFF2-40B4-BE49-F238E27FC236}">
                <a16:creationId xmlns:a16="http://schemas.microsoft.com/office/drawing/2014/main" id="{A0AE7DFF-5206-FCB5-49F3-C5E2620918B0}"/>
              </a:ext>
            </a:extLst>
          </p:cNvPr>
          <p:cNvSpPr txBox="1">
            <a:spLocks/>
          </p:cNvSpPr>
          <p:nvPr/>
        </p:nvSpPr>
        <p:spPr>
          <a:xfrm>
            <a:off x="5123603" y="3209720"/>
            <a:ext cx="2786568" cy="4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r>
              <a:rPr lang="en-GB" altLang="zh-CN" sz="1200" dirty="0">
                <a:latin typeface="Candara" panose="020E0502030303020204" pitchFamily="34" charset="0"/>
              </a:rPr>
              <a:t>Summary plot:</a:t>
            </a:r>
            <a:endParaRPr lang="zh-CN" altLang="en-US" sz="1200" dirty="0">
              <a:latin typeface="Candara" panose="020E0502030303020204" pitchFamily="34" charset="0"/>
            </a:endParaRPr>
          </a:p>
        </p:txBody>
      </p:sp>
      <p:pic>
        <p:nvPicPr>
          <p:cNvPr id="46" name="Рисунок 45">
            <a:extLst>
              <a:ext uri="{FF2B5EF4-FFF2-40B4-BE49-F238E27FC236}">
                <a16:creationId xmlns:a16="http://schemas.microsoft.com/office/drawing/2014/main" id="{01B911B9-81D5-D598-666E-49824AE33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649" y="1413429"/>
            <a:ext cx="2189211" cy="193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20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7">
          <a:extLst>
            <a:ext uri="{FF2B5EF4-FFF2-40B4-BE49-F238E27FC236}">
              <a16:creationId xmlns:a16="http://schemas.microsoft.com/office/drawing/2014/main" id="{DB96A3A9-8E93-FB87-5C45-52E13BF7E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30">
            <a:extLst>
              <a:ext uri="{FF2B5EF4-FFF2-40B4-BE49-F238E27FC236}">
                <a16:creationId xmlns:a16="http://schemas.microsoft.com/office/drawing/2014/main" id="{038776B6-ABAF-3F52-1335-9BB567645B79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598916" y="1914491"/>
            <a:ext cx="4585829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b="1" dirty="0" err="1">
                <a:latin typeface="Candara" panose="020E0502030303020204" pitchFamily="34" charset="0"/>
              </a:rPr>
              <a:t>RandomSearch</a:t>
            </a:r>
            <a:r>
              <a:rPr lang="ru-RU" dirty="0">
                <a:latin typeface="Candara" panose="020E0502030303020204" pitchFamily="34" charset="0"/>
              </a:rPr>
              <a:t> – лучшая точность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09" name="Google Shape;709;p30">
            <a:extLst>
              <a:ext uri="{FF2B5EF4-FFF2-40B4-BE49-F238E27FC236}">
                <a16:creationId xmlns:a16="http://schemas.microsoft.com/office/drawing/2014/main" id="{6F5278CC-76AF-FA09-E5A4-CA55909480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3610" y="39301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dirty="0">
                <a:latin typeface="Candara" panose="020E0502030303020204" pitchFamily="34" charset="0"/>
              </a:rPr>
              <a:t>Выводы</a:t>
            </a:r>
            <a:endParaRPr sz="3200" dirty="0">
              <a:latin typeface="Candara" panose="020E0502030303020204" pitchFamily="34" charset="0"/>
            </a:endParaRPr>
          </a:p>
        </p:txBody>
      </p:sp>
      <p:sp>
        <p:nvSpPr>
          <p:cNvPr id="710" name="Google Shape;710;p30">
            <a:extLst>
              <a:ext uri="{FF2B5EF4-FFF2-40B4-BE49-F238E27FC236}">
                <a16:creationId xmlns:a16="http://schemas.microsoft.com/office/drawing/2014/main" id="{3A0EC2E1-60D1-7F9F-88AE-14CB2EAF1B7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83610" y="1220379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01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1" name="Google Shape;711;p30">
            <a:extLst>
              <a:ext uri="{FF2B5EF4-FFF2-40B4-BE49-F238E27FC236}">
                <a16:creationId xmlns:a16="http://schemas.microsoft.com/office/drawing/2014/main" id="{3252F77C-8FB6-8C48-BEC6-88DE6FC161B4}"/>
              </a:ext>
            </a:extLst>
          </p:cNvPr>
          <p:cNvSpPr txBox="1">
            <a:spLocks noGrp="1"/>
          </p:cNvSpPr>
          <p:nvPr>
            <p:ph type="title" idx="3"/>
          </p:nvPr>
        </p:nvSpPr>
        <p:spPr>
          <a:xfrm>
            <a:off x="783610" y="3302797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04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2" name="Google Shape;712;p30">
            <a:extLst>
              <a:ext uri="{FF2B5EF4-FFF2-40B4-BE49-F238E27FC236}">
                <a16:creationId xmlns:a16="http://schemas.microsoft.com/office/drawing/2014/main" id="{7FE377DA-33BA-603A-F67C-345B7FF51B49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786630" y="1902672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02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4" name="Google Shape;714;p30">
            <a:extLst>
              <a:ext uri="{FF2B5EF4-FFF2-40B4-BE49-F238E27FC236}">
                <a16:creationId xmlns:a16="http://schemas.microsoft.com/office/drawing/2014/main" id="{469879B4-3CB3-F964-7D53-9F9FF2C51F69}"/>
              </a:ext>
            </a:extLst>
          </p:cNvPr>
          <p:cNvSpPr txBox="1">
            <a:spLocks noGrp="1"/>
          </p:cNvSpPr>
          <p:nvPr>
            <p:ph type="title" idx="6"/>
          </p:nvPr>
        </p:nvSpPr>
        <p:spPr>
          <a:xfrm>
            <a:off x="783610" y="2583165"/>
            <a:ext cx="734700" cy="49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Candara" panose="020E0502030303020204" pitchFamily="34" charset="0"/>
              </a:rPr>
              <a:t>03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6" name="Google Shape;716;p30">
            <a:extLst>
              <a:ext uri="{FF2B5EF4-FFF2-40B4-BE49-F238E27FC236}">
                <a16:creationId xmlns:a16="http://schemas.microsoft.com/office/drawing/2014/main" id="{3E4022D3-EA9E-1289-7FA2-DC6F14C080C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95896" y="1220379"/>
            <a:ext cx="4413018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b="1" dirty="0" err="1">
                <a:latin typeface="Candara" panose="020E0502030303020204" pitchFamily="34" charset="0"/>
              </a:rPr>
              <a:t>GridSearch</a:t>
            </a:r>
            <a:r>
              <a:rPr lang="ru-RU" dirty="0">
                <a:latin typeface="Candara" panose="020E0502030303020204" pitchFamily="34" charset="0"/>
              </a:rPr>
              <a:t> – наиболее стабильный и интерпретируемый результат</a:t>
            </a:r>
            <a:endParaRPr dirty="0">
              <a:latin typeface="Candara" panose="020E0502030303020204" pitchFamily="34" charset="0"/>
            </a:endParaRPr>
          </a:p>
        </p:txBody>
      </p:sp>
      <p:sp>
        <p:nvSpPr>
          <p:cNvPr id="717" name="Google Shape;717;p30">
            <a:extLst>
              <a:ext uri="{FF2B5EF4-FFF2-40B4-BE49-F238E27FC236}">
                <a16:creationId xmlns:a16="http://schemas.microsoft.com/office/drawing/2014/main" id="{E329488F-B6A4-B3C2-B83C-F25F9E4C4F5A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595895" y="2584965"/>
            <a:ext cx="5057263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ru-RU" b="1" dirty="0" err="1">
                <a:latin typeface="Candara" panose="020E0502030303020204" pitchFamily="34" charset="0"/>
              </a:rPr>
              <a:t>Optuna</a:t>
            </a:r>
            <a:r>
              <a:rPr lang="ru-RU" dirty="0">
                <a:latin typeface="Candara" panose="020E0502030303020204" pitchFamily="34" charset="0"/>
              </a:rPr>
              <a:t> – лучший баланс точности и времени</a:t>
            </a:r>
            <a:endParaRPr dirty="0">
              <a:latin typeface="Candara" panose="020E0502030303020204" pitchFamily="34" charset="0"/>
            </a:endParaRPr>
          </a:p>
        </p:txBody>
      </p:sp>
      <p:grpSp>
        <p:nvGrpSpPr>
          <p:cNvPr id="721" name="Google Shape;721;p30">
            <a:extLst>
              <a:ext uri="{FF2B5EF4-FFF2-40B4-BE49-F238E27FC236}">
                <a16:creationId xmlns:a16="http://schemas.microsoft.com/office/drawing/2014/main" id="{AADF9DD5-241A-67B3-197C-585BFFA63035}"/>
              </a:ext>
            </a:extLst>
          </p:cNvPr>
          <p:cNvGrpSpPr/>
          <p:nvPr/>
        </p:nvGrpSpPr>
        <p:grpSpPr>
          <a:xfrm>
            <a:off x="7000692" y="679363"/>
            <a:ext cx="1193310" cy="3463350"/>
            <a:chOff x="472500" y="1762000"/>
            <a:chExt cx="1193310" cy="3463350"/>
          </a:xfrm>
        </p:grpSpPr>
        <p:grpSp>
          <p:nvGrpSpPr>
            <p:cNvPr id="722" name="Google Shape;722;p30">
              <a:extLst>
                <a:ext uri="{FF2B5EF4-FFF2-40B4-BE49-F238E27FC236}">
                  <a16:creationId xmlns:a16="http://schemas.microsoft.com/office/drawing/2014/main" id="{32535EAD-08FC-F2B8-F95B-EDB778AA90BA}"/>
                </a:ext>
              </a:extLst>
            </p:cNvPr>
            <p:cNvGrpSpPr/>
            <p:nvPr/>
          </p:nvGrpSpPr>
          <p:grpSpPr>
            <a:xfrm rot="10800000">
              <a:off x="1172489" y="4265721"/>
              <a:ext cx="493321" cy="357312"/>
              <a:chOff x="1722354" y="229144"/>
              <a:chExt cx="1748744" cy="1266614"/>
            </a:xfrm>
          </p:grpSpPr>
          <p:sp>
            <p:nvSpPr>
              <p:cNvPr id="723" name="Google Shape;723;p30">
                <a:extLst>
                  <a:ext uri="{FF2B5EF4-FFF2-40B4-BE49-F238E27FC236}">
                    <a16:creationId xmlns:a16="http://schemas.microsoft.com/office/drawing/2014/main" id="{4DC2881B-E8F0-8D7E-83AC-6579ECE5FD38}"/>
                  </a:ext>
                </a:extLst>
              </p:cNvPr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ndara" panose="020E0502030303020204" pitchFamily="34" charset="0"/>
                </a:endParaRPr>
              </a:p>
            </p:txBody>
          </p:sp>
          <p:sp>
            <p:nvSpPr>
              <p:cNvPr id="724" name="Google Shape;724;p30">
                <a:extLst>
                  <a:ext uri="{FF2B5EF4-FFF2-40B4-BE49-F238E27FC236}">
                    <a16:creationId xmlns:a16="http://schemas.microsoft.com/office/drawing/2014/main" id="{C74C931B-75B9-1597-DB4F-BAEFE3608B89}"/>
                  </a:ext>
                </a:extLst>
              </p:cNvPr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andara" panose="020E0502030303020204" pitchFamily="34" charset="0"/>
                </a:endParaRPr>
              </a:p>
            </p:txBody>
          </p:sp>
        </p:grpSp>
        <p:sp>
          <p:nvSpPr>
            <p:cNvPr id="725" name="Google Shape;725;p30">
              <a:extLst>
                <a:ext uri="{FF2B5EF4-FFF2-40B4-BE49-F238E27FC236}">
                  <a16:creationId xmlns:a16="http://schemas.microsoft.com/office/drawing/2014/main" id="{7D7F790A-1659-4EE9-5438-AC2E5F0C9F0A}"/>
                </a:ext>
              </a:extLst>
            </p:cNvPr>
            <p:cNvSpPr/>
            <p:nvPr/>
          </p:nvSpPr>
          <p:spPr>
            <a:xfrm>
              <a:off x="472500" y="1762000"/>
              <a:ext cx="700000" cy="3463350"/>
            </a:xfrm>
            <a:custGeom>
              <a:avLst/>
              <a:gdLst/>
              <a:ahLst/>
              <a:cxnLst/>
              <a:rect l="l" t="t" r="r" b="b"/>
              <a:pathLst>
                <a:path w="28000" h="138534" extrusionOk="0">
                  <a:moveTo>
                    <a:pt x="0" y="0"/>
                  </a:moveTo>
                  <a:lnTo>
                    <a:pt x="0" y="65749"/>
                  </a:lnTo>
                  <a:lnTo>
                    <a:pt x="28000" y="81915"/>
                  </a:lnTo>
                  <a:lnTo>
                    <a:pt x="28000" y="109663"/>
                  </a:lnTo>
                  <a:lnTo>
                    <a:pt x="17964" y="115457"/>
                  </a:lnTo>
                  <a:lnTo>
                    <a:pt x="17964" y="138534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>
                <a:latin typeface="Candara" panose="020E0502030303020204" pitchFamily="34" charset="0"/>
              </a:endParaRPr>
            </a:p>
          </p:txBody>
        </p:sp>
      </p:grpSp>
      <p:sp>
        <p:nvSpPr>
          <p:cNvPr id="12" name="Google Shape;717;p30">
            <a:extLst>
              <a:ext uri="{FF2B5EF4-FFF2-40B4-BE49-F238E27FC236}">
                <a16:creationId xmlns:a16="http://schemas.microsoft.com/office/drawing/2014/main" id="{525D39DA-C214-BDDB-BB82-B52467AF2C26}"/>
              </a:ext>
            </a:extLst>
          </p:cNvPr>
          <p:cNvSpPr txBox="1">
            <a:spLocks/>
          </p:cNvSpPr>
          <p:nvPr/>
        </p:nvSpPr>
        <p:spPr>
          <a:xfrm>
            <a:off x="1595896" y="3268249"/>
            <a:ext cx="4023774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r>
              <a:rPr lang="ru-RU" b="1" dirty="0">
                <a:latin typeface="Candara" panose="020E0502030303020204" pitchFamily="34" charset="0"/>
              </a:rPr>
              <a:t>TPOT</a:t>
            </a:r>
            <a:r>
              <a:rPr lang="ru-RU" dirty="0">
                <a:latin typeface="Candara" panose="020E0502030303020204" pitchFamily="34" charset="0"/>
              </a:rPr>
              <a:t> – в данной задаче показал худшие результаты</a:t>
            </a:r>
            <a:endParaRPr lang="en-US" dirty="0">
              <a:latin typeface="Candara" panose="020E0502030303020204" pitchFamily="34" charset="0"/>
            </a:endParaRPr>
          </a:p>
        </p:txBody>
      </p:sp>
      <p:sp>
        <p:nvSpPr>
          <p:cNvPr id="2" name="Google Shape;711;p30">
            <a:extLst>
              <a:ext uri="{FF2B5EF4-FFF2-40B4-BE49-F238E27FC236}">
                <a16:creationId xmlns:a16="http://schemas.microsoft.com/office/drawing/2014/main" id="{E314F19D-3D8E-4739-6100-BC0DBD24649C}"/>
              </a:ext>
            </a:extLst>
          </p:cNvPr>
          <p:cNvSpPr txBox="1">
            <a:spLocks/>
          </p:cNvSpPr>
          <p:nvPr/>
        </p:nvSpPr>
        <p:spPr>
          <a:xfrm>
            <a:off x="783610" y="40188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2000" b="0" i="0" u="none" strike="noStrike" cap="none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ExtraBold"/>
              <a:buNone/>
              <a:defRPr sz="3000" b="0" i="0" u="none" strike="noStrike" cap="none">
                <a:solidFill>
                  <a:schemeClr val="dk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rPr lang="ru-RU" dirty="0">
                <a:latin typeface="Candara" panose="020E0502030303020204" pitchFamily="34" charset="0"/>
              </a:rPr>
              <a:t>05</a:t>
            </a:r>
            <a:endParaRPr lang="en" dirty="0">
              <a:latin typeface="Candara" panose="020E0502030303020204" pitchFamily="34" charset="0"/>
            </a:endParaRPr>
          </a:p>
        </p:txBody>
      </p:sp>
      <p:sp>
        <p:nvSpPr>
          <p:cNvPr id="3" name="Google Shape;717;p30">
            <a:extLst>
              <a:ext uri="{FF2B5EF4-FFF2-40B4-BE49-F238E27FC236}">
                <a16:creationId xmlns:a16="http://schemas.microsoft.com/office/drawing/2014/main" id="{878E1AEC-7B01-E8A2-5801-8695DA78516F}"/>
              </a:ext>
            </a:extLst>
          </p:cNvPr>
          <p:cNvSpPr txBox="1">
            <a:spLocks/>
          </p:cNvSpPr>
          <p:nvPr/>
        </p:nvSpPr>
        <p:spPr>
          <a:xfrm>
            <a:off x="1595896" y="3984281"/>
            <a:ext cx="4023774" cy="4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16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aleway Black"/>
              <a:buNone/>
              <a:defRPr sz="2400" b="0" i="0" u="none" strike="noStrike" cap="none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pPr marL="0" indent="0"/>
            <a:r>
              <a:rPr lang="ru-RU" b="1" dirty="0">
                <a:latin typeface="Candara" panose="020E0502030303020204" pitchFamily="34" charset="0"/>
              </a:rPr>
              <a:t>Интерпретация</a:t>
            </a:r>
            <a:r>
              <a:rPr lang="ru-RU" dirty="0">
                <a:latin typeface="Candara" panose="020E0502030303020204" pitchFamily="34" charset="0"/>
              </a:rPr>
              <a:t> критически важна для медицинских приложений</a:t>
            </a:r>
            <a:endParaRPr lang="en-US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1115339"/>
      </p:ext>
    </p:extLst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681</Words>
  <Application>Microsoft Office PowerPoint</Application>
  <PresentationFormat>Экран (16:9)</PresentationFormat>
  <Paragraphs>171</Paragraphs>
  <Slides>13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1" baseType="lpstr">
      <vt:lpstr>Raleway Black</vt:lpstr>
      <vt:lpstr>Candara</vt:lpstr>
      <vt:lpstr>Raleway</vt:lpstr>
      <vt:lpstr>Hanken Grotesk</vt:lpstr>
      <vt:lpstr>Arial</vt:lpstr>
      <vt:lpstr>Raleway ExtraBold</vt:lpstr>
      <vt:lpstr>Anaheim</vt:lpstr>
      <vt:lpstr>Technology Market Research Pitch Deck by Slidesgo</vt:lpstr>
      <vt:lpstr> Подбор гиперпараметров модели</vt:lpstr>
      <vt:lpstr>Постановка задачи</vt:lpstr>
      <vt:lpstr>ПОДГОТОВКА ДАННЫХ</vt:lpstr>
      <vt:lpstr>Grid Search</vt:lpstr>
      <vt:lpstr>Random Search</vt:lpstr>
      <vt:lpstr>Байесовская оптимизация (Optuna)</vt:lpstr>
      <vt:lpstr>Genetic Programming (TPOT)</vt:lpstr>
      <vt:lpstr>SHAP (SHapley Additive exPlanations)</vt:lpstr>
      <vt:lpstr>Презентация PowerPoint</vt:lpstr>
      <vt:lpstr>Анализ TPOT</vt:lpstr>
      <vt:lpstr>Интерпретация моделей (LIME)</vt:lpstr>
      <vt:lpstr>Практическое применение SHAP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Чернышкова Злата</dc:creator>
  <cp:lastModifiedBy>Чернышкова Злата</cp:lastModifiedBy>
  <cp:revision>3</cp:revision>
  <dcterms:modified xsi:type="dcterms:W3CDTF">2025-11-20T17:42:17Z</dcterms:modified>
</cp:coreProperties>
</file>