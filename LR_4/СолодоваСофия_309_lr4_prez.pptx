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8" r:id="rId3"/>
    <p:sldId id="263" r:id="rId4"/>
    <p:sldId id="298" r:id="rId5"/>
    <p:sldId id="303" r:id="rId6"/>
    <p:sldId id="304" r:id="rId7"/>
    <p:sldId id="310" r:id="rId8"/>
    <p:sldId id="305" r:id="rId9"/>
    <p:sldId id="306" r:id="rId10"/>
    <p:sldId id="311" r:id="rId11"/>
    <p:sldId id="302" r:id="rId12"/>
    <p:sldId id="308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  <p:bold r:id="rId16"/>
    </p:embeddedFont>
    <p:embeddedFont>
      <p:font typeface="Candara" panose="020E0502030303020204" pitchFamily="34" charset="0"/>
      <p:regular r:id="rId17"/>
      <p:bold r:id="rId18"/>
      <p:italic r:id="rId19"/>
      <p:boldItalic r:id="rId20"/>
    </p:embeddedFont>
    <p:embeddedFont>
      <p:font typeface="Hanken Grotesk" panose="020B0604020202020204" charset="0"/>
      <p:regular r:id="rId21"/>
      <p:bold r:id="rId22"/>
      <p:italic r:id="rId23"/>
      <p:boldItalic r:id="rId24"/>
    </p:embeddedFont>
    <p:embeddedFont>
      <p:font typeface="Raleway Black" pitchFamily="2" charset="0"/>
      <p:bold r:id="rId25"/>
      <p:boldItalic r:id="rId26"/>
    </p:embeddedFont>
    <p:embeddedFont>
      <p:font typeface="Raleway ExtraBold" pitchFamily="2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0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BF0D89-2B1F-486D-BED8-18C7567FF3F2}">
  <a:tblStyle styleId="{FABF0D89-2B1F-486D-BED8-18C7567FF3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06BA4E-587D-4A86-B820-0AFEB9F964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 autoAdjust="0"/>
    <p:restoredTop sz="94660"/>
  </p:normalViewPr>
  <p:slideViewPr>
    <p:cSldViewPr snapToGrid="0">
      <p:cViewPr>
        <p:scale>
          <a:sx n="100" d="100"/>
          <a:sy n="100" d="100"/>
        </p:scale>
        <p:origin x="708" y="2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817C174D-26DB-5760-2D97-BAAB1BF9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>
            <a:extLst>
              <a:ext uri="{FF2B5EF4-FFF2-40B4-BE49-F238E27FC236}">
                <a16:creationId xmlns:a16="http://schemas.microsoft.com/office/drawing/2014/main" id="{CBB2F2E1-D637-B13E-4E38-2DA64BC2E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>
            <a:extLst>
              <a:ext uri="{FF2B5EF4-FFF2-40B4-BE49-F238E27FC236}">
                <a16:creationId xmlns:a16="http://schemas.microsoft.com/office/drawing/2014/main" id="{CC197A89-0C0B-D094-0F63-A7A3C6FD3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5493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D291799C-7905-13FE-F710-1F14E5CC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>
            <a:extLst>
              <a:ext uri="{FF2B5EF4-FFF2-40B4-BE49-F238E27FC236}">
                <a16:creationId xmlns:a16="http://schemas.microsoft.com/office/drawing/2014/main" id="{F94C5DA5-F5AE-BEFC-7057-FF44FD410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>
            <a:extLst>
              <a:ext uri="{FF2B5EF4-FFF2-40B4-BE49-F238E27FC236}">
                <a16:creationId xmlns:a16="http://schemas.microsoft.com/office/drawing/2014/main" id="{BC9213A9-FB0E-81B8-7258-FD1881F4E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3628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59" r:id="rId6"/>
    <p:sldLayoutId id="2147483662" r:id="rId7"/>
    <p:sldLayoutId id="2147483663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760036" cy="728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latin typeface="Candara" panose="020E0502030303020204" pitchFamily="34" charset="0"/>
              </a:rPr>
              <a:t>Байесовские сети</a:t>
            </a:r>
            <a:endParaRPr sz="4000" b="1" dirty="0">
              <a:latin typeface="Candara" panose="020E0502030303020204" pitchFamily="34" charset="0"/>
            </a:endParaRPr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Candara" panose="020E0502030303020204" pitchFamily="34" charset="0"/>
              </a:rPr>
              <a:t>Солодова София Михайловна </a:t>
            </a:r>
            <a:r>
              <a:rPr lang="ru-RU" altLang="zh-CN" dirty="0">
                <a:latin typeface="Candara" panose="020E0502030303020204" pitchFamily="34" charset="0"/>
              </a:rPr>
              <a:t>М8О-309Б-23</a:t>
            </a:r>
          </a:p>
          <a:p>
            <a:pPr marL="0" lvl="0" indent="0"/>
            <a:r>
              <a:rPr lang="en-US" dirty="0">
                <a:latin typeface="Candara" panose="020E0502030303020204" pitchFamily="34" charset="0"/>
              </a:rPr>
              <a:t>Mushroom Classification Dataset</a:t>
            </a:r>
            <a:endParaRPr lang="ru-RU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58027" y="2184862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1797496" y="1751503"/>
            <a:ext cx="3675343" cy="11783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altLang="zh-CN" sz="2400" dirty="0">
                <a:latin typeface="Candara" panose="020E0502030303020204" pitchFamily="34" charset="0"/>
              </a:rPr>
              <a:t>Загрузка датасета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sz="2400" dirty="0">
                <a:latin typeface="Candara" panose="020E0502030303020204" pitchFamily="34" charset="0"/>
              </a:rPr>
              <a:t>Обработка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sz="2400" dirty="0">
                <a:latin typeface="Candara" panose="020E0502030303020204" pitchFamily="34" charset="0"/>
              </a:rPr>
              <a:t>Label </a:t>
            </a:r>
            <a:r>
              <a:rPr lang="ru-RU" altLang="zh-CN" sz="2400" dirty="0" err="1">
                <a:latin typeface="Candara" panose="020E0502030303020204" pitchFamily="34" charset="0"/>
              </a:rPr>
              <a:t>Encoding</a:t>
            </a:r>
            <a:endParaRPr lang="ru-RU" altLang="zh-CN" sz="2400" dirty="0">
              <a:latin typeface="Candara" panose="020E0502030303020204" pitchFamily="34" charset="0"/>
            </a:endParaRPr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83610" y="393013"/>
            <a:ext cx="44233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Candara" panose="020E0502030303020204" pitchFamily="34" charset="0"/>
              </a:rPr>
              <a:t>СОДЕРЖАНИЕ РАБОТЫ</a:t>
            </a:r>
            <a:endParaRPr sz="3200" b="1" dirty="0">
              <a:latin typeface="Candara" panose="020E0502030303020204" pitchFamily="34" charset="0"/>
            </a:endParaRPr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999346" y="117225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ndara" panose="020E0502030303020204" pitchFamily="34" charset="0"/>
              </a:rPr>
              <a:t>01</a:t>
            </a:r>
            <a:endParaRPr>
              <a:latin typeface="Candara" panose="020E0502030303020204" pitchFamily="34" charset="0"/>
            </a:endParaRPr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2656424" y="3253803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</a:t>
            </a:r>
            <a:r>
              <a:rPr lang="ru-RU" dirty="0">
                <a:latin typeface="Candara" panose="020E0502030303020204" pitchFamily="34" charset="0"/>
              </a:rPr>
              <a:t>2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1797497" y="1183804"/>
            <a:ext cx="3187254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Candara" panose="020E0502030303020204" pitchFamily="34" charset="0"/>
              </a:rPr>
              <a:t>Подготовка</a:t>
            </a:r>
            <a:endParaRPr sz="3200" dirty="0">
              <a:latin typeface="Candara" panose="020E0502030303020204" pitchFamily="34" charset="0"/>
            </a:endParaRPr>
          </a:p>
        </p:txBody>
      </p:sp>
      <p:grpSp>
        <p:nvGrpSpPr>
          <p:cNvPr id="721" name="Google Shape;721;p30"/>
          <p:cNvGrpSpPr/>
          <p:nvPr/>
        </p:nvGrpSpPr>
        <p:grpSpPr>
          <a:xfrm>
            <a:off x="844208" y="1769028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Google Shape;720;p30">
            <a:extLst>
              <a:ext uri="{FF2B5EF4-FFF2-40B4-BE49-F238E27FC236}">
                <a16:creationId xmlns:a16="http://schemas.microsoft.com/office/drawing/2014/main" id="{AAFDDF3F-4B5C-1969-8AC6-FC7AE053D41F}"/>
              </a:ext>
            </a:extLst>
          </p:cNvPr>
          <p:cNvSpPr txBox="1">
            <a:spLocks/>
          </p:cNvSpPr>
          <p:nvPr/>
        </p:nvSpPr>
        <p:spPr>
          <a:xfrm>
            <a:off x="3247114" y="3836628"/>
            <a:ext cx="3919771" cy="107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altLang="zh-CN" sz="2400" dirty="0">
                <a:latin typeface="Candara" panose="020E0502030303020204" pitchFamily="34" charset="0"/>
              </a:rPr>
              <a:t>Построение сети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sz="2400" dirty="0">
                <a:latin typeface="Candara" panose="020E0502030303020204" pitchFamily="34" charset="0"/>
              </a:rPr>
              <a:t>Оценка параметров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sz="2400" dirty="0">
                <a:latin typeface="Candara" panose="020E0502030303020204" pitchFamily="34" charset="0"/>
              </a:rPr>
              <a:t>Анализ CPT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EF32B4-C6D6-7136-3A33-46B9F6E8846C}"/>
              </a:ext>
            </a:extLst>
          </p:cNvPr>
          <p:cNvSpPr txBox="1"/>
          <p:nvPr/>
        </p:nvSpPr>
        <p:spPr>
          <a:xfrm>
            <a:off x="3555326" y="3200424"/>
            <a:ext cx="54208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altLang="zh-CN" sz="3200" dirty="0">
                <a:solidFill>
                  <a:schemeClr val="tx1"/>
                </a:solidFill>
                <a:latin typeface="Candara" panose="020E0502030303020204" pitchFamily="34" charset="0"/>
              </a:rPr>
              <a:t>Модель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 txBox="1">
            <a:spLocks noGrp="1"/>
          </p:cNvSpPr>
          <p:nvPr>
            <p:ph type="subTitle" idx="6"/>
          </p:nvPr>
        </p:nvSpPr>
        <p:spPr>
          <a:xfrm>
            <a:off x="1901429" y="3044098"/>
            <a:ext cx="3701605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ndara" panose="020E0502030303020204" pitchFamily="34" charset="0"/>
              </a:rPr>
              <a:t>ПРЕИМУЩЕСТВА</a:t>
            </a:r>
            <a:endParaRPr sz="2000" dirty="0">
              <a:latin typeface="Candara" panose="020E0502030303020204" pitchFamily="34" charset="0"/>
            </a:endParaRPr>
          </a:p>
        </p:txBody>
      </p:sp>
      <p:sp>
        <p:nvSpPr>
          <p:cNvPr id="795" name="Google Shape;795;p35"/>
          <p:cNvSpPr txBox="1">
            <a:spLocks noGrp="1"/>
          </p:cNvSpPr>
          <p:nvPr>
            <p:ph type="title"/>
          </p:nvPr>
        </p:nvSpPr>
        <p:spPr>
          <a:xfrm>
            <a:off x="720000" y="3755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b="1" dirty="0">
                <a:latin typeface="Candara" panose="020E0502030303020204" pitchFamily="34" charset="0"/>
              </a:rPr>
              <a:t>Что такое </a:t>
            </a:r>
            <a:r>
              <a:rPr lang="en-US" sz="3600" b="1" dirty="0">
                <a:latin typeface="Candara" panose="020E0502030303020204" pitchFamily="34" charset="0"/>
              </a:rPr>
              <a:t>Bayesian Networks</a:t>
            </a:r>
            <a:r>
              <a:rPr lang="ru-RU" sz="3600" b="1" dirty="0">
                <a:latin typeface="Candara" panose="020E0502030303020204" pitchFamily="34" charset="0"/>
              </a:rPr>
              <a:t>?</a:t>
            </a:r>
            <a:endParaRPr sz="3600" b="1" dirty="0">
              <a:latin typeface="Candara" panose="020E0502030303020204" pitchFamily="34" charset="0"/>
            </a:endParaRPr>
          </a:p>
        </p:txBody>
      </p:sp>
      <p:sp>
        <p:nvSpPr>
          <p:cNvPr id="796" name="Google Shape;796;p35"/>
          <p:cNvSpPr txBox="1">
            <a:spLocks noGrp="1"/>
          </p:cNvSpPr>
          <p:nvPr>
            <p:ph type="subTitle" idx="1"/>
          </p:nvPr>
        </p:nvSpPr>
        <p:spPr>
          <a:xfrm>
            <a:off x="468504" y="1517013"/>
            <a:ext cx="4103495" cy="1414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altLang="zh-CN" dirty="0">
                <a:latin typeface="Candara" panose="020E0502030303020204" pitchFamily="34" charset="0"/>
              </a:rPr>
              <a:t>Ориентированный ациклический граф (DAG), в котором каждый узел представляет случайную величину, а рёбра кодируют условные зависимости между ними. Сеть совмещает теорию графов и теорию вероятностей для компактного представления совместного распределения вероятностей множества переменных.</a:t>
            </a:r>
            <a:endParaRPr sz="1600" dirty="0">
              <a:latin typeface="Candara" panose="020E0502030303020204" pitchFamily="34" charset="0"/>
            </a:endParaRPr>
          </a:p>
        </p:txBody>
      </p:sp>
      <p:sp>
        <p:nvSpPr>
          <p:cNvPr id="797" name="Google Shape;797;p35"/>
          <p:cNvSpPr txBox="1">
            <a:spLocks noGrp="1"/>
          </p:cNvSpPr>
          <p:nvPr>
            <p:ph type="subTitle" idx="2"/>
          </p:nvPr>
        </p:nvSpPr>
        <p:spPr>
          <a:xfrm>
            <a:off x="4508391" y="1503808"/>
            <a:ext cx="3915609" cy="16491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Узлы</a:t>
            </a:r>
            <a:r>
              <a:rPr lang="en-US" altLang="zh-CN" sz="1400" b="1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(Nodes)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случайные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переменные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признаки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грибов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altLang="zh-CN" sz="1400" dirty="0">
              <a:latin typeface="Candara" panose="020E0502030303020204" pitchFamily="34" charset="0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Рёбра</a:t>
            </a:r>
            <a:r>
              <a:rPr lang="en-US" altLang="zh-CN" sz="1400" b="1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(Edges)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причинные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вероятностные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влияния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между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переменными</a:t>
            </a:r>
            <a:endParaRPr lang="en-US" altLang="zh-CN" sz="1400" dirty="0">
              <a:latin typeface="Candara" panose="020E0502030303020204" pitchFamily="34" charset="0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CPT (Conditional Probability Tables)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таблицы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условных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вероятностей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каждого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узла</a:t>
            </a:r>
            <a:endParaRPr lang="en-US" altLang="zh-CN" sz="1400" dirty="0">
              <a:latin typeface="Candara" panose="020E0502030303020204" pitchFamily="34" charset="0"/>
            </a:endParaRPr>
          </a:p>
        </p:txBody>
      </p:sp>
      <p:sp>
        <p:nvSpPr>
          <p:cNvPr id="798" name="Google Shape;798;p35"/>
          <p:cNvSpPr txBox="1">
            <a:spLocks noGrp="1"/>
          </p:cNvSpPr>
          <p:nvPr>
            <p:ph type="subTitle" idx="3"/>
          </p:nvPr>
        </p:nvSpPr>
        <p:spPr>
          <a:xfrm>
            <a:off x="1499171" y="3600463"/>
            <a:ext cx="6669257" cy="12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SzPct val="100000"/>
              <a:buChar char="•"/>
            </a:pP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Компактное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представление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больших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распределений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вероятностей</a:t>
            </a:r>
            <a:endParaRPr lang="en-US" altLang="zh-CN" sz="1400" dirty="0">
              <a:latin typeface="Candara" panose="020E0502030303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Логический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вывод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(Inference) —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вычисление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вероятностей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частично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известных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данных</a:t>
            </a:r>
            <a:endParaRPr lang="en-US" altLang="zh-CN" sz="1400" dirty="0">
              <a:latin typeface="Candara" panose="020E0502030303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Высокая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интерпретируемость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видны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причинные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связи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между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признаками</a:t>
            </a:r>
            <a:endParaRPr lang="en-US" altLang="zh-CN" sz="1400" dirty="0">
              <a:latin typeface="Candara" panose="020E0502030303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Обучение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структуры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автоматическое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открытие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зависимостей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из</a:t>
            </a:r>
            <a:r>
              <a:rPr lang="en-US" altLang="zh-CN" sz="1400" dirty="0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 err="1">
                <a:solidFill>
                  <a:srgbClr val="CBD5E1"/>
                </a:solidFill>
                <a:latin typeface="Candara" panose="020E0502030303020204" pitchFamily="34" charset="0"/>
                <a:ea typeface="Arial" pitchFamily="34" charset="-122"/>
                <a:cs typeface="Arial" pitchFamily="34" charset="-120"/>
              </a:rPr>
              <a:t>данных</a:t>
            </a:r>
            <a:endParaRPr lang="en-US" altLang="zh-CN" sz="1400" dirty="0">
              <a:latin typeface="Candara" panose="020E0502030303020204" pitchFamily="34" charset="0"/>
            </a:endParaRPr>
          </a:p>
        </p:txBody>
      </p:sp>
      <p:sp>
        <p:nvSpPr>
          <p:cNvPr id="800" name="Google Shape;800;p35"/>
          <p:cNvSpPr txBox="1">
            <a:spLocks noGrp="1"/>
          </p:cNvSpPr>
          <p:nvPr>
            <p:ph type="subTitle" idx="5"/>
          </p:nvPr>
        </p:nvSpPr>
        <p:spPr>
          <a:xfrm>
            <a:off x="903367" y="1038846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ndara" panose="020E0502030303020204" pitchFamily="34" charset="0"/>
              </a:rPr>
              <a:t>ОПРЕДЕЛЕНИЕ</a:t>
            </a:r>
            <a:endParaRPr sz="2000" dirty="0">
              <a:latin typeface="Candara" panose="020E0502030303020204" pitchFamily="34" charset="0"/>
            </a:endParaRPr>
          </a:p>
        </p:txBody>
      </p:sp>
      <p:sp>
        <p:nvSpPr>
          <p:cNvPr id="801" name="Google Shape;801;p35"/>
          <p:cNvSpPr txBox="1">
            <a:spLocks noGrp="1"/>
          </p:cNvSpPr>
          <p:nvPr>
            <p:ph type="subTitle" idx="7"/>
          </p:nvPr>
        </p:nvSpPr>
        <p:spPr>
          <a:xfrm>
            <a:off x="5023175" y="1025779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ndara" panose="020E0502030303020204" pitchFamily="34" charset="0"/>
              </a:rPr>
              <a:t>КОМПОНЕНТЫ</a:t>
            </a:r>
            <a:endParaRPr sz="2000" dirty="0">
              <a:latin typeface="Candara" panose="020E0502030303020204" pitchFamily="34" charset="0"/>
            </a:endParaRPr>
          </a:p>
        </p:txBody>
      </p:sp>
      <p:grpSp>
        <p:nvGrpSpPr>
          <p:cNvPr id="803" name="Google Shape;803;p35"/>
          <p:cNvGrpSpPr/>
          <p:nvPr/>
        </p:nvGrpSpPr>
        <p:grpSpPr>
          <a:xfrm>
            <a:off x="4572000" y="1111510"/>
            <a:ext cx="345125" cy="345150"/>
            <a:chOff x="997838" y="3797375"/>
            <a:chExt cx="345125" cy="345150"/>
          </a:xfrm>
        </p:grpSpPr>
        <p:sp>
          <p:nvSpPr>
            <p:cNvPr id="804" name="Google Shape;804;p35"/>
            <p:cNvSpPr/>
            <p:nvPr/>
          </p:nvSpPr>
          <p:spPr>
            <a:xfrm>
              <a:off x="997838" y="3797375"/>
              <a:ext cx="345125" cy="345150"/>
            </a:xfrm>
            <a:custGeom>
              <a:avLst/>
              <a:gdLst/>
              <a:ahLst/>
              <a:cxnLst/>
              <a:rect l="l" t="t" r="r" b="b"/>
              <a:pathLst>
                <a:path w="13805" h="13806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1259638" y="381072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1259638" y="3908500"/>
              <a:ext cx="40700" cy="30325"/>
            </a:xfrm>
            <a:custGeom>
              <a:avLst/>
              <a:gdLst/>
              <a:ahLst/>
              <a:cxnLst/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1039913" y="38107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1039913" y="3908500"/>
              <a:ext cx="40625" cy="30325"/>
            </a:xfrm>
            <a:custGeom>
              <a:avLst/>
              <a:gdLst/>
              <a:ahLst/>
              <a:cxnLst/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1499171" y="3069195"/>
            <a:ext cx="402258" cy="430900"/>
            <a:chOff x="1017663" y="3243950"/>
            <a:chExt cx="305475" cy="345175"/>
          </a:xfrm>
        </p:grpSpPr>
        <p:sp>
          <p:nvSpPr>
            <p:cNvPr id="818" name="Google Shape;818;p35"/>
            <p:cNvSpPr/>
            <p:nvPr/>
          </p:nvSpPr>
          <p:spPr>
            <a:xfrm>
              <a:off x="12342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10656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1017663" y="3243950"/>
              <a:ext cx="305475" cy="345175"/>
            </a:xfrm>
            <a:custGeom>
              <a:avLst/>
              <a:gdLst/>
              <a:ahLst/>
              <a:cxnLst/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821" name="Google Shape;821;p35"/>
          <p:cNvGrpSpPr/>
          <p:nvPr/>
        </p:nvGrpSpPr>
        <p:grpSpPr>
          <a:xfrm>
            <a:off x="468505" y="1124440"/>
            <a:ext cx="345125" cy="345425"/>
            <a:chOff x="997838" y="2690475"/>
            <a:chExt cx="345125" cy="345425"/>
          </a:xfrm>
        </p:grpSpPr>
        <p:sp>
          <p:nvSpPr>
            <p:cNvPr id="822" name="Google Shape;822;p35"/>
            <p:cNvSpPr/>
            <p:nvPr/>
          </p:nvSpPr>
          <p:spPr>
            <a:xfrm>
              <a:off x="1267563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12599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12599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1031688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10401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10401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997838" y="2690475"/>
              <a:ext cx="345125" cy="345425"/>
            </a:xfrm>
            <a:custGeom>
              <a:avLst/>
              <a:gdLst/>
              <a:ahLst/>
              <a:cxnLst/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9472E-4D62-97CB-5A0D-74B59757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Датасет – Основная информация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E534E3BD-AEF3-4A82-695B-9184184F65E8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7DC70F64-BB2C-9B44-F95C-159310FF90D2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83037779-3E4B-FB5D-B79C-D6A6C296EECF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F45FA6AC-DE33-22C6-7D5B-E9FE3F2CE6CA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24D2C4E1-0B20-F6E6-5592-F847B2875BC4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F252B53E-DF46-906F-C88C-8079E610A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58" y="1785093"/>
            <a:ext cx="6465490" cy="308327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94F45E1-0FD4-7C54-2288-31F987673BB0}"/>
              </a:ext>
            </a:extLst>
          </p:cNvPr>
          <p:cNvSpPr txBox="1"/>
          <p:nvPr/>
        </p:nvSpPr>
        <p:spPr>
          <a:xfrm>
            <a:off x="981258" y="954096"/>
            <a:ext cx="5499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altLang="zh-CN" sz="12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Размер: 8,124 образцов</a:t>
            </a:r>
          </a:p>
          <a:p>
            <a:pPr algn="l"/>
            <a:r>
              <a:rPr lang="ru-RU" altLang="zh-CN" sz="12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Признаков: 23 (22 после удаления </a:t>
            </a:r>
            <a:r>
              <a:rPr lang="ru-RU" altLang="zh-CN" sz="1200" b="0" i="0" dirty="0" err="1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veil-type</a:t>
            </a:r>
            <a:r>
              <a:rPr lang="ru-RU" altLang="zh-CN" sz="12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)</a:t>
            </a:r>
          </a:p>
          <a:p>
            <a:pPr algn="l"/>
            <a:r>
              <a:rPr lang="ru-RU" altLang="zh-CN" sz="12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Целевой класс: </a:t>
            </a:r>
            <a:r>
              <a:rPr lang="ru-RU" altLang="zh-CN" sz="1200" b="0" i="0" dirty="0" err="1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class</a:t>
            </a:r>
            <a:r>
              <a:rPr lang="ru-RU" altLang="zh-CN" sz="12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(e=съедобный, p=ядовитый)</a:t>
            </a:r>
          </a:p>
          <a:p>
            <a:pPr algn="l"/>
            <a:r>
              <a:rPr lang="ru-RU" altLang="zh-CN" sz="12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Распределение: 51.8% / 48.2% (сбалансировано)</a:t>
            </a:r>
          </a:p>
        </p:txBody>
      </p:sp>
    </p:spTree>
    <p:extLst>
      <p:ext uri="{BB962C8B-B14F-4D97-AF65-F5344CB8AC3E}">
        <p14:creationId xmlns:p14="http://schemas.microsoft.com/office/powerpoint/2010/main" val="96551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82AE-4430-B685-8851-E192D9A7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D38A28D-BB9A-EF60-1FB4-7D09F26C7EE8}"/>
              </a:ext>
            </a:extLst>
          </p:cNvPr>
          <p:cNvSpPr/>
          <p:nvPr/>
        </p:nvSpPr>
        <p:spPr>
          <a:xfrm>
            <a:off x="4365254" y="2225595"/>
            <a:ext cx="3982257" cy="1421114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8E6B53F-D12E-2995-6021-248BD269041D}"/>
              </a:ext>
            </a:extLst>
          </p:cNvPr>
          <p:cNvSpPr/>
          <p:nvPr/>
        </p:nvSpPr>
        <p:spPr>
          <a:xfrm>
            <a:off x="796489" y="1543890"/>
            <a:ext cx="3033141" cy="1019706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D156A-B80B-A7C4-F71D-9BFD13E1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57" y="461944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ЗАГРУЗКА</a:t>
            </a:r>
            <a:r>
              <a:rPr lang="en-US" altLang="zh-CN" b="1" dirty="0">
                <a:latin typeface="Candara" panose="020E0502030303020204" pitchFamily="34" charset="0"/>
              </a:rPr>
              <a:t> </a:t>
            </a:r>
            <a:r>
              <a:rPr lang="ru-RU" altLang="zh-CN" b="1" dirty="0">
                <a:latin typeface="Candara" panose="020E0502030303020204" pitchFamily="34" charset="0"/>
              </a:rPr>
              <a:t>И ОБРАБОТКА ДАННЫХ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AE3078-2990-B1B9-D0FA-7C789668734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11157" y="3515760"/>
            <a:ext cx="3118473" cy="1153223"/>
          </a:xfrm>
        </p:spPr>
        <p:txBody>
          <a:bodyPr/>
          <a:lstStyle/>
          <a:p>
            <a:r>
              <a:rPr lang="ru-RU" altLang="zh-CN" sz="1600" dirty="0">
                <a:latin typeface="Candara" panose="020E0502030303020204" pitchFamily="34" charset="0"/>
              </a:rPr>
              <a:t>✓ Нет пропусков</a:t>
            </a:r>
          </a:p>
          <a:p>
            <a:r>
              <a:rPr lang="ru-RU" altLang="zh-CN" sz="1600" dirty="0">
                <a:latin typeface="Candara" panose="020E0502030303020204" pitchFamily="34" charset="0"/>
              </a:rPr>
              <a:t>✓ Нет дубликатов</a:t>
            </a:r>
          </a:p>
          <a:p>
            <a:r>
              <a:rPr lang="ru-RU" altLang="zh-CN" sz="1600" dirty="0">
                <a:latin typeface="Candara" panose="020E0502030303020204" pitchFamily="34" charset="0"/>
              </a:rPr>
              <a:t>✓ Все признаки </a:t>
            </a:r>
            <a:r>
              <a:rPr lang="ru-RU" altLang="zh-CN" sz="1600" dirty="0" err="1">
                <a:latin typeface="Candara" panose="020E0502030303020204" pitchFamily="34" charset="0"/>
              </a:rPr>
              <a:t>категориальны</a:t>
            </a:r>
            <a:endParaRPr lang="ru-RU" altLang="zh-CN" sz="1600" dirty="0">
              <a:latin typeface="Candara" panose="020E0502030303020204" pitchFamily="34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2710F57-F9A3-6F37-745F-1C54E21A986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236686" y="3797386"/>
            <a:ext cx="4048573" cy="1040274"/>
          </a:xfrm>
        </p:spPr>
        <p:txBody>
          <a:bodyPr/>
          <a:lstStyle/>
          <a:p>
            <a:r>
              <a:rPr lang="ru-RU" altLang="zh-CN" sz="1400" dirty="0">
                <a:latin typeface="Candara" panose="020E0502030303020204" pitchFamily="34" charset="0"/>
              </a:rPr>
              <a:t> Удалена колонка </a:t>
            </a:r>
            <a:r>
              <a:rPr lang="ru-RU" altLang="zh-CN" sz="1400" b="1" dirty="0">
                <a:latin typeface="Candara" panose="020E0502030303020204" pitchFamily="34" charset="0"/>
              </a:rPr>
              <a:t>'</a:t>
            </a:r>
            <a:r>
              <a:rPr lang="ru-RU" altLang="zh-CN" sz="1400" b="1" dirty="0" err="1">
                <a:latin typeface="Candara" panose="020E0502030303020204" pitchFamily="34" charset="0"/>
              </a:rPr>
              <a:t>veil-type</a:t>
            </a:r>
            <a:r>
              <a:rPr lang="ru-RU" altLang="zh-CN" sz="1400" b="1" dirty="0">
                <a:latin typeface="Candara" panose="020E0502030303020204" pitchFamily="34" charset="0"/>
              </a:rPr>
              <a:t>' </a:t>
            </a:r>
            <a:r>
              <a:rPr lang="ru-RU" altLang="zh-CN" sz="1400" dirty="0">
                <a:latin typeface="Candara" panose="020E0502030303020204" pitchFamily="34" charset="0"/>
              </a:rPr>
              <a:t>(содержала только одно значение)</a:t>
            </a:r>
          </a:p>
          <a:p>
            <a:r>
              <a:rPr lang="ru-RU" altLang="zh-CN" sz="1400" dirty="0">
                <a:latin typeface="Candara" panose="020E0502030303020204" pitchFamily="34" charset="0"/>
              </a:rPr>
              <a:t>Финальный размер: (8124, 22)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BED4495-850B-1494-8239-0478835E83C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085100" y="1071744"/>
            <a:ext cx="2310107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ЗАГРУЗКА ДАТАСЕТА: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625D7261-482C-411A-8295-1FCD6F2B0B54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009906" y="3121827"/>
            <a:ext cx="2622062" cy="367887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КАЧЕСТВО ДАТАСЕТА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11" name="Google Shape;1235;p47">
            <a:extLst>
              <a:ext uri="{FF2B5EF4-FFF2-40B4-BE49-F238E27FC236}">
                <a16:creationId xmlns:a16="http://schemas.microsoft.com/office/drawing/2014/main" id="{F3ED7315-196C-2949-B0DF-1C8B5FABB06D}"/>
              </a:ext>
            </a:extLst>
          </p:cNvPr>
          <p:cNvGrpSpPr/>
          <p:nvPr/>
        </p:nvGrpSpPr>
        <p:grpSpPr>
          <a:xfrm rot="16200000">
            <a:off x="9876671" y="2447574"/>
            <a:ext cx="1276969" cy="307959"/>
            <a:chOff x="7137512" y="6308643"/>
            <a:chExt cx="3816146" cy="972402"/>
          </a:xfrm>
        </p:grpSpPr>
        <p:sp>
          <p:nvSpPr>
            <p:cNvPr id="12" name="Google Shape;1236;p47">
              <a:extLst>
                <a:ext uri="{FF2B5EF4-FFF2-40B4-BE49-F238E27FC236}">
                  <a16:creationId xmlns:a16="http://schemas.microsoft.com/office/drawing/2014/main" id="{D719DBB7-A4D0-A28F-5D21-1242518E12D6}"/>
                </a:ext>
              </a:extLst>
            </p:cNvPr>
            <p:cNvSpPr/>
            <p:nvPr/>
          </p:nvSpPr>
          <p:spPr>
            <a:xfrm rot="10800000">
              <a:off x="7137512" y="6308643"/>
              <a:ext cx="1231991" cy="703353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37;p47">
              <a:extLst>
                <a:ext uri="{FF2B5EF4-FFF2-40B4-BE49-F238E27FC236}">
                  <a16:creationId xmlns:a16="http://schemas.microsoft.com/office/drawing/2014/main" id="{D4C356B2-A763-0AE8-F81E-4588B98D29F5}"/>
                </a:ext>
              </a:extLst>
            </p:cNvPr>
            <p:cNvSpPr/>
            <p:nvPr/>
          </p:nvSpPr>
          <p:spPr>
            <a:xfrm rot="10800000">
              <a:off x="10326151" y="6660319"/>
              <a:ext cx="627507" cy="6207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1AB7EA4F-B395-8760-8060-A4C7B096D412}"/>
              </a:ext>
            </a:extLst>
          </p:cNvPr>
          <p:cNvGrpSpPr/>
          <p:nvPr/>
        </p:nvGrpSpPr>
        <p:grpSpPr>
          <a:xfrm>
            <a:off x="823042" y="3092281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C359D4F3-9F24-4D0F-2AAD-C21FE1FDED47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7E01F5B9-8A39-C60F-D9E9-8F617FE0CAC4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57E4FD71-E125-761B-A09B-7596F91DF162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20B6ECA0-73B4-E54C-594A-AA507830CF9D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D692EEC5-FE55-F5BB-86B2-93E8916F6E38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A5E690BA-BF72-7C36-9B3F-69F2E1B9D4E2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2FABE2AB-3C67-D573-1A07-27BD6A797CE6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A690F45C-C8C5-63C8-1E8E-D4CE2F1D57E4}"/>
              </a:ext>
            </a:extLst>
          </p:cNvPr>
          <p:cNvSpPr/>
          <p:nvPr/>
        </p:nvSpPr>
        <p:spPr>
          <a:xfrm>
            <a:off x="823042" y="1172057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D419C8-3F72-F5F5-8503-D4AC631B8E05}"/>
              </a:ext>
            </a:extLst>
          </p:cNvPr>
          <p:cNvSpPr txBox="1"/>
          <p:nvPr/>
        </p:nvSpPr>
        <p:spPr>
          <a:xfrm>
            <a:off x="796489" y="1667670"/>
            <a:ext cx="36880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import pandas as pd</a:t>
            </a:r>
          </a:p>
          <a:p>
            <a:pPr latinLnBrk="1"/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data = 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pd.read_csv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('mushrooms.csv')</a:t>
            </a:r>
          </a:p>
          <a:p>
            <a:pPr latinLnBrk="1"/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print(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data.shape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)  # (8124, 23)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34C4719A-BE81-153D-7AC3-910143F52DCE}"/>
              </a:ext>
            </a:extLst>
          </p:cNvPr>
          <p:cNvSpPr txBox="1">
            <a:spLocks/>
          </p:cNvSpPr>
          <p:nvPr/>
        </p:nvSpPr>
        <p:spPr>
          <a:xfrm>
            <a:off x="4563157" y="1134724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 altLang="zh-CN" dirty="0">
                <a:latin typeface="Candara" panose="020E0502030303020204" pitchFamily="34" charset="0"/>
              </a:rPr>
              <a:t>Label Encoding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A78D3B3C-D363-2C69-4459-DFC04331ABF1}"/>
              </a:ext>
            </a:extLst>
          </p:cNvPr>
          <p:cNvSpPr/>
          <p:nvPr/>
        </p:nvSpPr>
        <p:spPr>
          <a:xfrm>
            <a:off x="4365254" y="1208027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3E2589-7389-E859-79B3-2FAA0D2DF0D1}"/>
              </a:ext>
            </a:extLst>
          </p:cNvPr>
          <p:cNvSpPr txBox="1"/>
          <p:nvPr/>
        </p:nvSpPr>
        <p:spPr>
          <a:xfrm>
            <a:off x="4365254" y="1636113"/>
            <a:ext cx="32061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altLang="zh-CN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Что было: строки (a, b, c, ...)</a:t>
            </a:r>
          </a:p>
          <a:p>
            <a:pPr algn="l"/>
            <a:r>
              <a:rPr lang="ru-RU" altLang="zh-CN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Что стало: целые числа (0, 1, 2, ...)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6E015F-7801-19E1-4129-98D50AD8652F}"/>
              </a:ext>
            </a:extLst>
          </p:cNvPr>
          <p:cNvSpPr txBox="1"/>
          <p:nvPr/>
        </p:nvSpPr>
        <p:spPr>
          <a:xfrm>
            <a:off x="4365254" y="2376272"/>
            <a:ext cx="54983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Candara" panose="020E0502030303020204" pitchFamily="34" charset="0"/>
              </a:rPr>
              <a:t>from sklearn.preprocessing import LabelEncoder</a:t>
            </a:r>
          </a:p>
          <a:p>
            <a:endParaRPr lang="zh-CN" altLang="en-US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Candara" panose="020E0502030303020204" pitchFamily="34" charset="0"/>
              </a:rPr>
              <a:t>for col in data.columns:</a:t>
            </a:r>
          </a:p>
          <a:p>
            <a:r>
              <a:rPr lang="zh-CN" altLang="en-US" dirty="0">
                <a:solidFill>
                  <a:schemeClr val="tx1"/>
                </a:solidFill>
                <a:latin typeface="Candara" panose="020E0502030303020204" pitchFamily="34" charset="0"/>
              </a:rPr>
              <a:t>    le = LabelEncoder()</a:t>
            </a:r>
          </a:p>
          <a:p>
            <a:r>
              <a:rPr lang="zh-CN" altLang="en-US" dirty="0">
                <a:solidFill>
                  <a:schemeClr val="tx1"/>
                </a:solidFill>
                <a:latin typeface="Candara" panose="020E0502030303020204" pitchFamily="34" charset="0"/>
              </a:rPr>
              <a:t>    data[col] = le.fit_transform(data[col])</a:t>
            </a:r>
          </a:p>
        </p:txBody>
      </p:sp>
    </p:spTree>
    <p:extLst>
      <p:ext uri="{BB962C8B-B14F-4D97-AF65-F5344CB8AC3E}">
        <p14:creationId xmlns:p14="http://schemas.microsoft.com/office/powerpoint/2010/main" val="98250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ED7E-9738-E365-2728-620C257C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2C2AC13-F25D-26F6-3AF9-753EF299C704}"/>
              </a:ext>
            </a:extLst>
          </p:cNvPr>
          <p:cNvSpPr/>
          <p:nvPr/>
        </p:nvSpPr>
        <p:spPr>
          <a:xfrm>
            <a:off x="640741" y="3090153"/>
            <a:ext cx="3561586" cy="156697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34EC4-DC44-A30A-9DAB-4CD23C41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Ручное построение Байесовской сети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782113-6668-8B77-7DE8-86A156FEB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164" y="1562519"/>
            <a:ext cx="3753089" cy="815139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Граф строится вручную на основе экспертных знаний и понимания предметной области</a:t>
            </a:r>
            <a:endParaRPr lang="en-US" altLang="zh-CN" dirty="0">
              <a:latin typeface="Candara" panose="020E0502030303020204" pitchFamily="34" charset="0"/>
            </a:endParaRP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Рёбра определяются логически на основе предположений о зависимостях между признаками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A5857F15-4E33-26CA-2280-1249E4EEA59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656493" y="1541510"/>
            <a:ext cx="3142051" cy="105987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Полный контроль над структурой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Можно использовать знания экспертов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Интерпретируемость гарантирована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341B904E-CBBB-0D1E-81BD-B6E2A65C233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656492" y="3412354"/>
            <a:ext cx="3198457" cy="95309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Требует глубокого понимания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Может упустить скрытые зависимости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Субъективный процесс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A975E96-8F83-3827-9EC7-725805AC9DF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45029" y="1069255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24A204BB-D004-4A15-CF5A-4586AD26C83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018150" y="1076992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72FD6319-CEC3-4EF2-1AEC-5841EAC0A0D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082300" y="2861442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Недостатки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FD363579-0F70-1F5D-DC09-98BB5C4B4CB9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0B5EBA12-9BCB-14F6-C2CB-53E0A72FD5BD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8E5CC35A-445E-48B0-B001-3EC949AF845C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EEF83D9B-88D8-FC0C-FB5D-27E3B9DB6F4D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F6041F62-423C-9A0C-4477-BA9BC912DA4F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51B10C13-49B5-F754-AF0D-43DACA46F9CB}"/>
              </a:ext>
            </a:extLst>
          </p:cNvPr>
          <p:cNvGrpSpPr/>
          <p:nvPr/>
        </p:nvGrpSpPr>
        <p:grpSpPr>
          <a:xfrm>
            <a:off x="4814475" y="2939145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21E5CE7C-7AEA-C0D1-0322-BBBED7CBD8AF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AEF3B1F0-D6FF-A579-CB30-45D2F5844697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0699CD6F-D954-B083-9367-38DDFE7480D3}"/>
              </a:ext>
            </a:extLst>
          </p:cNvPr>
          <p:cNvGrpSpPr/>
          <p:nvPr/>
        </p:nvGrpSpPr>
        <p:grpSpPr>
          <a:xfrm>
            <a:off x="4736025" y="1136830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94F1BD64-03EF-66CB-8579-9947B51FA9C5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439C5B6E-4CA7-5544-02DF-1FBC6DE038DD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0B0C5750-428F-DE9F-07EE-3B8108E0B694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B32B3C87-3C8E-EDBA-5C07-68F843339C98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8A314B7D-A869-AA5D-F757-6129D09BD947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A20471A4-1A78-5568-D3DC-3A4C2D0FE716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56EF0CF5-CE12-30B4-1F72-00AC65FAC97D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164D43DA-8609-9BDD-6C73-B6BE6D4A9CF9}"/>
              </a:ext>
            </a:extLst>
          </p:cNvPr>
          <p:cNvSpPr/>
          <p:nvPr/>
        </p:nvSpPr>
        <p:spPr>
          <a:xfrm>
            <a:off x="672492" y="1137676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F520AC-53AF-E856-CBD7-DF01A2F456D7}"/>
              </a:ext>
            </a:extLst>
          </p:cNvPr>
          <p:cNvSpPr txBox="1"/>
          <p:nvPr/>
        </p:nvSpPr>
        <p:spPr>
          <a:xfrm>
            <a:off x="653379" y="3168446"/>
            <a:ext cx="41610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from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pgmpy.models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 import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DiscreteBayesianNetwork</a:t>
            </a:r>
            <a:endParaRPr lang="en-US" altLang="zh-CN" sz="11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network = [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    ('odor', '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class'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),              # </a:t>
            </a:r>
            <a: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Запах влияет на съедобность</a:t>
            </a:r>
          </a:p>
          <a:p>
            <a: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    ('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bruises', '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class'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),           # </a:t>
            </a:r>
            <a: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Наличие синяков</a:t>
            </a:r>
          </a:p>
          <a:p>
            <a: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]</a:t>
            </a:r>
            <a:b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</a:b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model =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DiscreteBayesianNetwork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(network)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print("</a:t>
            </a:r>
            <a: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Ручная структура сети:")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print(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model.edges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())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858EB9EC-BBF9-B828-9C10-14D05AD817DC}"/>
              </a:ext>
            </a:extLst>
          </p:cNvPr>
          <p:cNvSpPr txBox="1">
            <a:spLocks/>
          </p:cNvSpPr>
          <p:nvPr/>
        </p:nvSpPr>
        <p:spPr>
          <a:xfrm>
            <a:off x="824606" y="2660917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Построение сети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21DB485D-882F-E526-98C9-3B7D572834C6}"/>
              </a:ext>
            </a:extLst>
          </p:cNvPr>
          <p:cNvSpPr/>
          <p:nvPr/>
        </p:nvSpPr>
        <p:spPr>
          <a:xfrm>
            <a:off x="652069" y="2728455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66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3746-3BCF-3793-8AB7-B138420C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EFA2F97-6181-3903-9997-F36CB0041649}"/>
              </a:ext>
            </a:extLst>
          </p:cNvPr>
          <p:cNvSpPr/>
          <p:nvPr/>
        </p:nvSpPr>
        <p:spPr>
          <a:xfrm>
            <a:off x="640741" y="3090153"/>
            <a:ext cx="3561586" cy="156697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F857B-9623-F0DA-8E1B-930AEC376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02196"/>
            <a:ext cx="7704000" cy="572700"/>
          </a:xfrm>
        </p:spPr>
        <p:txBody>
          <a:bodyPr/>
          <a:lstStyle/>
          <a:p>
            <a:r>
              <a:rPr lang="ru-RU" altLang="zh-CN" sz="2400" b="1" dirty="0">
                <a:latin typeface="Candara" panose="020E0502030303020204" pitchFamily="34" charset="0"/>
              </a:rPr>
              <a:t>Автоматическое построение Байесовской сети</a:t>
            </a:r>
            <a:endParaRPr lang="zh-CN" altLang="en-US" sz="2400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2EBFDE-EC9A-C2E9-C586-73736253E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164" y="1562519"/>
            <a:ext cx="3753089" cy="815139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Алгоритм автоматически находит оптимальную структуру из данных, используя BIC как метрику качества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92CD13CF-6B69-6FF6-18DC-C530AFDC4FC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656493" y="1541510"/>
            <a:ext cx="3522307" cy="105987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Открывает скрытые зависимости из данных (53 ребра найдено)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Объективный процесс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Не требует предварительных знаний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Обнаруживает неожиданные корреляции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C642B65-7065-8D77-251D-73E0C56C1E9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656492" y="3412354"/>
            <a:ext cx="3522307" cy="95309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Может быть вычислительно дорогим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Требует достаточного количества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altLang="zh-CN" dirty="0">
                <a:latin typeface="Candara" panose="020E0502030303020204" pitchFamily="34" charset="0"/>
              </a:rPr>
              <a:t>Результат зависит от качества данных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5A8BB186-D8E9-7CA8-D3BC-33F5A96FD2D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45029" y="1069255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3F8FC008-6FFF-ACDE-B9FA-07E50F3B054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018150" y="1076992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BC0024B8-6FD3-5D9C-DDBF-FAB4604DC268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082300" y="2861442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Недостатки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D33EA5C7-CDE3-9DA7-3EE7-82FBC4465192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6D4E330E-EAB8-48DC-E258-0E154B2431F2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3E592DAB-C747-7E7A-AE04-86122A7117E4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17DBD696-C59D-FC78-B636-F63390FA2E1B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0DD7A84E-9D52-86B6-3549-29B6F5A4DFFF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66DC6DD6-F0D2-E9A6-98E3-FC22A0629D87}"/>
              </a:ext>
            </a:extLst>
          </p:cNvPr>
          <p:cNvGrpSpPr/>
          <p:nvPr/>
        </p:nvGrpSpPr>
        <p:grpSpPr>
          <a:xfrm>
            <a:off x="4814475" y="2939145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3DF3EE1D-D99F-3163-DAFB-D5F5A5BEB3A6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71C5CFFD-21FC-54B7-606F-BCA1C1257F1C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5E24EFE0-42FA-209B-0AF6-9F7B18F170FD}"/>
              </a:ext>
            </a:extLst>
          </p:cNvPr>
          <p:cNvGrpSpPr/>
          <p:nvPr/>
        </p:nvGrpSpPr>
        <p:grpSpPr>
          <a:xfrm>
            <a:off x="4736025" y="1136830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90D11568-27C6-9034-9D97-2B921E5D2C65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3ACBFAC2-E024-94FC-D6AE-2F8E2660CCEC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2A4F457A-CDD0-F4DB-9EA0-BAF835836EDF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EC2AFA04-5AF1-D9AA-204B-B9045D156C59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289DE2FC-152D-B4A4-8E3B-12E310364914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CA5124B6-785D-CF24-A29A-4F6587C57C6D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5EFC0AAE-EC2B-2B66-0FC1-6427E8906FE0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A5FF2962-4458-E540-1B77-7ADC867BC162}"/>
              </a:ext>
            </a:extLst>
          </p:cNvPr>
          <p:cNvSpPr/>
          <p:nvPr/>
        </p:nvSpPr>
        <p:spPr>
          <a:xfrm>
            <a:off x="672492" y="1137676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C3B5CA-1038-560A-6452-04576311C67F}"/>
              </a:ext>
            </a:extLst>
          </p:cNvPr>
          <p:cNvSpPr txBox="1"/>
          <p:nvPr/>
        </p:nvSpPr>
        <p:spPr>
          <a:xfrm>
            <a:off x="653379" y="3168446"/>
            <a:ext cx="41610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from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pgmpy.estimators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 import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HillClimbSearch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, BIC</a:t>
            </a:r>
          </a:p>
          <a:p>
            <a:b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</a:br>
            <a:endParaRPr lang="en-US" altLang="zh-CN" sz="11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hc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 =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HillClimbSearch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(data)</a:t>
            </a:r>
          </a:p>
          <a:p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best_model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 =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hc.estimate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scoring_method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=BIC(data))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model = 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DiscreteBayesianNetwork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best_model.edges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())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print("</a:t>
            </a:r>
            <a:r>
              <a:rPr lang="ru-RU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Автоматическая структура:")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print(</a:t>
            </a:r>
            <a:r>
              <a:rPr lang="en-US" altLang="zh-CN" sz="1100" dirty="0" err="1">
                <a:solidFill>
                  <a:schemeClr val="tx1"/>
                </a:solidFill>
                <a:latin typeface="Candara" panose="020E0502030303020204" pitchFamily="34" charset="0"/>
              </a:rPr>
              <a:t>model.edges</a:t>
            </a:r>
            <a:r>
              <a:rPr lang="en-US" altLang="zh-CN" sz="1100" dirty="0">
                <a:solidFill>
                  <a:schemeClr val="tx1"/>
                </a:solidFill>
                <a:latin typeface="Candara" panose="020E0502030303020204" pitchFamily="34" charset="0"/>
              </a:rPr>
              <a:t>())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9D0E0708-C52B-38DC-6CD1-BF61AC638A02}"/>
              </a:ext>
            </a:extLst>
          </p:cNvPr>
          <p:cNvSpPr txBox="1">
            <a:spLocks/>
          </p:cNvSpPr>
          <p:nvPr/>
        </p:nvSpPr>
        <p:spPr>
          <a:xfrm>
            <a:off x="824606" y="2660917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Построение сети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27BEF382-B4AA-F06B-D5BA-ACD00556EED2}"/>
              </a:ext>
            </a:extLst>
          </p:cNvPr>
          <p:cNvSpPr/>
          <p:nvPr/>
        </p:nvSpPr>
        <p:spPr>
          <a:xfrm>
            <a:off x="652069" y="2728455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96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FDF3-A9B2-F00F-18FE-FEBA9DB8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522CAC0-C473-CE33-19CD-8B31DB8140B9}"/>
              </a:ext>
            </a:extLst>
          </p:cNvPr>
          <p:cNvSpPr/>
          <p:nvPr/>
        </p:nvSpPr>
        <p:spPr>
          <a:xfrm>
            <a:off x="4136572" y="1841510"/>
            <a:ext cx="4891314" cy="1019706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9DD8D-B606-50C6-FA8B-266315AB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Обучение модели: выбор оценщика параметров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3CFAE4-5387-D9E0-282E-E4383E15B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006" y="1861752"/>
            <a:ext cx="2781513" cy="688909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MLE — это метод, который вычисляет вероятности прямо из данных: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21EC1A94-70C4-AE9D-01F1-1FFD3D88C20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39978" y="3595084"/>
            <a:ext cx="3645759" cy="866860"/>
          </a:xfrm>
        </p:spPr>
        <p:txBody>
          <a:bodyPr/>
          <a:lstStyle/>
          <a:p>
            <a:pPr marL="0" indent="0"/>
            <a:r>
              <a:rPr lang="ru-RU" altLang="zh-CN" dirty="0" err="1">
                <a:latin typeface="Candara" panose="020E0502030303020204" pitchFamily="34" charset="0"/>
              </a:rPr>
              <a:t>BDeu</a:t>
            </a:r>
            <a:r>
              <a:rPr lang="ru-RU" altLang="zh-CN" dirty="0">
                <a:latin typeface="Candara" panose="020E0502030303020204" pitchFamily="34" charset="0"/>
              </a:rPr>
              <a:t> — это метод Байесовского оценивания, который добавляет "виртуальные образцы" к реальным данным: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одзаголовок 4">
                <a:extLst>
                  <a:ext uri="{FF2B5EF4-FFF2-40B4-BE49-F238E27FC236}">
                    <a16:creationId xmlns:a16="http://schemas.microsoft.com/office/drawing/2014/main" id="{D2F30B9F-D2F8-3216-A824-031D76274428}"/>
                  </a:ext>
                </a:extLst>
              </p:cNvPr>
              <p:cNvSpPr>
                <a:spLocks noGrp="1"/>
              </p:cNvSpPr>
              <p:nvPr>
                <p:ph type="subTitle" idx="3"/>
              </p:nvPr>
            </p:nvSpPr>
            <p:spPr>
              <a:xfrm>
                <a:off x="4373761" y="3517010"/>
                <a:ext cx="4112716" cy="1188722"/>
              </a:xfrm>
            </p:spPr>
            <p:txBody>
              <a:bodyPr/>
              <a:lstStyle/>
              <a:p>
                <a:r>
                  <a:rPr lang="ru-RU" altLang="zh-CN" sz="1400" dirty="0">
                    <a:latin typeface="Candara" panose="020E0502030303020204" pitchFamily="34" charset="0"/>
                  </a:rPr>
                  <a:t>Контролирует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altLang="zh-CN" sz="1400"/>
                        </m:ctrlPr>
                      </m:naryPr>
                      <m:sub/>
                      <m:sup/>
                      <m:e>
                        <m:r>
                          <a:rPr lang="zh-CN" altLang="ar-AE" sz="1400" i="1"/>
                          <m:t>𝛼</m:t>
                        </m:r>
                      </m:e>
                    </m:nary>
                  </m:oMath>
                </a14:m>
                <a:r>
                  <a:rPr lang="ar-AE" altLang="zh-CN" sz="1400" dirty="0">
                    <a:latin typeface="Candara" panose="020E0502030303020204" pitchFamily="34" charset="0"/>
                  </a:rPr>
                  <a:t> </a:t>
                </a:r>
                <a:r>
                  <a:rPr lang="en-US" altLang="zh-CN" sz="1400" dirty="0">
                    <a:latin typeface="Candara" panose="020E0502030303020204" pitchFamily="34" charset="0"/>
                  </a:rPr>
                  <a:t> (</a:t>
                </a:r>
                <a:r>
                  <a:rPr lang="ru-RU" altLang="zh-CN" sz="1400" dirty="0">
                    <a:latin typeface="Candara" panose="020E0502030303020204" pitchFamily="34" charset="0"/>
                  </a:rPr>
                  <a:t>виртуальные образцы):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ru-RU" altLang="zh-CN" sz="1400" dirty="0">
                    <a:latin typeface="Candara" panose="020E0502030303020204" pitchFamily="34" charset="0"/>
                  </a:rPr>
                  <a:t>0.1 → слабый </a:t>
                </a:r>
                <a:r>
                  <a:rPr lang="en-US" altLang="zh-CN" sz="1400" dirty="0">
                    <a:latin typeface="Candara" panose="020E0502030303020204" pitchFamily="34" charset="0"/>
                  </a:rPr>
                  <a:t>prior (</a:t>
                </a:r>
                <a:r>
                  <a:rPr lang="ru-RU" altLang="zh-CN" sz="1400" dirty="0">
                    <a:latin typeface="Candara" panose="020E0502030303020204" pitchFamily="34" charset="0"/>
                  </a:rPr>
                  <a:t>почти </a:t>
                </a:r>
                <a:r>
                  <a:rPr lang="en-US" altLang="zh-CN" sz="1400" dirty="0">
                    <a:latin typeface="Candara" panose="020E0502030303020204" pitchFamily="34" charset="0"/>
                  </a:rPr>
                  <a:t>MLE)​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latin typeface="Candara" panose="020E0502030303020204" pitchFamily="34" charset="0"/>
                  </a:rPr>
                  <a:t>5 → </a:t>
                </a:r>
                <a:r>
                  <a:rPr lang="ru-RU" altLang="zh-CN" sz="1400" dirty="0">
                    <a:latin typeface="Candara" panose="020E0502030303020204" pitchFamily="34" charset="0"/>
                  </a:rPr>
                  <a:t>средний </a:t>
                </a:r>
                <a:r>
                  <a:rPr lang="en-US" altLang="zh-CN" sz="1400" dirty="0">
                    <a:latin typeface="Candara" panose="020E0502030303020204" pitchFamily="34" charset="0"/>
                  </a:rPr>
                  <a:t>prior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latin typeface="Candara" panose="020E0502030303020204" pitchFamily="34" charset="0"/>
                  </a:rPr>
                  <a:t>10+ → </a:t>
                </a:r>
                <a:r>
                  <a:rPr lang="ru-RU" altLang="zh-CN" sz="1400" dirty="0">
                    <a:latin typeface="Candara" panose="020E0502030303020204" pitchFamily="34" charset="0"/>
                  </a:rPr>
                  <a:t>сильный </a:t>
                </a:r>
                <a:r>
                  <a:rPr lang="en-US" altLang="zh-CN" sz="1400" dirty="0">
                    <a:latin typeface="Candara" panose="020E0502030303020204" pitchFamily="34" charset="0"/>
                  </a:rPr>
                  <a:t>prior</a:t>
                </a:r>
              </a:p>
            </p:txBody>
          </p:sp>
        </mc:Choice>
        <mc:Fallback>
          <p:sp>
            <p:nvSpPr>
              <p:cNvPr id="5" name="Подзаголовок 4">
                <a:extLst>
                  <a:ext uri="{FF2B5EF4-FFF2-40B4-BE49-F238E27FC236}">
                    <a16:creationId xmlns:a16="http://schemas.microsoft.com/office/drawing/2014/main" id="{D2F30B9F-D2F8-3216-A824-031D76274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3"/>
              </p:nvPr>
            </p:nvSpPr>
            <p:spPr>
              <a:xfrm>
                <a:off x="4373761" y="3517010"/>
                <a:ext cx="4112716" cy="1188722"/>
              </a:xfrm>
              <a:blipFill>
                <a:blip r:embed="rId2"/>
                <a:stretch>
                  <a:fillRect t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160C7D72-54B1-E994-A1D1-2374F3896A7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35892" y="1397669"/>
            <a:ext cx="2983934" cy="480300"/>
          </a:xfrm>
        </p:spPr>
        <p:txBody>
          <a:bodyPr/>
          <a:lstStyle/>
          <a:p>
            <a:pPr algn="ctr"/>
            <a:r>
              <a:rPr lang="en-US" altLang="zh-CN" sz="1400" dirty="0">
                <a:latin typeface="Candara" panose="020E0502030303020204" pitchFamily="34" charset="0"/>
              </a:rPr>
              <a:t>MLE</a:t>
            </a:r>
          </a:p>
          <a:p>
            <a:pPr algn="ctr"/>
            <a:r>
              <a:rPr lang="en-US" altLang="zh-CN" sz="1400" dirty="0">
                <a:latin typeface="Candara" panose="020E0502030303020204" pitchFamily="34" charset="0"/>
              </a:rPr>
              <a:t> (Maximum Likelihood Estimation)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AC2BBFBB-43AA-D4A9-9FC2-D74AE6F62A9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45497" y="2731112"/>
            <a:ext cx="3354280" cy="1081905"/>
          </a:xfrm>
        </p:spPr>
        <p:txBody>
          <a:bodyPr/>
          <a:lstStyle/>
          <a:p>
            <a:pPr algn="ctr"/>
            <a:r>
              <a:rPr lang="en-US" altLang="zh-CN" sz="1400" dirty="0" err="1">
                <a:latin typeface="Candara" panose="020E0502030303020204" pitchFamily="34" charset="0"/>
              </a:rPr>
              <a:t>BDeu</a:t>
            </a:r>
            <a:r>
              <a:rPr lang="en-US" altLang="zh-CN" sz="1400" dirty="0">
                <a:latin typeface="Candara" panose="020E0502030303020204" pitchFamily="34" charset="0"/>
              </a:rPr>
              <a:t> </a:t>
            </a:r>
          </a:p>
          <a:p>
            <a:pPr algn="ctr"/>
            <a:r>
              <a:rPr lang="en-US" altLang="zh-CN" sz="1400" dirty="0">
                <a:latin typeface="Candara" panose="020E0502030303020204" pitchFamily="34" charset="0"/>
              </a:rPr>
              <a:t>(Bayesian Dirichlet Equivalent Uniform)</a:t>
            </a:r>
          </a:p>
          <a:p>
            <a:pPr algn="ctr"/>
            <a:endParaRPr lang="zh-CN" altLang="en-US" sz="1400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09E8D49D-7201-70FC-7ADD-CE0A933781F0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252686" y="3075536"/>
            <a:ext cx="3951120" cy="444994"/>
          </a:xfrm>
        </p:spPr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Параметр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 </a:t>
            </a:r>
            <a:r>
              <a:rPr lang="en-US" altLang="zh-CN" dirty="0" err="1">
                <a:solidFill>
                  <a:schemeClr val="bg1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equivalent_sample_size</a:t>
            </a:r>
            <a:r>
              <a:rPr lang="en-US" altLang="zh-CN" dirty="0">
                <a:solidFill>
                  <a:schemeClr val="bg1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=0.1</a:t>
            </a: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A993E53A-05C7-85D3-38BB-B71AF4FAA2F6}"/>
              </a:ext>
            </a:extLst>
          </p:cNvPr>
          <p:cNvGrpSpPr/>
          <p:nvPr/>
        </p:nvGrpSpPr>
        <p:grpSpPr>
          <a:xfrm rot="10800000">
            <a:off x="3169522" y="4612389"/>
            <a:ext cx="6521193" cy="1461118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7BD45573-40F5-9D56-C7AA-8F1A218327A7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AEA39E83-858F-9711-6136-23EE1D4B3A03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1EA1DC11-B783-06E0-CCFE-75F493F9845B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66A11EC7-F878-4AD8-62A9-CCA4149E87F8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F2DB2246-9B0C-ADD1-0DD0-9A6F2C801CA8}"/>
              </a:ext>
            </a:extLst>
          </p:cNvPr>
          <p:cNvGrpSpPr/>
          <p:nvPr/>
        </p:nvGrpSpPr>
        <p:grpSpPr>
          <a:xfrm>
            <a:off x="4105936" y="3082846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2F6E6245-D745-714D-F2B9-769525CC8970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0447F961-354E-2A5C-B306-D483F726F333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7C80BBCE-CBDF-B24F-03AD-9CF91311308F}"/>
              </a:ext>
            </a:extLst>
          </p:cNvPr>
          <p:cNvGrpSpPr/>
          <p:nvPr/>
        </p:nvGrpSpPr>
        <p:grpSpPr>
          <a:xfrm>
            <a:off x="506331" y="3099489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6515D590-53C9-8FF4-2ED2-C325F0EB49A1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7A565D5E-53DA-0A7B-6E12-5E29C9D82BE1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04FE4317-A5C9-6ECA-E8AB-8E54F8AD4001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4E05169D-763C-78D4-8891-B6A0E40D4A5A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E852816C-C3D7-76A4-0708-85893701D78C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F5F8572D-886F-7455-72E5-0DDB385E7890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BD3B6BD2-91B4-50E7-F395-3EFDEF046CF5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E64E05C4-D442-8592-708A-76877C366A26}"/>
              </a:ext>
            </a:extLst>
          </p:cNvPr>
          <p:cNvSpPr/>
          <p:nvPr/>
        </p:nvSpPr>
        <p:spPr>
          <a:xfrm>
            <a:off x="679469" y="145173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C4497C-0622-A0DB-753B-24F2F33A19D1}"/>
              </a:ext>
            </a:extLst>
          </p:cNvPr>
          <p:cNvSpPr txBox="1"/>
          <p:nvPr/>
        </p:nvSpPr>
        <p:spPr>
          <a:xfrm>
            <a:off x="4252686" y="1912052"/>
            <a:ext cx="46881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from </a:t>
            </a:r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pgmpy.estimators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 import </a:t>
            </a:r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BayesianEstimator</a:t>
            </a:r>
            <a:endParaRPr lang="en-US" altLang="zh-CN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model.fit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(data, estimator=</a:t>
            </a:r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BayesianEstimator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, 	</a:t>
            </a:r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prior_type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='</a:t>
            </a:r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BDeu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', </a:t>
            </a:r>
            <a:r>
              <a:rPr lang="en-US" altLang="zh-CN" dirty="0" err="1">
                <a:solidFill>
                  <a:schemeClr val="tx1"/>
                </a:solidFill>
                <a:latin typeface="Candara" panose="020E0502030303020204" pitchFamily="34" charset="0"/>
              </a:rPr>
              <a:t>equivalent_sample_size</a:t>
            </a:r>
            <a:r>
              <a:rPr lang="en-US" altLang="zh-CN" dirty="0">
                <a:solidFill>
                  <a:schemeClr val="tx1"/>
                </a:solidFill>
                <a:latin typeface="Candara" panose="020E0502030303020204" pitchFamily="34" charset="0"/>
              </a:rPr>
              <a:t>=0.1)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A533A70C-9A68-01C8-7E9C-A9F27944443E}"/>
              </a:ext>
            </a:extLst>
          </p:cNvPr>
          <p:cNvSpPr txBox="1">
            <a:spLocks/>
          </p:cNvSpPr>
          <p:nvPr/>
        </p:nvSpPr>
        <p:spPr>
          <a:xfrm>
            <a:off x="4285737" y="1317948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 err="1">
                <a:latin typeface="Candara" panose="020E0502030303020204" pitchFamily="34" charset="0"/>
              </a:rPr>
              <a:t>Байессовский</a:t>
            </a:r>
            <a:r>
              <a:rPr lang="ru-RU" altLang="zh-CN" dirty="0">
                <a:latin typeface="Candara" panose="020E0502030303020204" pitchFamily="34" charset="0"/>
              </a:rPr>
              <a:t> оценщик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240CF8FE-DF6A-0B4A-5F2A-17118FC49C9F}"/>
              </a:ext>
            </a:extLst>
          </p:cNvPr>
          <p:cNvSpPr/>
          <p:nvPr/>
        </p:nvSpPr>
        <p:spPr>
          <a:xfrm>
            <a:off x="4105936" y="1392505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A54265-8B89-C714-15C8-B908323F0FD5}"/>
              </a:ext>
            </a:extLst>
          </p:cNvPr>
          <p:cNvSpPr txBox="1"/>
          <p:nvPr/>
        </p:nvSpPr>
        <p:spPr>
          <a:xfrm>
            <a:off x="679469" y="4308611"/>
            <a:ext cx="29246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2800" b="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</a:t>
            </a:r>
            <a:r>
              <a:rPr lang="pt-BR" altLang="zh-CN" sz="2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(</a:t>
            </a:r>
            <a:r>
              <a:rPr lang="pt-BR" altLang="zh-CN" sz="2800" b="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A</a:t>
            </a:r>
            <a:r>
              <a:rPr lang="pt-BR" altLang="zh-CN" sz="2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)=</a:t>
            </a:r>
            <a:r>
              <a:rPr lang="pt-BR" altLang="zh-CN" sz="2800" b="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N</a:t>
            </a:r>
            <a:r>
              <a:rPr lang="pt-BR" altLang="zh-CN" sz="2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+∑</a:t>
            </a:r>
            <a:r>
              <a:rPr lang="pt-BR" altLang="zh-CN" sz="2800" b="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αnA</a:t>
            </a:r>
            <a:r>
              <a:rPr lang="pt-BR" altLang="zh-CN" sz="2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+</a:t>
            </a:r>
            <a:r>
              <a:rPr lang="pt-BR" altLang="zh-CN" sz="2800" b="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α</a:t>
            </a:r>
            <a:br>
              <a:rPr lang="pt-BR" altLang="zh-CN" sz="2800" dirty="0">
                <a:solidFill>
                  <a:schemeClr val="tx1"/>
                </a:solidFill>
                <a:latin typeface="Candara" panose="020E0502030303020204" pitchFamily="34" charset="0"/>
              </a:rPr>
            </a:br>
            <a:endParaRPr lang="zh-CN" altLang="en-US" sz="28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802A27-EC5E-EF45-1566-09A968243709}"/>
              </a:ext>
            </a:extLst>
          </p:cNvPr>
          <p:cNvSpPr txBox="1"/>
          <p:nvPr/>
        </p:nvSpPr>
        <p:spPr>
          <a:xfrm>
            <a:off x="852006" y="2390706"/>
            <a:ext cx="2069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(</a:t>
            </a:r>
            <a:r>
              <a:rPr lang="en-US" altLang="zh-CN" sz="2800" i="1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)=</a:t>
            </a:r>
            <a:r>
              <a:rPr lang="en-US" altLang="zh-CN" sz="2800" i="1" dirty="0" err="1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NnA</a:t>
            </a:r>
            <a:r>
              <a:rPr lang="en-US" altLang="zh-CN" sz="2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 </a:t>
            </a:r>
            <a:endParaRPr lang="zh-CN" altLang="en-US" sz="28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45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BE0C-605A-6E42-6C81-BCB5602C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D3996-31C4-D53A-40D1-4C97AB9A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Визуализация структуры сети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85DB3F1B-C165-A41F-3E3D-FFCB9381ED35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62E063FC-5C48-2D40-2FB0-C8014361CDC9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B9A8A2B8-F283-33FF-D6CB-DA5EED87F4E9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C92FBF56-5240-D2FA-926F-7B9F450F4AC3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0E8E37C2-78E5-7B55-5DCB-24E4EB054323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Подзаголовок 38">
            <a:extLst>
              <a:ext uri="{FF2B5EF4-FFF2-40B4-BE49-F238E27FC236}">
                <a16:creationId xmlns:a16="http://schemas.microsoft.com/office/drawing/2014/main" id="{7263587A-741B-3BE7-A2E6-DD3075D4030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305741" y="1425884"/>
            <a:ext cx="3714888" cy="3216054"/>
          </a:xfrm>
        </p:spPr>
        <p:txBody>
          <a:bodyPr/>
          <a:lstStyle/>
          <a:p>
            <a:r>
              <a:rPr lang="ru-RU" altLang="zh-CN" sz="1600" dirty="0">
                <a:latin typeface="Candara" panose="020E0502030303020204" pitchFamily="34" charset="0"/>
              </a:rPr>
              <a:t>На графике каждый узел представляет признак гриба, а направленные стрелки</a:t>
            </a:r>
            <a:r>
              <a:rPr lang="en-US" altLang="zh-CN" sz="1600" dirty="0">
                <a:latin typeface="Candara" panose="020E0502030303020204" pitchFamily="34" charset="0"/>
              </a:rPr>
              <a:t> </a:t>
            </a:r>
            <a:r>
              <a:rPr lang="ru-RU" altLang="zh-CN" sz="1600" dirty="0">
                <a:latin typeface="Candara" panose="020E0502030303020204" pitchFamily="34" charset="0"/>
              </a:rPr>
              <a:t>показывают вероятностные зависимости между ними. </a:t>
            </a:r>
            <a:endParaRPr lang="en-US" altLang="zh-CN" sz="1600" dirty="0">
              <a:latin typeface="Candara" panose="020E0502030303020204" pitchFamily="34" charset="0"/>
            </a:endParaRPr>
          </a:p>
          <a:p>
            <a:endParaRPr lang="en-US" altLang="zh-CN" sz="1600" dirty="0">
              <a:latin typeface="Candara" panose="020E0502030303020204" pitchFamily="34" charset="0"/>
            </a:endParaRPr>
          </a:p>
          <a:p>
            <a:r>
              <a:rPr lang="ru-RU" altLang="zh-CN" sz="1600" dirty="0">
                <a:latin typeface="Candara" panose="020E0502030303020204" pitchFamily="34" charset="0"/>
              </a:rPr>
              <a:t>Граф содержит 22 узла и 53 ребра, что отражает сложность взаимосвязей в данных.</a:t>
            </a:r>
            <a:endParaRPr lang="zh-CN" altLang="en-US" sz="1600" dirty="0">
              <a:latin typeface="Candara" panose="020E0502030303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A20E3B-7087-9892-47FC-89E14F411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13" y="1186272"/>
            <a:ext cx="4975038" cy="351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80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6AAD3FC6-1FA0-9B88-AEB2-7B86C832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0">
            <a:extLst>
              <a:ext uri="{FF2B5EF4-FFF2-40B4-BE49-F238E27FC236}">
                <a16:creationId xmlns:a16="http://schemas.microsoft.com/office/drawing/2014/main" id="{579EC311-376A-DB8C-1B5F-CE6B48F3F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3609" y="393013"/>
            <a:ext cx="70250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Candara" panose="020E0502030303020204" pitchFamily="34" charset="0"/>
              </a:rPr>
              <a:t>Анализ уверенности предсказаний</a:t>
            </a:r>
            <a:endParaRPr sz="3200" b="1" dirty="0">
              <a:latin typeface="Candara" panose="020E0502030303020204" pitchFamily="34" charset="0"/>
            </a:endParaRPr>
          </a:p>
        </p:txBody>
      </p:sp>
      <p:sp>
        <p:nvSpPr>
          <p:cNvPr id="716" name="Google Shape;716;p30">
            <a:extLst>
              <a:ext uri="{FF2B5EF4-FFF2-40B4-BE49-F238E27FC236}">
                <a16:creationId xmlns:a16="http://schemas.microsoft.com/office/drawing/2014/main" id="{E2C32CAE-8ED3-005B-5FB3-5806102813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4208" y="1373074"/>
            <a:ext cx="6322677" cy="5847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altLang="zh-CN" sz="1400" dirty="0">
                <a:latin typeface="Candara" panose="020E0502030303020204" pitchFamily="34" charset="0"/>
              </a:rPr>
              <a:t>Для проверки качества предсказаний модели выбрали тестовые образцы с разными признаками. Модель анализирует две группы: грибы с нейтральным запахом (</a:t>
            </a:r>
            <a:r>
              <a:rPr lang="ru-RU" altLang="zh-CN" sz="1400" dirty="0" err="1">
                <a:latin typeface="Candara" panose="020E0502030303020204" pitchFamily="34" charset="0"/>
              </a:rPr>
              <a:t>odor</a:t>
            </a:r>
            <a:r>
              <a:rPr lang="ru-RU" altLang="zh-CN" sz="1400" dirty="0">
                <a:latin typeface="Candara" panose="020E0502030303020204" pitchFamily="34" charset="0"/>
              </a:rPr>
              <a:t>=5) и с приятным запахом (</a:t>
            </a:r>
            <a:r>
              <a:rPr lang="ru-RU" altLang="zh-CN" sz="1400" dirty="0" err="1">
                <a:latin typeface="Candara" panose="020E0502030303020204" pitchFamily="34" charset="0"/>
              </a:rPr>
              <a:t>odor</a:t>
            </a:r>
            <a:r>
              <a:rPr lang="ru-RU" altLang="zh-CN" sz="1400" dirty="0">
                <a:latin typeface="Candara" panose="020E0502030303020204" pitchFamily="34" charset="0"/>
              </a:rPr>
              <a:t>=6).</a:t>
            </a:r>
            <a:endParaRPr sz="2800" dirty="0">
              <a:latin typeface="Candara" panose="020E0502030303020204" pitchFamily="34" charset="0"/>
            </a:endParaRPr>
          </a:p>
        </p:txBody>
      </p:sp>
      <p:sp>
        <p:nvSpPr>
          <p:cNvPr id="9" name="Google Shape;716;p30">
            <a:extLst>
              <a:ext uri="{FF2B5EF4-FFF2-40B4-BE49-F238E27FC236}">
                <a16:creationId xmlns:a16="http://schemas.microsoft.com/office/drawing/2014/main" id="{F39BD11B-A63F-F077-1B50-0C72AE2FA4FD}"/>
              </a:ext>
            </a:extLst>
          </p:cNvPr>
          <p:cNvSpPr txBox="1">
            <a:spLocks/>
          </p:cNvSpPr>
          <p:nvPr/>
        </p:nvSpPr>
        <p:spPr>
          <a:xfrm>
            <a:off x="844208" y="3881337"/>
            <a:ext cx="63226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ru-RU" altLang="zh-CN" sz="1400" dirty="0">
                <a:latin typeface="Candara" panose="020E0502030303020204" pitchFamily="34" charset="0"/>
              </a:rPr>
              <a:t>Все предсказания совпали с реальным классом. Модель показала высокую уверенность (вероятности близки к 0 или 1), что означает: выученные зависимости корректны и предсказания надежны.</a:t>
            </a:r>
            <a:endParaRPr lang="ru-RU" sz="2400" dirty="0">
              <a:latin typeface="Candara" panose="020E0502030303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733D19-6610-08B4-F718-396AA2A0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80" y="2152266"/>
            <a:ext cx="3839089" cy="134023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7584EC5-D43C-EE27-C294-F973AC3F1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200" y="2152268"/>
            <a:ext cx="3779344" cy="13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52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9D5E58-719B-1A88-4C59-0B7BA2D1DF15}"/>
              </a:ext>
            </a:extLst>
          </p:cNvPr>
          <p:cNvSpPr txBox="1"/>
          <p:nvPr/>
        </p:nvSpPr>
        <p:spPr>
          <a:xfrm>
            <a:off x="816428" y="599678"/>
            <a:ext cx="5725886" cy="40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altLang="zh-CN" sz="2600" b="1" dirty="0">
                <a:solidFill>
                  <a:srgbClr val="F9FAFB"/>
                </a:solidFill>
                <a:effectLst/>
                <a:latin typeface="Candara" panose="020E0502030303020204" pitchFamily="34" charset="0"/>
              </a:rPr>
              <a:t>Сравнение </a:t>
            </a:r>
            <a:r>
              <a:rPr lang="ru-RU" altLang="zh-CN" sz="2600" b="1" dirty="0">
                <a:solidFill>
                  <a:srgbClr val="F9FAFB"/>
                </a:solidFill>
                <a:latin typeface="Candara" panose="020E0502030303020204" pitchFamily="34" charset="0"/>
              </a:rPr>
              <a:t>с </a:t>
            </a:r>
            <a:r>
              <a:rPr lang="en-US" altLang="zh-CN" sz="2600" b="1" dirty="0">
                <a:solidFill>
                  <a:srgbClr val="F9FAFB"/>
                </a:solidFill>
                <a:latin typeface="Candara" panose="020E0502030303020204" pitchFamily="34" charset="0"/>
              </a:rPr>
              <a:t>Naive Bayes</a:t>
            </a:r>
            <a:endParaRPr lang="ru-RU" altLang="zh-CN" sz="2600" b="1" dirty="0">
              <a:solidFill>
                <a:srgbClr val="F9FAFB"/>
              </a:solidFill>
              <a:effectLst/>
              <a:latin typeface="Candara" panose="020E0502030303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32D1DA-B8D7-4D20-D5D7-F88AEE02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70"/>
          <a:stretch>
            <a:fillRect/>
          </a:stretch>
        </p:blipFill>
        <p:spPr>
          <a:xfrm>
            <a:off x="643279" y="1734459"/>
            <a:ext cx="3794765" cy="2931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CD4480-5EE0-2A98-F100-0C3F3869A7FF}"/>
              </a:ext>
            </a:extLst>
          </p:cNvPr>
          <p:cNvSpPr txBox="1"/>
          <p:nvPr/>
        </p:nvSpPr>
        <p:spPr>
          <a:xfrm>
            <a:off x="816428" y="1001198"/>
            <a:ext cx="7108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Байесовскую сеть сравнили с классическим </a:t>
            </a:r>
            <a:r>
              <a:rPr lang="ru-RU" altLang="zh-CN" sz="1800" b="0" i="0" dirty="0" err="1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Naive</a:t>
            </a:r>
            <a:r>
              <a:rPr lang="ru-RU" altLang="zh-CN" sz="1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  <a:r>
              <a:rPr lang="ru-RU" altLang="zh-CN" sz="1800" b="0" i="0" dirty="0" err="1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Bayes</a:t>
            </a:r>
            <a:r>
              <a:rPr lang="ru-RU" altLang="zh-CN" sz="1800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на тестовом наборе (2438 образцов).</a:t>
            </a:r>
            <a:endParaRPr lang="zh-CN" altLang="en-US" sz="18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435D8-F1F6-77FE-A34A-A2A4DCE8522D}"/>
              </a:ext>
            </a:extLst>
          </p:cNvPr>
          <p:cNvSpPr txBox="1"/>
          <p:nvPr/>
        </p:nvSpPr>
        <p:spPr>
          <a:xfrm>
            <a:off x="4572000" y="1647529"/>
            <a:ext cx="34798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600" b="0" i="0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Вывод:</a:t>
            </a:r>
            <a:br>
              <a:rPr lang="ru-RU" altLang="zh-CN" dirty="0">
                <a:solidFill>
                  <a:schemeClr val="tx1"/>
                </a:solidFill>
                <a:latin typeface="Candara" panose="020E0502030303020204" pitchFamily="34" charset="0"/>
              </a:rPr>
            </a:br>
            <a:r>
              <a:rPr lang="ru-RU" altLang="zh-CN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Байесовская сеть даёт более точные и уверенные предсказания, потому что моделирует настоящие зависимости между признаками грибов. </a:t>
            </a:r>
            <a:endParaRPr lang="en-US" altLang="zh-CN" b="0" i="0" dirty="0"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r>
              <a:rPr lang="ru-RU" altLang="zh-CN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В отличие от наивного байесовского метода, который считает признаки независимыми, сеть учитывает их взаимосвязи и строит классификацию на реальных связях данных. </a:t>
            </a:r>
            <a:endParaRPr lang="en-US" altLang="zh-CN" b="0" i="0" dirty="0"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r>
              <a:rPr lang="ru-RU" altLang="zh-CN" b="0" i="0" dirty="0"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Это делает её решения более обоснованными и интерпретируемыми.</a:t>
            </a:r>
            <a:endParaRPr lang="zh-CN" altLang="en-US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00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DB96A3A9-8E93-FB87-5C45-52E13BF7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>
            <a:extLst>
              <a:ext uri="{FF2B5EF4-FFF2-40B4-BE49-F238E27FC236}">
                <a16:creationId xmlns:a16="http://schemas.microsoft.com/office/drawing/2014/main" id="{038776B6-ABAF-3F52-1335-9BB567645B79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357269" y="1941612"/>
            <a:ext cx="6595086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altLang="zh-CN" sz="1200" b="1" dirty="0">
                <a:latin typeface="Candara" panose="020E0502030303020204" pitchFamily="34" charset="0"/>
              </a:rPr>
              <a:t>Правильная оценка параметров </a:t>
            </a:r>
            <a:r>
              <a:rPr lang="ru-RU" altLang="zh-CN" sz="1200" dirty="0">
                <a:latin typeface="Candara" panose="020E0502030303020204" pitchFamily="34" charset="0"/>
              </a:rPr>
              <a:t>— применен метод </a:t>
            </a:r>
            <a:r>
              <a:rPr lang="ru-RU" altLang="zh-CN" sz="1200" dirty="0" err="1">
                <a:latin typeface="Candara" panose="020E0502030303020204" pitchFamily="34" charset="0"/>
              </a:rPr>
              <a:t>BDeu</a:t>
            </a:r>
            <a:r>
              <a:rPr lang="ru-RU" altLang="zh-CN" sz="1200" dirty="0">
                <a:latin typeface="Candara" panose="020E0502030303020204" pitchFamily="34" charset="0"/>
              </a:rPr>
              <a:t> с слабым </a:t>
            </a:r>
            <a:r>
              <a:rPr lang="ru-RU" altLang="zh-CN" sz="1200" dirty="0" err="1">
                <a:latin typeface="Candara" panose="020E0502030303020204" pitchFamily="34" charset="0"/>
              </a:rPr>
              <a:t>prior</a:t>
            </a:r>
            <a:r>
              <a:rPr lang="ru-RU" altLang="zh-CN" sz="1200" dirty="0">
                <a:latin typeface="Candara" panose="020E0502030303020204" pitchFamily="34" charset="0"/>
              </a:rPr>
              <a:t> </a:t>
            </a:r>
            <a:r>
              <a:rPr lang="en-US" altLang="zh-CN" sz="1200" dirty="0">
                <a:latin typeface="Candara" panose="020E0502030303020204" pitchFamily="34" charset="0"/>
              </a:rPr>
              <a:t> </a:t>
            </a:r>
            <a:r>
              <a:rPr lang="ru-RU" altLang="zh-CN" sz="1200" dirty="0">
                <a:latin typeface="Candara" panose="020E0502030303020204" pitchFamily="34" charset="0"/>
              </a:rPr>
              <a:t>для получения устойчивых и интерпретируемых таблиц условных вероятностей.</a:t>
            </a:r>
          </a:p>
        </p:txBody>
      </p:sp>
      <p:sp>
        <p:nvSpPr>
          <p:cNvPr id="709" name="Google Shape;709;p30">
            <a:extLst>
              <a:ext uri="{FF2B5EF4-FFF2-40B4-BE49-F238E27FC236}">
                <a16:creationId xmlns:a16="http://schemas.microsoft.com/office/drawing/2014/main" id="{6F5278CC-76AF-FA09-E5A4-CA5590948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3610" y="393013"/>
            <a:ext cx="39553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Candara" panose="020E0502030303020204" pitchFamily="34" charset="0"/>
              </a:rPr>
              <a:t>Итоги и достижения</a:t>
            </a:r>
            <a:endParaRPr sz="3200" dirty="0">
              <a:latin typeface="Candara" panose="020E0502030303020204" pitchFamily="34" charset="0"/>
            </a:endParaRPr>
          </a:p>
        </p:txBody>
      </p:sp>
      <p:sp>
        <p:nvSpPr>
          <p:cNvPr id="710" name="Google Shape;710;p30">
            <a:extLst>
              <a:ext uri="{FF2B5EF4-FFF2-40B4-BE49-F238E27FC236}">
                <a16:creationId xmlns:a16="http://schemas.microsoft.com/office/drawing/2014/main" id="{3A0EC2E1-60D1-7F9F-88AE-14CB2EAF1B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3610" y="122037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01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1" name="Google Shape;711;p30">
            <a:extLst>
              <a:ext uri="{FF2B5EF4-FFF2-40B4-BE49-F238E27FC236}">
                <a16:creationId xmlns:a16="http://schemas.microsoft.com/office/drawing/2014/main" id="{3252F77C-8FB6-8C48-BEC6-88DE6FC161B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83610" y="330279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04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2" name="Google Shape;712;p30">
            <a:extLst>
              <a:ext uri="{FF2B5EF4-FFF2-40B4-BE49-F238E27FC236}">
                <a16:creationId xmlns:a16="http://schemas.microsoft.com/office/drawing/2014/main" id="{7FE377DA-33BA-603A-F67C-345B7FF51B4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86630" y="190267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02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4" name="Google Shape;714;p30">
            <a:extLst>
              <a:ext uri="{FF2B5EF4-FFF2-40B4-BE49-F238E27FC236}">
                <a16:creationId xmlns:a16="http://schemas.microsoft.com/office/drawing/2014/main" id="{469879B4-3CB3-F964-7D53-9F9FF2C51F69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83610" y="258316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03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6" name="Google Shape;716;p30">
            <a:extLst>
              <a:ext uri="{FF2B5EF4-FFF2-40B4-BE49-F238E27FC236}">
                <a16:creationId xmlns:a16="http://schemas.microsoft.com/office/drawing/2014/main" id="{3E4022D3-EA9E-1289-7FA2-DC6F14C080C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4249" y="1247500"/>
            <a:ext cx="6595085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altLang="zh-CN" sz="1200" b="1" dirty="0">
                <a:latin typeface="Candara" panose="020E0502030303020204" pitchFamily="34" charset="0"/>
              </a:rPr>
              <a:t>Успешное построение Байесовской сети</a:t>
            </a:r>
            <a:r>
              <a:rPr lang="ru-RU" altLang="zh-CN" sz="1200" dirty="0">
                <a:latin typeface="Candara" panose="020E0502030303020204" pitchFamily="34" charset="0"/>
              </a:rPr>
              <a:t> — использован метод Hill </a:t>
            </a:r>
            <a:r>
              <a:rPr lang="ru-RU" altLang="zh-CN" sz="1200" dirty="0" err="1">
                <a:latin typeface="Candara" panose="020E0502030303020204" pitchFamily="34" charset="0"/>
              </a:rPr>
              <a:t>Climb</a:t>
            </a:r>
            <a:r>
              <a:rPr lang="ru-RU" altLang="zh-CN" sz="1200" dirty="0">
                <a:latin typeface="Candara" panose="020E0502030303020204" pitchFamily="34" charset="0"/>
              </a:rPr>
              <a:t> Search с BIC-критерием для автоматического обнаружения структуры сети.</a:t>
            </a:r>
          </a:p>
        </p:txBody>
      </p:sp>
      <p:sp>
        <p:nvSpPr>
          <p:cNvPr id="717" name="Google Shape;717;p30">
            <a:extLst>
              <a:ext uri="{FF2B5EF4-FFF2-40B4-BE49-F238E27FC236}">
                <a16:creationId xmlns:a16="http://schemas.microsoft.com/office/drawing/2014/main" id="{E329488F-B6A4-B3C2-B83C-F25F9E4C4F5A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354248" y="2612086"/>
            <a:ext cx="6595086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altLang="zh-CN" sz="1200" b="1" dirty="0">
                <a:latin typeface="Candara" panose="020E0502030303020204" pitchFamily="34" charset="0"/>
              </a:rPr>
              <a:t>Превосходная точность классификации </a:t>
            </a:r>
            <a:r>
              <a:rPr lang="ru-RU" altLang="zh-CN" sz="1200" dirty="0">
                <a:latin typeface="Candara" panose="020E0502030303020204" pitchFamily="34" charset="0"/>
              </a:rPr>
              <a:t>— 98.4% </a:t>
            </a:r>
            <a:r>
              <a:rPr lang="ru-RU" altLang="zh-CN" sz="1200" dirty="0" err="1">
                <a:latin typeface="Candara" panose="020E0502030303020204" pitchFamily="34" charset="0"/>
              </a:rPr>
              <a:t>accuracy</a:t>
            </a:r>
            <a:r>
              <a:rPr lang="ru-RU" altLang="zh-CN" sz="1200" dirty="0">
                <a:latin typeface="Candara" panose="020E0502030303020204" pitchFamily="34" charset="0"/>
              </a:rPr>
              <a:t> на тестовом наборе, что на 3.8% выше </a:t>
            </a:r>
            <a:r>
              <a:rPr lang="ru-RU" altLang="zh-CN" sz="1200" dirty="0" err="1">
                <a:latin typeface="Candara" panose="020E0502030303020204" pitchFamily="34" charset="0"/>
              </a:rPr>
              <a:t>baseline</a:t>
            </a:r>
            <a:r>
              <a:rPr lang="ru-RU" altLang="zh-CN" sz="1200" dirty="0">
                <a:latin typeface="Candara" panose="020E0502030303020204" pitchFamily="34" charset="0"/>
              </a:rPr>
              <a:t>-модели (</a:t>
            </a:r>
            <a:r>
              <a:rPr lang="ru-RU" altLang="zh-CN" sz="1200" dirty="0" err="1">
                <a:latin typeface="Candara" panose="020E0502030303020204" pitchFamily="34" charset="0"/>
              </a:rPr>
              <a:t>Naive</a:t>
            </a:r>
            <a:r>
              <a:rPr lang="ru-RU" altLang="zh-CN" sz="1200" dirty="0">
                <a:latin typeface="Candara" panose="020E0502030303020204" pitchFamily="34" charset="0"/>
              </a:rPr>
              <a:t> </a:t>
            </a:r>
            <a:r>
              <a:rPr lang="ru-RU" altLang="zh-CN" sz="1200" dirty="0" err="1">
                <a:latin typeface="Candara" panose="020E0502030303020204" pitchFamily="34" charset="0"/>
              </a:rPr>
              <a:t>Bayes</a:t>
            </a:r>
            <a:r>
              <a:rPr lang="ru-RU" altLang="zh-CN" sz="1200" dirty="0">
                <a:latin typeface="Candara" panose="020E0502030303020204" pitchFamily="34" charset="0"/>
              </a:rPr>
              <a:t>).</a:t>
            </a:r>
          </a:p>
        </p:txBody>
      </p:sp>
      <p:grpSp>
        <p:nvGrpSpPr>
          <p:cNvPr id="721" name="Google Shape;721;p30">
            <a:extLst>
              <a:ext uri="{FF2B5EF4-FFF2-40B4-BE49-F238E27FC236}">
                <a16:creationId xmlns:a16="http://schemas.microsoft.com/office/drawing/2014/main" id="{AADF9DD5-241A-67B3-197C-585BFFA63035}"/>
              </a:ext>
            </a:extLst>
          </p:cNvPr>
          <p:cNvGrpSpPr/>
          <p:nvPr/>
        </p:nvGrpSpPr>
        <p:grpSpPr>
          <a:xfrm>
            <a:off x="7000692" y="679363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>
              <a:extLst>
                <a:ext uri="{FF2B5EF4-FFF2-40B4-BE49-F238E27FC236}">
                  <a16:creationId xmlns:a16="http://schemas.microsoft.com/office/drawing/2014/main" id="{32535EAD-08FC-F2B8-F95B-EDB778AA90BA}"/>
                </a:ext>
              </a:extLst>
            </p:cNvPr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>
                <a:extLst>
                  <a:ext uri="{FF2B5EF4-FFF2-40B4-BE49-F238E27FC236}">
                    <a16:creationId xmlns:a16="http://schemas.microsoft.com/office/drawing/2014/main" id="{4DC2881B-E8F0-8D7E-83AC-6579ECE5FD38}"/>
                  </a:ext>
                </a:extLst>
              </p:cNvPr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ndara" panose="020E0502030303020204" pitchFamily="34" charset="0"/>
                </a:endParaRPr>
              </a:p>
            </p:txBody>
          </p:sp>
          <p:sp>
            <p:nvSpPr>
              <p:cNvPr id="724" name="Google Shape;724;p30">
                <a:extLst>
                  <a:ext uri="{FF2B5EF4-FFF2-40B4-BE49-F238E27FC236}">
                    <a16:creationId xmlns:a16="http://schemas.microsoft.com/office/drawing/2014/main" id="{C74C931B-75B9-1597-DB4F-BAEFE3608B89}"/>
                  </a:ext>
                </a:extLst>
              </p:cNvPr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5" name="Google Shape;725;p30">
              <a:extLst>
                <a:ext uri="{FF2B5EF4-FFF2-40B4-BE49-F238E27FC236}">
                  <a16:creationId xmlns:a16="http://schemas.microsoft.com/office/drawing/2014/main" id="{7D7F790A-1659-4EE9-5438-AC2E5F0C9F0A}"/>
                </a:ext>
              </a:extLst>
            </p:cNvPr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latin typeface="Candara" panose="020E0502030303020204" pitchFamily="34" charset="0"/>
              </a:endParaRPr>
            </a:p>
          </p:txBody>
        </p:sp>
      </p:grpSp>
      <p:sp>
        <p:nvSpPr>
          <p:cNvPr id="12" name="Google Shape;717;p30">
            <a:extLst>
              <a:ext uri="{FF2B5EF4-FFF2-40B4-BE49-F238E27FC236}">
                <a16:creationId xmlns:a16="http://schemas.microsoft.com/office/drawing/2014/main" id="{525D39DA-C214-BDDB-BB82-B52467AF2C26}"/>
              </a:ext>
            </a:extLst>
          </p:cNvPr>
          <p:cNvSpPr txBox="1">
            <a:spLocks/>
          </p:cNvSpPr>
          <p:nvPr/>
        </p:nvSpPr>
        <p:spPr>
          <a:xfrm>
            <a:off x="1354248" y="3295370"/>
            <a:ext cx="6662734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sz="1200" b="1" dirty="0">
                <a:latin typeface="Candara" panose="020E0502030303020204" pitchFamily="34" charset="0"/>
              </a:rPr>
              <a:t>Высокая интерпретируемость </a:t>
            </a:r>
            <a:r>
              <a:rPr lang="ru-RU" altLang="zh-CN" sz="1200" dirty="0">
                <a:latin typeface="Candara" panose="020E0502030303020204" pitchFamily="34" charset="0"/>
              </a:rPr>
              <a:t>— визуализирована структура сети, наглядно показаны причинные зависимости между признаками грибов (запах, синяки, цвет пластинок и т.д.).</a:t>
            </a:r>
          </a:p>
        </p:txBody>
      </p:sp>
      <p:sp>
        <p:nvSpPr>
          <p:cNvPr id="2" name="Google Shape;711;p30">
            <a:extLst>
              <a:ext uri="{FF2B5EF4-FFF2-40B4-BE49-F238E27FC236}">
                <a16:creationId xmlns:a16="http://schemas.microsoft.com/office/drawing/2014/main" id="{E314F19D-3D8E-4739-6100-BC0DBD24649C}"/>
              </a:ext>
            </a:extLst>
          </p:cNvPr>
          <p:cNvSpPr txBox="1">
            <a:spLocks/>
          </p:cNvSpPr>
          <p:nvPr/>
        </p:nvSpPr>
        <p:spPr>
          <a:xfrm>
            <a:off x="783610" y="40188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ru-RU" dirty="0">
                <a:latin typeface="Candara" panose="020E0502030303020204" pitchFamily="34" charset="0"/>
              </a:rPr>
              <a:t>05</a:t>
            </a:r>
            <a:endParaRPr lang="en" dirty="0">
              <a:latin typeface="Candara" panose="020E0502030303020204" pitchFamily="34" charset="0"/>
            </a:endParaRPr>
          </a:p>
        </p:txBody>
      </p:sp>
      <p:sp>
        <p:nvSpPr>
          <p:cNvPr id="3" name="Google Shape;717;p30">
            <a:extLst>
              <a:ext uri="{FF2B5EF4-FFF2-40B4-BE49-F238E27FC236}">
                <a16:creationId xmlns:a16="http://schemas.microsoft.com/office/drawing/2014/main" id="{878E1AEC-7B01-E8A2-5801-8695DA78516F}"/>
              </a:ext>
            </a:extLst>
          </p:cNvPr>
          <p:cNvSpPr txBox="1">
            <a:spLocks/>
          </p:cNvSpPr>
          <p:nvPr/>
        </p:nvSpPr>
        <p:spPr>
          <a:xfrm>
            <a:off x="1354248" y="4011402"/>
            <a:ext cx="6662734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sz="1200" b="1" dirty="0">
                <a:latin typeface="Candara" panose="020E0502030303020204" pitchFamily="34" charset="0"/>
              </a:rPr>
              <a:t>Практическое применение </a:t>
            </a:r>
            <a:r>
              <a:rPr lang="ru-RU" altLang="zh-CN" sz="1200" dirty="0">
                <a:latin typeface="Candara" panose="020E0502030303020204" pitchFamily="34" charset="0"/>
              </a:rPr>
              <a:t>— модель может использоваться для надежной оценки съедобности грибов, даже при частичной информации о их характеристиках.</a:t>
            </a:r>
          </a:p>
        </p:txBody>
      </p:sp>
    </p:spTree>
    <p:extLst>
      <p:ext uri="{BB962C8B-B14F-4D97-AF65-F5344CB8AC3E}">
        <p14:creationId xmlns:p14="http://schemas.microsoft.com/office/powerpoint/2010/main" val="354111533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933</Words>
  <Application>Microsoft Office PowerPoint</Application>
  <PresentationFormat>Экран (16:9)</PresentationFormat>
  <Paragraphs>130</Paragraphs>
  <Slides>12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Hanken Grotesk</vt:lpstr>
      <vt:lpstr>Raleway ExtraBold</vt:lpstr>
      <vt:lpstr>Arial</vt:lpstr>
      <vt:lpstr>Candara</vt:lpstr>
      <vt:lpstr>Anaheim</vt:lpstr>
      <vt:lpstr>Raleway Black</vt:lpstr>
      <vt:lpstr>Technology Market Research Pitch Deck by Slidesgo</vt:lpstr>
      <vt:lpstr>Байесовские сети</vt:lpstr>
      <vt:lpstr>СОДЕРЖАНИЕ РАБОТЫ</vt:lpstr>
      <vt:lpstr>Что такое Bayesian Networks?</vt:lpstr>
      <vt:lpstr>Датасет – Основная информация</vt:lpstr>
      <vt:lpstr>ЗАГРУЗКА И ОБРАБОТКА ДАННЫХ</vt:lpstr>
      <vt:lpstr>Ручное построение Байесовской сети</vt:lpstr>
      <vt:lpstr>Автоматическое построение Байесовской сети</vt:lpstr>
      <vt:lpstr>Обучение модели: выбор оценщика параметров</vt:lpstr>
      <vt:lpstr>Визуализация структуры сети</vt:lpstr>
      <vt:lpstr>Анализ уверенности предсказаний</vt:lpstr>
      <vt:lpstr>Презентация PowerPoint</vt:lpstr>
      <vt:lpstr>Итоги и достижения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Чернышкова Злата</dc:creator>
  <cp:lastModifiedBy>София Солодова</cp:lastModifiedBy>
  <cp:revision>4</cp:revision>
  <dcterms:modified xsi:type="dcterms:W3CDTF">2025-11-28T13:22:10Z</dcterms:modified>
</cp:coreProperties>
</file>